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he problem" id="{98e465d3-021f-6b71-08e2-0b691344de9b}">
          <p14:sldIdLst>
            <p14:sldId id="256"/>
            <p14:sldId id="257"/>
          </p14:sldIdLst>
        </p14:section>
        <p14:section name="The product" id="{5d9b2308-0a70-d908-8ddd-723b900ddba9}">
          <p14:sldIdLst>
            <p14:sldId id="258"/>
            <p14:sldId id="259"/>
            <p14:sldId id="260"/>
          </p14:sldIdLst>
        </p14:section>
        <p14:section name="Feasibility" id="{10f6e260-5546-c06f-8095-7df88dfe8a77}">
          <p14:sldIdLst>
            <p14:sldId id="261"/>
            <p14:sldId id="262"/>
            <p14:sldId id="26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on the theme. CaseProof reviews invoice and receipt packs for a bank. Gemini proposes. The bank decides financing. Do not mention a fraud engine.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Name the user: a trade-operations reviewer on a sales-invoice financing file. The theme fit is automating that process, not a fraud product.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Alex handles bank review and administration, Sam is the submitting business, and Aisha can read the file. These are the three accounts in the submitted application.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is gemini-3.8-flash through a bounded gateway. This is the Gen AI point: the model proposes evidence-linked work, and it cannot override the checks or approve a facility.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video, in order. Sam then Alex. Cut the processing wait. Keep the Research page available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Feasibility slide. The topology is Cloud Run, Cloud SQL, Cloud Storage, Cloud Tasks, Scheduler, and Vertex. Say what is already bounded, then the document limit, so a judge who uploads a real tax invoice is not surprised.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whether the model beat a rules baseline: it matched the checklist. Say that only if asked. Do not present staff minutes as a saving. This is not a production error 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Last slide judges should remember. Paste the real Cloud Run URL over the placeholder. Paste the access code into this slide, then export the PDF you upload. Put the same URL and the same code on the form. Do not commit the code. Category on the form: BFSI, Intelligent Risk, Fraud and Financial Experiences. The dropdown's social-good labels are not this theme. After the code, the judge lands on a case that is already read. Client notice opens the completed example. Personas stay in the 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112D3C"/>
        </a:solidFill>
      </p:bgPr>
    </p:bg>
    <p:spTree>
      <p:nvGrpSpPr>
        <p:cNvPr id="1" name=""/>
        <p:cNvGrpSpPr/>
        <p:nvPr/>
      </p:nvGrpSpPr>
      <p:grpSpPr>
        <a:xfrm>
          <a:off x="0" y="0"/>
          <a:ext cx="0" cy="0"/>
          <a:chOff x="0" y="0"/>
          <a:chExt cx="0" cy="0"/>
        </a:xfrm>
      </p:grpSpPr>
      <p:sp>
        <p:nvSpPr>
          <p:cNvPr id="2" name="Text 0"/>
          <p:cNvSpPr/>
          <p:nvPr/>
        </p:nvSpPr>
        <p:spPr>
          <a:xfrm>
            <a:off x="502920" y="6446520"/>
            <a:ext cx="9601200" cy="256032"/>
          </a:xfrm>
          <a:prstGeom prst="rect">
            <a:avLst/>
          </a:prstGeom>
          <a:noFill/>
          <a:ln/>
        </p:spPr>
        <p:txBody>
          <a:bodyPr wrap="square" lIns="0" tIns="0" rIns="0" bIns="0" rtlCol="0" anchor="ctr"/>
          <a:lstStyle/>
          <a:p>
            <a:pPr indent="0" marL="0">
              <a:buNone/>
            </a:pPr>
            <a:r>
              <a:rPr lang="en-US" sz="1200" dirty="0">
                <a:solidFill>
                  <a:srgbClr val="D8E2E0"/>
                </a:solidFill>
              </a:rPr>
              <a:t>CaseProof  ·  AI Builder Cup 2026  ·  BFSI</a:t>
            </a:r>
            <a:endParaRPr lang="en-US" sz="1200" dirty="0"/>
          </a:p>
        </p:txBody>
      </p:sp>
      <p:sp>
        <p:nvSpPr>
          <p:cNvPr id="25" name="Slide Number Placeholder 0"/>
          <p:cNvSpPr>
            <a:spLocks noGrp="1"/>
          </p:cNvSpPr>
          <p:nvPr>
            <p:ph type="sldNum" sz="quarter" idx="4294967295"/>
          </p:nvPr>
        </p:nvSpPr>
        <p:spPr>
          <a:xfrm>
            <a:off x="11109960" y="6446520"/>
            <a:ext cx="548640" cy="256032"/>
          </a:xfrm>
          <a:prstGeom prst="rect">
            <a:avLst/>
          </a:prstGeom>
          <a:extLst>
            <a:ext uri="{C572A759-6A51-4108-AA02-DFA0A04FC94B}">
              <ma14:wrappingTextBoxFlag xmlns:ma14="http://schemas.microsoft.com/office/mac/drawingml/2011/main" val="0"/>
            </a:ext>
          </a:extLst>
        </p:spPr>
        <p:txBody>
          <a:bodyPr/>
          <a:lstStyle>
            <a:lvl1pPr>
              <a:defRPr sz="1200">
                <a:solidFill>
                  <a:srgbClr val="D8E2E0"/>
                </a:solidFill>
              </a:defRPr>
            </a:lvl1pPr>
          </a:lstStyle>
          <a:p>
            <a:pPr algn="l"/>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02920" y="384048"/>
            <a:ext cx="11155680" cy="640080"/>
          </a:xfrm>
          <a:prstGeom prst="rect">
            <a:avLst/>
          </a:prstGeom>
          <a:noFill/>
          <a:ln/>
        </p:spPr>
        <p:txBody>
          <a:bodyPr wrap="square" rtlCol="0"/>
          <a:lstStyle>
            <a:lvl1pPr indent="0" marL="0">
              <a:buNone/>
              <a:defRPr lang="en-US" sz="3600" b="1" dirty="0">
                <a:solidFill>
                  <a:schemeClr val="tx1"/>
                </a:solidFill>
              </a:defRPr>
            </a:lvl1pPr>
          </a:lstStyle>
          <a:p>
            <a:pPr indent="0" marL="0">
              <a:buNone/>
            </a:pPr>
            <a:r>
              <a:rPr lang="en-US" sz="3600" b="1" dirty="0">
                <a:solidFill>
                  <a:schemeClr val="tx1"/>
                </a:solidFill>
              </a:rPr>
              <a:t>Title</a:t>
            </a:r>
            <a:endParaRPr lang="en-US" sz="3600" dirty="0"/>
          </a:p>
        </p:txBody>
      </p:sp>
      <p:sp>
        <p:nvSpPr>
          <p:cNvPr id="3" name="Text 0"/>
          <p:cNvSpPr/>
          <p:nvPr/>
        </p:nvSpPr>
        <p:spPr>
          <a:xfrm>
            <a:off x="502920" y="6446520"/>
            <a:ext cx="9601200" cy="256032"/>
          </a:xfrm>
          <a:prstGeom prst="rect">
            <a:avLst/>
          </a:prstGeom>
          <a:noFill/>
          <a:ln/>
        </p:spPr>
        <p:txBody>
          <a:bodyPr wrap="square" lIns="0" tIns="0" rIns="0" bIns="0" rtlCol="0" anchor="ctr"/>
          <a:lstStyle/>
          <a:p>
            <a:pPr indent="0" marL="0">
              <a:buNone/>
            </a:pPr>
            <a:r>
              <a:rPr lang="en-US" sz="1200" dirty="0">
                <a:solidFill>
                  <a:srgbClr val="52656C"/>
                </a:solidFill>
              </a:rPr>
              <a:t>CaseProof  ·  AI Builder Cup 2026  ·  BFSI</a:t>
            </a:r>
            <a:endParaRPr lang="en-US" sz="1200" dirty="0"/>
          </a:p>
        </p:txBody>
      </p:sp>
      <p:sp>
        <p:nvSpPr>
          <p:cNvPr id="25" name="Slide Number Placeholder 0"/>
          <p:cNvSpPr>
            <a:spLocks noGrp="1"/>
          </p:cNvSpPr>
          <p:nvPr>
            <p:ph type="sldNum" sz="quarter" idx="4294967295"/>
          </p:nvPr>
        </p:nvSpPr>
        <p:spPr>
          <a:xfrm>
            <a:off x="11109960" y="6446520"/>
            <a:ext cx="548640" cy="256032"/>
          </a:xfrm>
          <a:prstGeom prst="rect">
            <a:avLst/>
          </a:prstGeom>
          <a:extLst>
            <a:ext uri="{C572A759-6A51-4108-AA02-DFA0A04FC94B}">
              <ma14:wrappingTextBoxFlag xmlns:ma14="http://schemas.microsoft.com/office/mac/drawingml/2011/main" val="0"/>
            </a:ext>
          </a:extLst>
        </p:spPr>
        <p:txBody>
          <a:bodyPr/>
          <a:lstStyle>
            <a:lvl1pPr>
              <a:defRPr sz="1200">
                <a:solidFill>
                  <a:srgbClr val="52656C"/>
                </a:solidFill>
              </a:defRPr>
            </a:lvl1pPr>
          </a:lstStyle>
          <a:p>
            <a:pPr algn="l"/>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09960" y="6446520"/>
            <a:ext cx="548640" cy="256032"/>
          </a:xfrm>
          <a:prstGeom prst="rect">
            <a:avLst/>
          </a:prstGeom>
          <a:extLst>
            <a:ext uri="{C572A759-6A51-4108-AA02-DFA0A04FC94B}">
              <ma14:wrappingTextBoxFlag xmlns:ma14="http://schemas.microsoft.com/office/mac/drawingml/2011/main" val="0"/>
            </a:ext>
          </a:extLst>
        </p:spPr>
        <p:txBody>
          <a:bodyPr/>
          <a:lstStyle>
            <a:lvl1pPr>
              <a:defRPr sz="1200">
                <a:solidFill>
                  <a:srgbClr val="D8E2E0"/>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Eyebrow"/>
          <p:cNvSpPr txBox="1"/>
          <p:nvPr/>
        </p:nvSpPr>
        <p:spPr>
          <a:xfrm>
            <a:off x="640080" y="1234440"/>
            <a:ext cx="10515600" cy="292608"/>
          </a:xfrm>
          <a:prstGeom prst="rect">
            <a:avLst/>
          </a:prstGeom>
          <a:noFill/>
          <a:ln/>
        </p:spPr>
        <p:txBody>
          <a:bodyPr wrap="square" lIns="0" tIns="0" rIns="0" bIns="0" rtlCol="0" anchor="t"/>
          <a:lstStyle/>
          <a:p>
            <a:pPr indent="0" marL="0">
              <a:buNone/>
            </a:pPr>
            <a:r>
              <a:rPr lang="en-US" sz="1300" b="1" spc="150" kern="0" dirty="0">
                <a:solidFill>
                  <a:srgbClr val="94CFC0"/>
                </a:solidFill>
              </a:rPr>
              <a:t>AI BUILDER CUP 2026</a:t>
            </a:r>
            <a:endParaRPr lang="en-US" sz="1300" dirty="0"/>
          </a:p>
        </p:txBody>
      </p:sp>
      <p:sp>
        <p:nvSpPr>
          <p:cNvPr id="3" name="Wordmark"/>
          <p:cNvSpPr txBox="1"/>
          <p:nvPr/>
        </p:nvSpPr>
        <p:spPr>
          <a:xfrm>
            <a:off x="640080" y="1600200"/>
            <a:ext cx="10515600" cy="868680"/>
          </a:xfrm>
          <a:prstGeom prst="rect">
            <a:avLst/>
          </a:prstGeom>
          <a:noFill/>
          <a:ln/>
        </p:spPr>
        <p:txBody>
          <a:bodyPr wrap="square" lIns="0" tIns="0" rIns="0" bIns="0" rtlCol="0" anchor="t"/>
          <a:lstStyle/>
          <a:p>
            <a:pPr indent="0" marL="0">
              <a:buNone/>
            </a:pPr>
            <a:r>
              <a:rPr lang="en-US" sz="6000" b="1" dirty="0">
                <a:solidFill>
                  <a:srgbClr val="FFFFFF"/>
                </a:solidFill>
              </a:rPr>
              <a:t>CaseProof</a:t>
            </a:r>
            <a:endParaRPr lang="en-US" sz="6000" dirty="0"/>
          </a:p>
        </p:txBody>
      </p:sp>
      <p:sp>
        <p:nvSpPr>
          <p:cNvPr id="4" name="Product line"/>
          <p:cNvSpPr txBox="1"/>
          <p:nvPr/>
        </p:nvSpPr>
        <p:spPr>
          <a:xfrm>
            <a:off x="640080" y="2514600"/>
            <a:ext cx="10515600" cy="411480"/>
          </a:xfrm>
          <a:prstGeom prst="rect">
            <a:avLst/>
          </a:prstGeom>
          <a:noFill/>
          <a:ln/>
        </p:spPr>
        <p:txBody>
          <a:bodyPr wrap="square" lIns="0" tIns="0" rIns="0" bIns="0" rtlCol="0" anchor="t"/>
          <a:lstStyle/>
          <a:p>
            <a:pPr indent="0" marL="0">
              <a:buNone/>
            </a:pPr>
            <a:r>
              <a:rPr lang="en-US" sz="2400" dirty="0">
                <a:solidFill>
                  <a:srgbClr val="E6F4EF"/>
                </a:solidFill>
              </a:rPr>
              <a:t>Invoice-financing document review</a:t>
            </a:r>
            <a:endParaRPr lang="en-US" sz="2400" dirty="0"/>
          </a:p>
        </p:txBody>
      </p:sp>
      <p:sp>
        <p:nvSpPr>
          <p:cNvPr id="5" name="Theme chip"/>
          <p:cNvSpPr/>
          <p:nvPr/>
        </p:nvSpPr>
        <p:spPr>
          <a:xfrm>
            <a:off x="640080" y="3200400"/>
            <a:ext cx="7863840" cy="530352"/>
          </a:xfrm>
          <a:prstGeom prst="roundRect">
            <a:avLst>
              <a:gd name="adj" fmla="val 13793"/>
            </a:avLst>
          </a:prstGeom>
          <a:solidFill>
            <a:srgbClr val="18394B"/>
          </a:solidFill>
          <a:ln/>
        </p:spPr>
      </p:sp>
      <p:sp>
        <p:nvSpPr>
          <p:cNvPr id="6" name="Theme label"/>
          <p:cNvSpPr txBox="1"/>
          <p:nvPr/>
        </p:nvSpPr>
        <p:spPr>
          <a:xfrm>
            <a:off x="822960" y="3273552"/>
            <a:ext cx="7498080" cy="384048"/>
          </a:xfrm>
          <a:prstGeom prst="rect">
            <a:avLst/>
          </a:prstGeom>
          <a:noFill/>
          <a:ln/>
        </p:spPr>
        <p:txBody>
          <a:bodyPr wrap="square" lIns="0" tIns="0" rIns="0" bIns="0" rtlCol="0" anchor="ctr"/>
          <a:lstStyle/>
          <a:p>
            <a:pPr indent="0" marL="0">
              <a:buNone/>
            </a:pPr>
            <a:r>
              <a:rPr lang="en-US" sz="1600" dirty="0">
                <a:solidFill>
                  <a:srgbClr val="FFFFFF"/>
                </a:solidFill>
              </a:rPr>
              <a:t>BFSI  ·  Intelligent Risk, Fraud &amp; Financial Experiences</a:t>
            </a:r>
            <a:endParaRPr lang="en-US" sz="1600" dirty="0"/>
          </a:p>
        </p:txBody>
      </p:sp>
      <p:sp>
        <p:nvSpPr>
          <p:cNvPr id="7" name="Promise"/>
          <p:cNvSpPr txBox="1"/>
          <p:nvPr/>
        </p:nvSpPr>
        <p:spPr>
          <a:xfrm>
            <a:off x="640080" y="4023360"/>
            <a:ext cx="9601200" cy="960120"/>
          </a:xfrm>
          <a:prstGeom prst="rect">
            <a:avLst/>
          </a:prstGeom>
          <a:noFill/>
          <a:ln/>
        </p:spPr>
        <p:txBody>
          <a:bodyPr wrap="square" lIns="0" tIns="0" rIns="0" bIns="0" rtlCol="0" anchor="t"/>
          <a:lstStyle/>
          <a:p>
            <a:pPr indent="0" marL="0">
              <a:buNone/>
            </a:pPr>
            <a:r>
              <a:rPr lang="en-US" sz="2000" dirty="0">
                <a:solidFill>
                  <a:srgbClr val="E6F4EF"/>
                </a:solidFill>
              </a:rPr>
              <a:t>Gemini reads the pack and plans the next request.</a:t>
            </a:r>
            <a:endParaRPr lang="en-US" sz="2000" dirty="0"/>
          </a:p>
          <a:p>
            <a:pPr indent="0" marL="0">
              <a:buNone/>
            </a:pPr>
            <a:r>
              <a:rPr lang="en-US" sz="2000" dirty="0">
                <a:solidFill>
                  <a:srgbClr val="E6F4EF"/>
                </a:solidFill>
              </a:rPr>
              <a:t>The bank still decides whether to finance.</a:t>
            </a:r>
            <a:endParaRPr lang="en-US" sz="2000" dirty="0"/>
          </a:p>
        </p:txBody>
      </p:sp>
      <p:sp>
        <p:nvSpPr>
          <p:cNvPr id="8" name="Read the page"/>
          <p:cNvSpPr txBox="1"/>
          <p:nvPr/>
        </p:nvSpPr>
        <p:spPr>
          <a:xfrm>
            <a:off x="640080" y="5623560"/>
            <a:ext cx="2926080" cy="365760"/>
          </a:xfrm>
          <a:prstGeom prst="rect">
            <a:avLst/>
          </a:prstGeom>
          <a:noFill/>
          <a:ln/>
        </p:spPr>
        <p:txBody>
          <a:bodyPr wrap="square" lIns="0" tIns="0" rIns="0" bIns="0" rtlCol="0" anchor="t"/>
          <a:lstStyle/>
          <a:p>
            <a:pPr indent="0" marL="0">
              <a:buNone/>
            </a:pPr>
            <a:r>
              <a:rPr lang="en-US" sz="1600" b="1" dirty="0">
                <a:solidFill>
                  <a:srgbClr val="FFFFFF"/>
                </a:solidFill>
              </a:rPr>
              <a:t>Read the page</a:t>
            </a:r>
            <a:endParaRPr lang="en-US" sz="1600" dirty="0"/>
          </a:p>
        </p:txBody>
      </p:sp>
      <p:sp>
        <p:nvSpPr>
          <p:cNvPr id="9" name="Ask once"/>
          <p:cNvSpPr txBox="1"/>
          <p:nvPr/>
        </p:nvSpPr>
        <p:spPr>
          <a:xfrm>
            <a:off x="3840480" y="5623560"/>
            <a:ext cx="2926080" cy="365760"/>
          </a:xfrm>
          <a:prstGeom prst="rect">
            <a:avLst/>
          </a:prstGeom>
          <a:noFill/>
          <a:ln/>
        </p:spPr>
        <p:txBody>
          <a:bodyPr wrap="square" lIns="0" tIns="0" rIns="0" bIns="0" rtlCol="0" anchor="t"/>
          <a:lstStyle/>
          <a:p>
            <a:pPr indent="0" marL="0">
              <a:buNone/>
            </a:pPr>
            <a:r>
              <a:rPr lang="en-US" sz="1600" b="1" dirty="0">
                <a:solidFill>
                  <a:srgbClr val="FFFFFF"/>
                </a:solidFill>
              </a:rPr>
              <a:t>Ask once</a:t>
            </a:r>
            <a:endParaRPr lang="en-US" sz="1600" dirty="0"/>
          </a:p>
        </p:txBody>
      </p:sp>
      <p:sp>
        <p:nvSpPr>
          <p:cNvPr id="10" name="Keep the file"/>
          <p:cNvSpPr txBox="1"/>
          <p:nvPr/>
        </p:nvSpPr>
        <p:spPr>
          <a:xfrm>
            <a:off x="7040880" y="5623560"/>
            <a:ext cx="2926080" cy="365760"/>
          </a:xfrm>
          <a:prstGeom prst="rect">
            <a:avLst/>
          </a:prstGeom>
          <a:noFill/>
          <a:ln/>
        </p:spPr>
        <p:txBody>
          <a:bodyPr wrap="square" lIns="0" tIns="0" rIns="0" bIns="0" rtlCol="0" anchor="t"/>
          <a:lstStyle/>
          <a:p>
            <a:pPr indent="0" marL="0">
              <a:buNone/>
            </a:pPr>
            <a:r>
              <a:rPr lang="en-US" sz="1600" b="1" dirty="0">
                <a:solidFill>
                  <a:srgbClr val="FFFFFF"/>
                </a:solidFill>
              </a:rPr>
              <a:t>Keep the file</a:t>
            </a:r>
            <a:endParaRPr lang="en-US" sz="1600" dirty="0"/>
          </a:p>
        </p:txBody>
      </p:sp>
      <p:sp>
        <p:nvSpPr>
          <p:cNvPr id="25" name="Slide Number Placeholder 0"/>
          <p:cNvSpPr>
            <a:spLocks noGrp="1"/>
          </p:cNvSpPr>
          <p:nvPr>
            <p:ph type="sldNum" sz="quarter" idx="4294967295"/>
          </p:nvPr>
        </p:nvSpPr>
        <p:spPr>
          <a:xfrm>
            <a:off x="11109960" y="6446520"/>
            <a:ext cx="548640" cy="256032"/>
          </a:xfrm>
          <a:prstGeom prst="rect">
            <a:avLst/>
          </a:prstGeom>
          <a:extLst>
            <a:ext uri="{C572A759-6A51-4108-AA02-DFA0A04FC94B}">
              <ma14:wrappingTextBoxFlag xmlns:ma14="http://schemas.microsoft.com/office/mac/drawingml/2011/main" val="0"/>
            </a:ext>
          </a:extLst>
        </p:spPr>
        <p:txBody>
          <a:bodyPr/>
          <a:lstStyle>
            <a:lvl1pPr>
              <a:defRPr sz="1200">
                <a:solidFill>
                  <a:srgbClr val="D8E2E0"/>
                </a:solidFill>
              </a:defRPr>
            </a:lvl1pPr>
          </a:lstStyle>
          <a:p>
            <a:pPr algn="l"/>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02920" y="384048"/>
            <a:ext cx="11155680" cy="640080"/>
          </a:xfrm>
          <a:prstGeom prst="rect">
            <a:avLst/>
          </a:prstGeom>
          <a:noFill/>
          <a:ln/>
        </p:spPr>
        <p:txBody>
          <a:bodyPr wrap="square" lIns="0" tIns="0" rIns="0" bIns="0" rtlCol="0" anchor="ctr"/>
          <a:lstStyle/>
          <a:p>
            <a:pPr indent="0" marL="0">
              <a:buNone/>
            </a:pPr>
            <a:r>
              <a:rPr lang="en-US" sz="3600" b="1" dirty="0">
                <a:solidFill>
                  <a:schemeClr val="tx1"/>
                </a:solidFill>
              </a:rPr>
              <a:t>The file stalls in the gap</a:t>
            </a:r>
            <a:endParaRPr lang="en-US" sz="3600" dirty="0"/>
          </a:p>
        </p:txBody>
      </p:sp>
      <p:sp>
        <p:nvSpPr>
          <p:cNvPr id="3" name="Lead line"/>
          <p:cNvSpPr txBox="1"/>
          <p:nvPr/>
        </p:nvSpPr>
        <p:spPr>
          <a:xfrm>
            <a:off x="502920" y="1554480"/>
            <a:ext cx="5029200" cy="1234440"/>
          </a:xfrm>
          <a:prstGeom prst="rect">
            <a:avLst/>
          </a:prstGeom>
          <a:noFill/>
          <a:ln/>
        </p:spPr>
        <p:txBody>
          <a:bodyPr wrap="square" lIns="0" tIns="0" rIns="0" bIns="0" rtlCol="0" anchor="t"/>
          <a:lstStyle/>
          <a:p>
            <a:pPr indent="0" marL="0">
              <a:buNone/>
            </a:pPr>
            <a:r>
              <a:rPr lang="en-US" sz="3200" b="1" dirty="0">
                <a:solidFill>
                  <a:schemeClr val="tx1"/>
                </a:solidFill>
              </a:rPr>
              <a:t>A mismatch is easy to spot.</a:t>
            </a:r>
            <a:endParaRPr lang="en-US" sz="3200" dirty="0"/>
          </a:p>
        </p:txBody>
      </p:sp>
      <p:sp>
        <p:nvSpPr>
          <p:cNvPr id="4" name="Problem statement"/>
          <p:cNvSpPr txBox="1"/>
          <p:nvPr/>
        </p:nvSpPr>
        <p:spPr>
          <a:xfrm>
            <a:off x="502920" y="2971800"/>
            <a:ext cx="5029200" cy="2194560"/>
          </a:xfrm>
          <a:prstGeom prst="rect">
            <a:avLst/>
          </a:prstGeom>
          <a:noFill/>
          <a:ln/>
        </p:spPr>
        <p:txBody>
          <a:bodyPr wrap="square" lIns="0" tIns="0" rIns="0" bIns="0" rtlCol="0" anchor="t"/>
          <a:lstStyle/>
          <a:p>
            <a:pPr indent="0" marL="0">
              <a:buNone/>
            </a:pPr>
            <a:r>
              <a:rPr lang="en-US" sz="2000" dirty="0">
                <a:solidFill>
                  <a:schemeClr val="tx1"/>
                </a:solidFill>
              </a:rPr>
              <a:t>The expensive part is asking once, recording the answer, and knowing what still blocks the file.</a:t>
            </a:r>
            <a:endParaRPr lang="en-US" sz="2000" dirty="0"/>
          </a:p>
        </p:txBody>
      </p:sp>
      <p:sp>
        <p:nvSpPr>
          <p:cNvPr id="5" name="Disagree"/>
          <p:cNvSpPr/>
          <p:nvPr/>
        </p:nvSpPr>
        <p:spPr>
          <a:xfrm>
            <a:off x="5852160" y="1325880"/>
            <a:ext cx="5806440" cy="1408176"/>
          </a:xfrm>
          <a:prstGeom prst="roundRect">
            <a:avLst>
              <a:gd name="adj" fmla="val 6494"/>
            </a:avLst>
          </a:prstGeom>
          <a:solidFill>
            <a:srgbClr val="EEF4F1"/>
          </a:solidFill>
          <a:ln/>
        </p:spPr>
      </p:sp>
      <p:sp>
        <p:nvSpPr>
          <p:cNvPr id="6" name="Disagree heading"/>
          <p:cNvSpPr txBox="1"/>
          <p:nvPr/>
        </p:nvSpPr>
        <p:spPr>
          <a:xfrm>
            <a:off x="6080760" y="1527048"/>
            <a:ext cx="5394960" cy="347472"/>
          </a:xfrm>
          <a:prstGeom prst="rect">
            <a:avLst/>
          </a:prstGeom>
          <a:noFill/>
          <a:ln/>
        </p:spPr>
        <p:txBody>
          <a:bodyPr wrap="square" lIns="0" tIns="0" rIns="0" bIns="0" rtlCol="0" anchor="t"/>
          <a:lstStyle/>
          <a:p>
            <a:pPr indent="0" marL="0">
              <a:buNone/>
            </a:pPr>
            <a:r>
              <a:rPr lang="en-US" sz="2000" b="1" dirty="0">
                <a:solidFill>
                  <a:schemeClr val="accent1"/>
                </a:solidFill>
              </a:rPr>
              <a:t>Disagree</a:t>
            </a:r>
            <a:endParaRPr lang="en-US" sz="2000" dirty="0"/>
          </a:p>
        </p:txBody>
      </p:sp>
      <p:sp>
        <p:nvSpPr>
          <p:cNvPr id="7" name="Disagree body"/>
          <p:cNvSpPr txBox="1"/>
          <p:nvPr/>
        </p:nvSpPr>
        <p:spPr>
          <a:xfrm>
            <a:off x="6080760" y="1947672"/>
            <a:ext cx="5349240" cy="658368"/>
          </a:xfrm>
          <a:prstGeom prst="rect">
            <a:avLst/>
          </a:prstGeom>
          <a:noFill/>
          <a:ln/>
        </p:spPr>
        <p:txBody>
          <a:bodyPr wrap="square" lIns="0" tIns="0" rIns="0" bIns="0" rtlCol="0" anchor="t"/>
          <a:lstStyle/>
          <a:p>
            <a:pPr indent="0" marL="0">
              <a:buNone/>
            </a:pPr>
            <a:r>
              <a:rPr lang="en-US" sz="1500" dirty="0">
                <a:solidFill>
                  <a:schemeClr val="tx1"/>
                </a:solidFill>
              </a:rPr>
              <a:t>The invoice total and the delivery evidence do not match, or part of the delivery is missing.</a:t>
            </a:r>
            <a:endParaRPr lang="en-US" sz="1500" dirty="0"/>
          </a:p>
        </p:txBody>
      </p:sp>
      <p:sp>
        <p:nvSpPr>
          <p:cNvPr id="8" name="Ask again"/>
          <p:cNvSpPr/>
          <p:nvPr/>
        </p:nvSpPr>
        <p:spPr>
          <a:xfrm>
            <a:off x="5852160" y="3008376"/>
            <a:ext cx="5806440" cy="1408176"/>
          </a:xfrm>
          <a:prstGeom prst="roundRect">
            <a:avLst>
              <a:gd name="adj" fmla="val 6494"/>
            </a:avLst>
          </a:prstGeom>
          <a:solidFill>
            <a:srgbClr val="EEF4F1"/>
          </a:solidFill>
          <a:ln/>
        </p:spPr>
      </p:sp>
      <p:sp>
        <p:nvSpPr>
          <p:cNvPr id="9" name="Ask again heading"/>
          <p:cNvSpPr txBox="1"/>
          <p:nvPr/>
        </p:nvSpPr>
        <p:spPr>
          <a:xfrm>
            <a:off x="6080760" y="3209544"/>
            <a:ext cx="5394960" cy="347472"/>
          </a:xfrm>
          <a:prstGeom prst="rect">
            <a:avLst/>
          </a:prstGeom>
          <a:noFill/>
          <a:ln/>
        </p:spPr>
        <p:txBody>
          <a:bodyPr wrap="square" lIns="0" tIns="0" rIns="0" bIns="0" rtlCol="0" anchor="t"/>
          <a:lstStyle/>
          <a:p>
            <a:pPr indent="0" marL="0">
              <a:buNone/>
            </a:pPr>
            <a:r>
              <a:rPr lang="en-US" sz="2000" b="1" dirty="0">
                <a:solidFill>
                  <a:schemeClr val="accent1"/>
                </a:solidFill>
              </a:rPr>
              <a:t>Ask again</a:t>
            </a:r>
            <a:endParaRPr lang="en-US" sz="2000" dirty="0"/>
          </a:p>
        </p:txBody>
      </p:sp>
      <p:sp>
        <p:nvSpPr>
          <p:cNvPr id="10" name="Ask again body"/>
          <p:cNvSpPr txBox="1"/>
          <p:nvPr/>
        </p:nvSpPr>
        <p:spPr>
          <a:xfrm>
            <a:off x="6080760" y="3630168"/>
            <a:ext cx="5349240" cy="658368"/>
          </a:xfrm>
          <a:prstGeom prst="rect">
            <a:avLst/>
          </a:prstGeom>
          <a:noFill/>
          <a:ln/>
        </p:spPr>
        <p:txBody>
          <a:bodyPr wrap="square" lIns="0" tIns="0" rIns="0" bIns="0" rtlCol="0" anchor="t"/>
          <a:lstStyle/>
          <a:p>
            <a:pPr indent="0" marL="0">
              <a:buNone/>
            </a:pPr>
            <a:r>
              <a:rPr lang="en-US" sz="1500" dirty="0">
                <a:solidFill>
                  <a:schemeClr val="tx1"/>
                </a:solidFill>
              </a:rPr>
              <a:t>The reviewer writes, waits, and writes again for whatever is still open.</a:t>
            </a:r>
            <a:endParaRPr lang="en-US" sz="1500" dirty="0"/>
          </a:p>
        </p:txBody>
      </p:sp>
      <p:sp>
        <p:nvSpPr>
          <p:cNvPr id="11" name="No shared picture"/>
          <p:cNvSpPr/>
          <p:nvPr/>
        </p:nvSpPr>
        <p:spPr>
          <a:xfrm>
            <a:off x="5852160" y="4690872"/>
            <a:ext cx="5806440" cy="1408176"/>
          </a:xfrm>
          <a:prstGeom prst="roundRect">
            <a:avLst>
              <a:gd name="adj" fmla="val 6494"/>
            </a:avLst>
          </a:prstGeom>
          <a:solidFill>
            <a:srgbClr val="EEF4F1"/>
          </a:solidFill>
          <a:ln/>
        </p:spPr>
      </p:sp>
      <p:sp>
        <p:nvSpPr>
          <p:cNvPr id="12" name="No shared picture heading"/>
          <p:cNvSpPr txBox="1"/>
          <p:nvPr/>
        </p:nvSpPr>
        <p:spPr>
          <a:xfrm>
            <a:off x="6080760" y="4892040"/>
            <a:ext cx="5394960" cy="347472"/>
          </a:xfrm>
          <a:prstGeom prst="rect">
            <a:avLst/>
          </a:prstGeom>
          <a:noFill/>
          <a:ln/>
        </p:spPr>
        <p:txBody>
          <a:bodyPr wrap="square" lIns="0" tIns="0" rIns="0" bIns="0" rtlCol="0" anchor="t"/>
          <a:lstStyle/>
          <a:p>
            <a:pPr indent="0" marL="0">
              <a:buNone/>
            </a:pPr>
            <a:r>
              <a:rPr lang="en-US" sz="2000" b="1" dirty="0">
                <a:solidFill>
                  <a:schemeClr val="accent1"/>
                </a:solidFill>
              </a:rPr>
              <a:t>No shared picture</a:t>
            </a:r>
            <a:endParaRPr lang="en-US" sz="2000" dirty="0"/>
          </a:p>
        </p:txBody>
      </p:sp>
      <p:sp>
        <p:nvSpPr>
          <p:cNvPr id="13" name="No shared picture body"/>
          <p:cNvSpPr txBox="1"/>
          <p:nvPr/>
        </p:nvSpPr>
        <p:spPr>
          <a:xfrm>
            <a:off x="6080760" y="5312664"/>
            <a:ext cx="5349240" cy="658368"/>
          </a:xfrm>
          <a:prstGeom prst="rect">
            <a:avLst/>
          </a:prstGeom>
          <a:noFill/>
          <a:ln/>
        </p:spPr>
        <p:txBody>
          <a:bodyPr wrap="square" lIns="0" tIns="0" rIns="0" bIns="0" rtlCol="0" anchor="t"/>
          <a:lstStyle/>
          <a:p>
            <a:pPr indent="0" marL="0">
              <a:buNone/>
            </a:pPr>
            <a:r>
              <a:rPr lang="en-US" sz="1500" dirty="0">
                <a:solidFill>
                  <a:schemeClr val="tx1"/>
                </a:solidFill>
              </a:rPr>
              <a:t>The business cannot see the block. The bank file cannot show how it cleared.</a:t>
            </a:r>
            <a:endParaRPr lang="en-US" sz="1500" dirty="0"/>
          </a:p>
        </p:txBody>
      </p:sp>
      <p:sp>
        <p:nvSpPr>
          <p:cNvPr id="25" name="Slide Number Placeholder 0"/>
          <p:cNvSpPr>
            <a:spLocks noGrp="1"/>
          </p:cNvSpPr>
          <p:nvPr>
            <p:ph type="sldNum" sz="quarter" idx="4294967295"/>
          </p:nvPr>
        </p:nvSpPr>
        <p:spPr>
          <a:xfrm>
            <a:off x="11109960" y="6446520"/>
            <a:ext cx="548640" cy="256032"/>
          </a:xfrm>
          <a:prstGeom prst="rect">
            <a:avLst/>
          </a:prstGeom>
          <a:extLst>
            <a:ext uri="{C572A759-6A51-4108-AA02-DFA0A04FC94B}">
              <ma14:wrappingTextBoxFlag xmlns:ma14="http://schemas.microsoft.com/office/mac/drawingml/2011/main" val="0"/>
            </a:ext>
          </a:extLst>
        </p:spPr>
        <p:txBody>
          <a:bodyPr/>
          <a:lstStyle>
            <a:lvl1pPr>
              <a:defRPr sz="1200">
                <a:solidFill>
                  <a:srgbClr val="52656C"/>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02920" y="384048"/>
            <a:ext cx="11155680" cy="640080"/>
          </a:xfrm>
          <a:prstGeom prst="rect">
            <a:avLst/>
          </a:prstGeom>
          <a:noFill/>
          <a:ln/>
        </p:spPr>
        <p:txBody>
          <a:bodyPr wrap="square" lIns="0" tIns="0" rIns="0" bIns="0" rtlCol="0" anchor="ctr"/>
          <a:lstStyle/>
          <a:p>
            <a:pPr indent="0" marL="0">
              <a:buNone/>
            </a:pPr>
            <a:r>
              <a:rPr lang="en-US" sz="3600" b="1" dirty="0">
                <a:solidFill>
                  <a:schemeClr val="tx1"/>
                </a:solidFill>
              </a:rPr>
              <a:t>Three people, one file</a:t>
            </a:r>
            <a:endParaRPr lang="en-US" sz="3600" dirty="0"/>
          </a:p>
        </p:txBody>
      </p:sp>
      <p:sp>
        <p:nvSpPr>
          <p:cNvPr id="3" name="Reviewer"/>
          <p:cNvSpPr/>
          <p:nvPr/>
        </p:nvSpPr>
        <p:spPr>
          <a:xfrm>
            <a:off x="502920" y="1417320"/>
            <a:ext cx="3611880" cy="4434840"/>
          </a:xfrm>
          <a:prstGeom prst="roundRect">
            <a:avLst>
              <a:gd name="adj" fmla="val 2532"/>
            </a:avLst>
          </a:prstGeom>
          <a:solidFill>
            <a:srgbClr val="EEF4F1"/>
          </a:solidFill>
          <a:ln/>
        </p:spPr>
      </p:sp>
      <p:sp>
        <p:nvSpPr>
          <p:cNvPr id="4" name="Reviewer heading"/>
          <p:cNvSpPr txBox="1"/>
          <p:nvPr/>
        </p:nvSpPr>
        <p:spPr>
          <a:xfrm>
            <a:off x="758952" y="1737360"/>
            <a:ext cx="3145536" cy="1051560"/>
          </a:xfrm>
          <a:prstGeom prst="rect">
            <a:avLst/>
          </a:prstGeom>
          <a:noFill/>
          <a:ln/>
        </p:spPr>
        <p:txBody>
          <a:bodyPr wrap="square" lIns="0" tIns="0" rIns="0" bIns="0" rtlCol="0" anchor="t"/>
          <a:lstStyle/>
          <a:p>
            <a:pPr indent="0" marL="0">
              <a:buNone/>
            </a:pPr>
            <a:r>
              <a:rPr lang="en-US" sz="2600" b="1" dirty="0">
                <a:solidFill>
                  <a:schemeClr val="tx1"/>
                </a:solidFill>
              </a:rPr>
              <a:t>Reviewer</a:t>
            </a:r>
            <a:endParaRPr lang="en-US" sz="2600" dirty="0"/>
          </a:p>
        </p:txBody>
      </p:sp>
      <p:sp>
        <p:nvSpPr>
          <p:cNvPr id="5" name="Reviewer body"/>
          <p:cNvSpPr txBox="1"/>
          <p:nvPr/>
        </p:nvSpPr>
        <p:spPr>
          <a:xfrm>
            <a:off x="758952" y="2971800"/>
            <a:ext cx="3145536" cy="2468880"/>
          </a:xfrm>
          <a:prstGeom prst="rect">
            <a:avLst/>
          </a:prstGeom>
          <a:noFill/>
          <a:ln/>
        </p:spPr>
        <p:txBody>
          <a:bodyPr wrap="square" lIns="0" tIns="0" rIns="0" bIns="0" rtlCol="0" anchor="t"/>
          <a:lstStyle/>
          <a:p>
            <a:pPr indent="0" marL="0">
              <a:buNone/>
            </a:pPr>
            <a:r>
              <a:rPr lang="en-US" sz="1600" dirty="0">
                <a:solidFill>
                  <a:schemeClr val="tx1"/>
                </a:solidFill>
              </a:rPr>
              <a:t>Sees the quote beside the field, the checklist, and one request. Records exceptions. Does not approve financing.</a:t>
            </a:r>
            <a:endParaRPr lang="en-US" sz="1600" dirty="0"/>
          </a:p>
        </p:txBody>
      </p:sp>
      <p:sp>
        <p:nvSpPr>
          <p:cNvPr id="6" name="Submitting business"/>
          <p:cNvSpPr/>
          <p:nvPr/>
        </p:nvSpPr>
        <p:spPr>
          <a:xfrm>
            <a:off x="4343400" y="1417320"/>
            <a:ext cx="3611880" cy="4434840"/>
          </a:xfrm>
          <a:prstGeom prst="roundRect">
            <a:avLst>
              <a:gd name="adj" fmla="val 2532"/>
            </a:avLst>
          </a:prstGeom>
          <a:solidFill>
            <a:srgbClr val="EEF4F1"/>
          </a:solidFill>
          <a:ln/>
        </p:spPr>
      </p:sp>
      <p:sp>
        <p:nvSpPr>
          <p:cNvPr id="7" name="Submitting business heading"/>
          <p:cNvSpPr txBox="1"/>
          <p:nvPr/>
        </p:nvSpPr>
        <p:spPr>
          <a:xfrm>
            <a:off x="4599432" y="1737360"/>
            <a:ext cx="3145536" cy="1051560"/>
          </a:xfrm>
          <a:prstGeom prst="rect">
            <a:avLst/>
          </a:prstGeom>
          <a:noFill/>
          <a:ln/>
        </p:spPr>
        <p:txBody>
          <a:bodyPr wrap="square" lIns="0" tIns="0" rIns="0" bIns="0" rtlCol="0" anchor="t"/>
          <a:lstStyle/>
          <a:p>
            <a:pPr indent="0" marL="0">
              <a:buNone/>
            </a:pPr>
            <a:r>
              <a:rPr lang="en-US" sz="2600" b="1" dirty="0">
                <a:solidFill>
                  <a:schemeClr val="tx1"/>
                </a:solidFill>
              </a:rPr>
              <a:t>Submitting business</a:t>
            </a:r>
            <a:endParaRPr lang="en-US" sz="2600" dirty="0"/>
          </a:p>
        </p:txBody>
      </p:sp>
      <p:sp>
        <p:nvSpPr>
          <p:cNvPr id="8" name="Submitting business body"/>
          <p:cNvSpPr txBox="1"/>
          <p:nvPr/>
        </p:nvSpPr>
        <p:spPr>
          <a:xfrm>
            <a:off x="4599432" y="2971800"/>
            <a:ext cx="3145536" cy="2468880"/>
          </a:xfrm>
          <a:prstGeom prst="rect">
            <a:avLst/>
          </a:prstGeom>
          <a:noFill/>
          <a:ln/>
        </p:spPr>
        <p:txBody>
          <a:bodyPr wrap="square" lIns="0" tIns="0" rIns="0" bIns="0" rtlCol="0" anchor="t"/>
          <a:lstStyle/>
          <a:p>
            <a:pPr indent="0" marL="0">
              <a:buNone/>
            </a:pPr>
            <a:r>
              <a:rPr lang="en-US" sz="1600" dirty="0">
                <a:solidFill>
                  <a:schemeClr val="tx1"/>
                </a:solidFill>
              </a:rPr>
              <a:t>Sends the invoice and receipts, answers that one request, and receives a document-review notice when the review is complete.</a:t>
            </a:r>
            <a:endParaRPr lang="en-US" sz="1600" dirty="0"/>
          </a:p>
        </p:txBody>
      </p:sp>
      <p:sp>
        <p:nvSpPr>
          <p:cNvPr id="9" name="Bank file"/>
          <p:cNvSpPr/>
          <p:nvPr/>
        </p:nvSpPr>
        <p:spPr>
          <a:xfrm>
            <a:off x="8183880" y="1417320"/>
            <a:ext cx="3611880" cy="4434840"/>
          </a:xfrm>
          <a:prstGeom prst="roundRect">
            <a:avLst>
              <a:gd name="adj" fmla="val 2532"/>
            </a:avLst>
          </a:prstGeom>
          <a:solidFill>
            <a:srgbClr val="EEF4F1"/>
          </a:solidFill>
          <a:ln/>
        </p:spPr>
      </p:sp>
      <p:sp>
        <p:nvSpPr>
          <p:cNvPr id="10" name="Bank file heading"/>
          <p:cNvSpPr txBox="1"/>
          <p:nvPr/>
        </p:nvSpPr>
        <p:spPr>
          <a:xfrm>
            <a:off x="8439912" y="1737360"/>
            <a:ext cx="3145536" cy="1051560"/>
          </a:xfrm>
          <a:prstGeom prst="rect">
            <a:avLst/>
          </a:prstGeom>
          <a:noFill/>
          <a:ln/>
        </p:spPr>
        <p:txBody>
          <a:bodyPr wrap="square" lIns="0" tIns="0" rIns="0" bIns="0" rtlCol="0" anchor="t"/>
          <a:lstStyle/>
          <a:p>
            <a:pPr indent="0" marL="0">
              <a:buNone/>
            </a:pPr>
            <a:r>
              <a:rPr lang="en-US" sz="2600" b="1" dirty="0">
                <a:solidFill>
                  <a:schemeClr val="tx1"/>
                </a:solidFill>
              </a:rPr>
              <a:t>Bank file</a:t>
            </a:r>
            <a:endParaRPr lang="en-US" sz="2600" dirty="0"/>
          </a:p>
        </p:txBody>
      </p:sp>
      <p:sp>
        <p:nvSpPr>
          <p:cNvPr id="11" name="Bank file body"/>
          <p:cNvSpPr txBox="1"/>
          <p:nvPr/>
        </p:nvSpPr>
        <p:spPr>
          <a:xfrm>
            <a:off x="8439912" y="2971800"/>
            <a:ext cx="3145536" cy="2468880"/>
          </a:xfrm>
          <a:prstGeom prst="rect">
            <a:avLst/>
          </a:prstGeom>
          <a:noFill/>
          <a:ln/>
        </p:spPr>
        <p:txBody>
          <a:bodyPr wrap="square" lIns="0" tIns="0" rIns="0" bIns="0" rtlCol="0" anchor="t"/>
          <a:lstStyle/>
          <a:p>
            <a:pPr indent="0" marL="0">
              <a:buNone/>
            </a:pPr>
            <a:r>
              <a:rPr lang="en-US" sz="1600" dirty="0">
                <a:solidFill>
                  <a:schemeClr val="tx1"/>
                </a:solidFill>
              </a:rPr>
              <a:t>Keeps a frozen PDF and JSON. The client notice omits reviewer names, staff notes, and model traces.</a:t>
            </a:r>
            <a:endParaRPr lang="en-US" sz="1600" dirty="0"/>
          </a:p>
        </p:txBody>
      </p:sp>
      <p:sp>
        <p:nvSpPr>
          <p:cNvPr id="25" name="Slide Number Placeholder 0"/>
          <p:cNvSpPr>
            <a:spLocks noGrp="1"/>
          </p:cNvSpPr>
          <p:nvPr>
            <p:ph type="sldNum" sz="quarter" idx="4294967295"/>
          </p:nvPr>
        </p:nvSpPr>
        <p:spPr>
          <a:xfrm>
            <a:off x="11109960" y="6446520"/>
            <a:ext cx="548640" cy="256032"/>
          </a:xfrm>
          <a:prstGeom prst="rect">
            <a:avLst/>
          </a:prstGeom>
          <a:extLst>
            <a:ext uri="{C572A759-6A51-4108-AA02-DFA0A04FC94B}">
              <ma14:wrappingTextBoxFlag xmlns:ma14="http://schemas.microsoft.com/office/mac/drawingml/2011/main" val="0"/>
            </a:ext>
          </a:extLst>
        </p:spPr>
        <p:txBody>
          <a:bodyPr/>
          <a:lstStyle>
            <a:lvl1pPr>
              <a:defRPr sz="1200">
                <a:solidFill>
                  <a:srgbClr val="52656C"/>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02920" y="384048"/>
            <a:ext cx="11155680" cy="640080"/>
          </a:xfrm>
          <a:prstGeom prst="rect">
            <a:avLst/>
          </a:prstGeom>
          <a:noFill/>
          <a:ln/>
        </p:spPr>
        <p:txBody>
          <a:bodyPr wrap="square" lIns="0" tIns="0" rIns="0" bIns="0" rtlCol="0" anchor="ctr"/>
          <a:lstStyle/>
          <a:p>
            <a:pPr indent="0" marL="0">
              <a:buNone/>
            </a:pPr>
            <a:r>
              <a:rPr lang="en-US" sz="3600" b="1" dirty="0">
                <a:solidFill>
                  <a:schemeClr val="tx1"/>
                </a:solidFill>
              </a:rPr>
              <a:t>Gemini proposes. Code commits</a:t>
            </a:r>
            <a:endParaRPr lang="en-US" sz="3600" dirty="0"/>
          </a:p>
        </p:txBody>
      </p:sp>
      <p:sp>
        <p:nvSpPr>
          <p:cNvPr id="3" name="Gemini column"/>
          <p:cNvSpPr/>
          <p:nvPr/>
        </p:nvSpPr>
        <p:spPr>
          <a:xfrm>
            <a:off x="502920" y="1261872"/>
            <a:ext cx="5486400" cy="3246120"/>
          </a:xfrm>
          <a:prstGeom prst="roundRect">
            <a:avLst>
              <a:gd name="adj" fmla="val 2817"/>
            </a:avLst>
          </a:prstGeom>
          <a:solidFill>
            <a:srgbClr val="E6F4EF"/>
          </a:solidFill>
          <a:ln/>
        </p:spPr>
      </p:sp>
      <p:sp>
        <p:nvSpPr>
          <p:cNvPr id="4" name="Application column"/>
          <p:cNvSpPr/>
          <p:nvPr/>
        </p:nvSpPr>
        <p:spPr>
          <a:xfrm>
            <a:off x="6172200" y="1261872"/>
            <a:ext cx="5486400" cy="3246120"/>
          </a:xfrm>
          <a:prstGeom prst="roundRect">
            <a:avLst>
              <a:gd name="adj" fmla="val 2817"/>
            </a:avLst>
          </a:prstGeom>
          <a:solidFill>
            <a:srgbClr val="EEF4F1"/>
          </a:solidFill>
          <a:ln/>
        </p:spPr>
      </p:sp>
      <p:sp>
        <p:nvSpPr>
          <p:cNvPr id="5" name="Gemini heading"/>
          <p:cNvSpPr txBox="1"/>
          <p:nvPr/>
        </p:nvSpPr>
        <p:spPr>
          <a:xfrm>
            <a:off x="749808" y="1444752"/>
            <a:ext cx="4983480" cy="365760"/>
          </a:xfrm>
          <a:prstGeom prst="rect">
            <a:avLst/>
          </a:prstGeom>
          <a:noFill/>
          <a:ln/>
        </p:spPr>
        <p:txBody>
          <a:bodyPr wrap="square" lIns="0" tIns="0" rIns="0" bIns="0" rtlCol="0" anchor="t"/>
          <a:lstStyle/>
          <a:p>
            <a:pPr indent="0" marL="0">
              <a:buNone/>
            </a:pPr>
            <a:r>
              <a:rPr lang="en-US" sz="2000" b="1" dirty="0">
                <a:solidFill>
                  <a:schemeClr val="accent1"/>
                </a:solidFill>
              </a:rPr>
              <a:t>Gemini on Vertex</a:t>
            </a:r>
            <a:endParaRPr lang="en-US" sz="2000" dirty="0"/>
          </a:p>
        </p:txBody>
      </p:sp>
      <p:sp>
        <p:nvSpPr>
          <p:cNvPr id="6" name="Application heading"/>
          <p:cNvSpPr txBox="1"/>
          <p:nvPr/>
        </p:nvSpPr>
        <p:spPr>
          <a:xfrm>
            <a:off x="6419088" y="1444752"/>
            <a:ext cx="4983480" cy="365760"/>
          </a:xfrm>
          <a:prstGeom prst="rect">
            <a:avLst/>
          </a:prstGeom>
          <a:noFill/>
          <a:ln/>
        </p:spPr>
        <p:txBody>
          <a:bodyPr wrap="square" lIns="0" tIns="0" rIns="0" bIns="0" rtlCol="0" anchor="t"/>
          <a:lstStyle/>
          <a:p>
            <a:pPr indent="0" marL="0">
              <a:buNone/>
            </a:pPr>
            <a:r>
              <a:rPr lang="en-US" sz="2000" b="1" dirty="0">
                <a:solidFill>
                  <a:schemeClr val="tx1"/>
                </a:solidFill>
              </a:rPr>
              <a:t>The application</a:t>
            </a:r>
            <a:endParaRPr lang="en-US" sz="2000" dirty="0"/>
          </a:p>
        </p:txBody>
      </p:sp>
      <p:sp>
        <p:nvSpPr>
          <p:cNvPr id="7" name="Gemini list"/>
          <p:cNvSpPr txBox="1"/>
          <p:nvPr/>
        </p:nvSpPr>
        <p:spPr>
          <a:xfrm>
            <a:off x="749808" y="1965960"/>
            <a:ext cx="4983480" cy="228600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chemeClr val="tx1"/>
                </a:solidFill>
              </a:rPr>
              <a:t>Proposes each field with its source quote</a:t>
            </a:r>
            <a:endParaRPr lang="en-US" sz="1600" dirty="0"/>
          </a:p>
          <a:p>
            <a:pPr marL="342900" indent="-342900">
              <a:spcAft>
                <a:spcPts val="1000"/>
              </a:spcAft>
              <a:buSzPct val="100000"/>
              <a:buChar char="•"/>
            </a:pPr>
            <a:r>
              <a:rPr lang="en-US" sz="1600" dirty="0">
                <a:solidFill>
                  <a:schemeClr val="tx1"/>
                </a:solidFill>
              </a:rPr>
              <a:t>Plans one request for every open gap</a:t>
            </a:r>
            <a:endParaRPr lang="en-US" sz="1600" dirty="0"/>
          </a:p>
          <a:p>
            <a:pPr marL="342900" indent="-342900">
              <a:spcAft>
                <a:spcPts val="1000"/>
              </a:spcAft>
              <a:buSzPct val="100000"/>
              <a:buChar char="•"/>
            </a:pPr>
            <a:r>
              <a:rPr lang="en-US" sz="1600" dirty="0">
                <a:solidFill>
                  <a:schemeClr val="tx1"/>
                </a:solidFill>
              </a:rPr>
              <a:t>Leaves a written dispute with a person</a:t>
            </a:r>
            <a:endParaRPr lang="en-US" sz="1600" dirty="0"/>
          </a:p>
          <a:p>
            <a:pPr marL="342900" indent="-342900">
              <a:spcAft>
                <a:spcPts val="1000"/>
              </a:spcAft>
              <a:buSzPct val="100000"/>
              <a:buChar char="•"/>
            </a:pPr>
            <a:r>
              <a:rPr lang="en-US" sz="1600" dirty="0">
                <a:solidFill>
                  <a:schemeClr val="tx1"/>
                </a:solidFill>
              </a:rPr>
              <a:t>Can review images and public evidence</a:t>
            </a:r>
            <a:endParaRPr lang="en-US" sz="1600" dirty="0"/>
          </a:p>
        </p:txBody>
      </p:sp>
      <p:sp>
        <p:nvSpPr>
          <p:cNvPr id="8" name="Application list"/>
          <p:cNvSpPr txBox="1"/>
          <p:nvPr/>
        </p:nvSpPr>
        <p:spPr>
          <a:xfrm>
            <a:off x="6419088" y="1965960"/>
            <a:ext cx="4983480" cy="228600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chemeClr val="tx1"/>
                </a:solidFill>
              </a:rPr>
              <a:t>Commits arithmetic and delivery identity</a:t>
            </a:r>
            <a:endParaRPr lang="en-US" sz="1600" dirty="0"/>
          </a:p>
          <a:p>
            <a:pPr marL="342900" indent="-342900">
              <a:spcAft>
                <a:spcPts val="1000"/>
              </a:spcAft>
              <a:buSzPct val="100000"/>
              <a:buChar char="•"/>
            </a:pPr>
            <a:r>
              <a:rPr lang="en-US" sz="1600" dirty="0">
                <a:solidFill>
                  <a:schemeClr val="tx1"/>
                </a:solidFill>
              </a:rPr>
              <a:t>Holds a repeated seller invoice</a:t>
            </a:r>
            <a:endParaRPr lang="en-US" sz="1600" dirty="0"/>
          </a:p>
          <a:p>
            <a:pPr marL="342900" indent="-342900">
              <a:spcAft>
                <a:spcPts val="1000"/>
              </a:spcAft>
              <a:buSzPct val="100000"/>
              <a:buChar char="•"/>
            </a:pPr>
            <a:r>
              <a:rPr lang="en-US" sz="1600" dirty="0">
                <a:solidFill>
                  <a:schemeClr val="tx1"/>
                </a:solidFill>
              </a:rPr>
              <a:t>Owns tool scope, budget, and completion</a:t>
            </a:r>
            <a:endParaRPr lang="en-US" sz="1600" dirty="0"/>
          </a:p>
          <a:p>
            <a:pPr marL="342900" indent="-342900">
              <a:spcAft>
                <a:spcPts val="1000"/>
              </a:spcAft>
              <a:buSzPct val="100000"/>
              <a:buChar char="•"/>
            </a:pPr>
            <a:r>
              <a:rPr lang="en-US" sz="1600" dirty="0">
                <a:solidFill>
                  <a:schemeClr val="tx1"/>
                </a:solidFill>
              </a:rPr>
              <a:t>Leaves financing with the bank</a:t>
            </a:r>
            <a:endParaRPr lang="en-US" sz="1600" dirty="0"/>
          </a:p>
        </p:txBody>
      </p:sp>
      <p:sp>
        <p:nvSpPr>
          <p:cNvPr id="9" name="Search boundary"/>
          <p:cNvSpPr/>
          <p:nvPr/>
        </p:nvSpPr>
        <p:spPr>
          <a:xfrm>
            <a:off x="502920" y="4800600"/>
            <a:ext cx="11155680" cy="1261872"/>
          </a:xfrm>
          <a:prstGeom prst="roundRect">
            <a:avLst>
              <a:gd name="adj" fmla="val 7246"/>
            </a:avLst>
          </a:prstGeom>
          <a:solidFill>
            <a:srgbClr val="F4F7F5"/>
          </a:solidFill>
          <a:ln/>
        </p:spPr>
      </p:sp>
      <p:sp>
        <p:nvSpPr>
          <p:cNvPr id="10" name="Search heading"/>
          <p:cNvSpPr txBox="1"/>
          <p:nvPr/>
        </p:nvSpPr>
        <p:spPr>
          <a:xfrm>
            <a:off x="749808" y="4937760"/>
            <a:ext cx="10698480" cy="329184"/>
          </a:xfrm>
          <a:prstGeom prst="rect">
            <a:avLst/>
          </a:prstGeom>
          <a:noFill/>
          <a:ln/>
        </p:spPr>
        <p:txBody>
          <a:bodyPr wrap="square" lIns="0" tIns="0" rIns="0" bIns="0" rtlCol="0" anchor="t"/>
          <a:lstStyle/>
          <a:p>
            <a:pPr indent="0" marL="0">
              <a:buNone/>
            </a:pPr>
            <a:r>
              <a:rPr lang="en-US" sz="1600" b="1" dirty="0">
                <a:solidFill>
                  <a:schemeClr val="tx1"/>
                </a:solidFill>
              </a:rPr>
              <a:t>Google Search, only when that case opts in</a:t>
            </a:r>
            <a:endParaRPr lang="en-US" sz="1600" dirty="0"/>
          </a:p>
        </p:txBody>
      </p:sp>
      <p:sp>
        <p:nvSpPr>
          <p:cNvPr id="11" name="Search body"/>
          <p:cNvSpPr txBox="1"/>
          <p:nvPr/>
        </p:nvSpPr>
        <p:spPr>
          <a:xfrm>
            <a:off x="749808" y="5303520"/>
            <a:ext cx="10698480" cy="640080"/>
          </a:xfrm>
          <a:prstGeom prst="rect">
            <a:avLst/>
          </a:prstGeom>
          <a:noFill/>
          <a:ln/>
        </p:spPr>
        <p:txBody>
          <a:bodyPr wrap="square" lIns="0" tIns="0" rIns="0" bIns="0" rtlCol="0" anchor="t"/>
          <a:lstStyle/>
          <a:p>
            <a:pPr indent="0" marL="0">
              <a:buNone/>
            </a:pPr>
            <a:r>
              <a:rPr lang="en-US" sz="1500" dirty="0">
                <a:solidFill>
                  <a:schemeClr val="tx1"/>
                </a:solidFill>
              </a:rPr>
              <a:t>The call receives the company name, country, registration number, date, and a research angle. Invoice amounts, documents, messages, and case identifiers stay off it.</a:t>
            </a:r>
            <a:endParaRPr lang="en-US" sz="1500" dirty="0"/>
          </a:p>
        </p:txBody>
      </p:sp>
      <p:sp>
        <p:nvSpPr>
          <p:cNvPr id="25" name="Slide Number Placeholder 0"/>
          <p:cNvSpPr>
            <a:spLocks noGrp="1"/>
          </p:cNvSpPr>
          <p:nvPr>
            <p:ph type="sldNum" sz="quarter" idx="4294967295"/>
          </p:nvPr>
        </p:nvSpPr>
        <p:spPr>
          <a:xfrm>
            <a:off x="11109960" y="6446520"/>
            <a:ext cx="548640" cy="256032"/>
          </a:xfrm>
          <a:prstGeom prst="rect">
            <a:avLst/>
          </a:prstGeom>
          <a:extLst>
            <a:ext uri="{C572A759-6A51-4108-AA02-DFA0A04FC94B}">
              <ma14:wrappingTextBoxFlag xmlns:ma14="http://schemas.microsoft.com/office/mac/drawingml/2011/main" val="0"/>
            </a:ext>
          </a:extLst>
        </p:spPr>
        <p:txBody>
          <a:bodyPr/>
          <a:lstStyle>
            <a:lvl1pPr>
              <a:defRPr sz="1200">
                <a:solidFill>
                  <a:srgbClr val="52656C"/>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02920" y="384048"/>
            <a:ext cx="11155680" cy="640080"/>
          </a:xfrm>
          <a:prstGeom prst="rect">
            <a:avLst/>
          </a:prstGeom>
          <a:noFill/>
          <a:ln/>
        </p:spPr>
        <p:txBody>
          <a:bodyPr wrap="square" lIns="0" tIns="0" rIns="0" bIns="0" rtlCol="0" anchor="ctr"/>
          <a:lstStyle/>
          <a:p>
            <a:pPr indent="0" marL="0">
              <a:buNone/>
            </a:pPr>
            <a:r>
              <a:rPr lang="en-US" sz="3600" b="1" dirty="0">
                <a:solidFill>
                  <a:schemeClr val="tx1"/>
                </a:solidFill>
              </a:rPr>
              <a:t>One case, end to end</a:t>
            </a:r>
            <a:endParaRPr lang="en-US" sz="3600" dirty="0"/>
          </a:p>
        </p:txBody>
      </p:sp>
      <p:sp>
        <p:nvSpPr>
          <p:cNvPr id="3" name="Step card 1"/>
          <p:cNvSpPr/>
          <p:nvPr/>
        </p:nvSpPr>
        <p:spPr>
          <a:xfrm>
            <a:off x="502920" y="1298448"/>
            <a:ext cx="3547872" cy="2212848"/>
          </a:xfrm>
          <a:prstGeom prst="roundRect">
            <a:avLst>
              <a:gd name="adj" fmla="val 4132"/>
            </a:avLst>
          </a:prstGeom>
          <a:solidFill>
            <a:srgbClr val="EEF4F1"/>
          </a:solidFill>
          <a:ln/>
        </p:spPr>
      </p:sp>
      <p:sp>
        <p:nvSpPr>
          <p:cNvPr id="4" name="Step 1"/>
          <p:cNvSpPr/>
          <p:nvPr/>
        </p:nvSpPr>
        <p:spPr>
          <a:xfrm>
            <a:off x="704088" y="1517904"/>
            <a:ext cx="347472" cy="347472"/>
          </a:xfrm>
          <a:prstGeom prst="ellipse">
            <a:avLst/>
          </a:prstGeom>
          <a:solidFill>
            <a:srgbClr val="00675F"/>
          </a:solidFill>
          <a:ln/>
        </p:spPr>
      </p:sp>
      <p:sp>
        <p:nvSpPr>
          <p:cNvPr id="5" name="Step 1 number"/>
          <p:cNvSpPr txBox="1"/>
          <p:nvPr/>
        </p:nvSpPr>
        <p:spPr>
          <a:xfrm>
            <a:off x="704088" y="1517904"/>
            <a:ext cx="347472" cy="347472"/>
          </a:xfrm>
          <a:prstGeom prst="rect">
            <a:avLst/>
          </a:prstGeom>
          <a:no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6" name="Step title 1"/>
          <p:cNvSpPr txBox="1"/>
          <p:nvPr/>
        </p:nvSpPr>
        <p:spPr>
          <a:xfrm>
            <a:off x="1161288" y="1536192"/>
            <a:ext cx="2788920" cy="365760"/>
          </a:xfrm>
          <a:prstGeom prst="rect">
            <a:avLst/>
          </a:prstGeom>
          <a:noFill/>
          <a:ln/>
        </p:spPr>
        <p:txBody>
          <a:bodyPr wrap="square" lIns="0" tIns="0" rIns="0" bIns="0" rtlCol="0" anchor="ctr"/>
          <a:lstStyle/>
          <a:p>
            <a:pPr indent="0" marL="0">
              <a:buNone/>
            </a:pPr>
            <a:r>
              <a:rPr lang="en-US" sz="1800" b="1" dirty="0">
                <a:solidFill>
                  <a:schemeClr val="tx1"/>
                </a:solidFill>
              </a:rPr>
              <a:t>Vendor submits</a:t>
            </a:r>
            <a:endParaRPr lang="en-US" sz="1800" dirty="0"/>
          </a:p>
        </p:txBody>
      </p:sp>
      <p:sp>
        <p:nvSpPr>
          <p:cNvPr id="7" name="Step body 1"/>
          <p:cNvSpPr txBox="1"/>
          <p:nvPr/>
        </p:nvSpPr>
        <p:spPr>
          <a:xfrm>
            <a:off x="722376" y="2121408"/>
            <a:ext cx="3218688" cy="1234440"/>
          </a:xfrm>
          <a:prstGeom prst="rect">
            <a:avLst/>
          </a:prstGeom>
          <a:noFill/>
          <a:ln/>
        </p:spPr>
        <p:txBody>
          <a:bodyPr wrap="square" lIns="0" tIns="0" rIns="0" bIns="0" rtlCol="0" anchor="t"/>
          <a:lstStyle/>
          <a:p>
            <a:pPr indent="0" marL="0">
              <a:buNone/>
            </a:pPr>
            <a:r>
              <a:rPr lang="en-US" sz="1500" dirty="0">
                <a:solidFill>
                  <a:schemeClr val="tx1"/>
                </a:solidFill>
              </a:rPr>
              <a:t>Invoice plus a receipt that covers only part of the delivery.</a:t>
            </a:r>
            <a:endParaRPr lang="en-US" sz="1500" dirty="0"/>
          </a:p>
        </p:txBody>
      </p:sp>
      <p:sp>
        <p:nvSpPr>
          <p:cNvPr id="8" name="Step card 2"/>
          <p:cNvSpPr/>
          <p:nvPr/>
        </p:nvSpPr>
        <p:spPr>
          <a:xfrm>
            <a:off x="4325112" y="1298448"/>
            <a:ext cx="3547872" cy="2212848"/>
          </a:xfrm>
          <a:prstGeom prst="roundRect">
            <a:avLst>
              <a:gd name="adj" fmla="val 4132"/>
            </a:avLst>
          </a:prstGeom>
          <a:solidFill>
            <a:srgbClr val="EEF4F1"/>
          </a:solidFill>
          <a:ln/>
        </p:spPr>
      </p:sp>
      <p:sp>
        <p:nvSpPr>
          <p:cNvPr id="9" name="Step 2"/>
          <p:cNvSpPr/>
          <p:nvPr/>
        </p:nvSpPr>
        <p:spPr>
          <a:xfrm>
            <a:off x="4526280" y="1517904"/>
            <a:ext cx="347472" cy="347472"/>
          </a:xfrm>
          <a:prstGeom prst="ellipse">
            <a:avLst/>
          </a:prstGeom>
          <a:solidFill>
            <a:srgbClr val="00675F"/>
          </a:solidFill>
          <a:ln/>
        </p:spPr>
      </p:sp>
      <p:sp>
        <p:nvSpPr>
          <p:cNvPr id="10" name="Step 2 number"/>
          <p:cNvSpPr txBox="1"/>
          <p:nvPr/>
        </p:nvSpPr>
        <p:spPr>
          <a:xfrm>
            <a:off x="4526280" y="1517904"/>
            <a:ext cx="347472" cy="347472"/>
          </a:xfrm>
          <a:prstGeom prst="rect">
            <a:avLst/>
          </a:prstGeom>
          <a:no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11" name="Step title 2"/>
          <p:cNvSpPr txBox="1"/>
          <p:nvPr/>
        </p:nvSpPr>
        <p:spPr>
          <a:xfrm>
            <a:off x="4983480" y="1536192"/>
            <a:ext cx="2788920" cy="365760"/>
          </a:xfrm>
          <a:prstGeom prst="rect">
            <a:avLst/>
          </a:prstGeom>
          <a:noFill/>
          <a:ln/>
        </p:spPr>
        <p:txBody>
          <a:bodyPr wrap="square" lIns="0" tIns="0" rIns="0" bIns="0" rtlCol="0" anchor="ctr"/>
          <a:lstStyle/>
          <a:p>
            <a:pPr indent="0" marL="0">
              <a:buNone/>
            </a:pPr>
            <a:r>
              <a:rPr lang="en-US" sz="1800" b="1" dirty="0">
                <a:solidFill>
                  <a:schemeClr val="tx1"/>
                </a:solidFill>
              </a:rPr>
              <a:t>Checklist opens</a:t>
            </a:r>
            <a:endParaRPr lang="en-US" sz="1800" dirty="0"/>
          </a:p>
        </p:txBody>
      </p:sp>
      <p:sp>
        <p:nvSpPr>
          <p:cNvPr id="12" name="Step body 2"/>
          <p:cNvSpPr txBox="1"/>
          <p:nvPr/>
        </p:nvSpPr>
        <p:spPr>
          <a:xfrm>
            <a:off x="4544568" y="2121408"/>
            <a:ext cx="3218688" cy="1234440"/>
          </a:xfrm>
          <a:prstGeom prst="rect">
            <a:avLst/>
          </a:prstGeom>
          <a:noFill/>
          <a:ln/>
        </p:spPr>
        <p:txBody>
          <a:bodyPr wrap="square" lIns="0" tIns="0" rIns="0" bIns="0" rtlCol="0" anchor="t"/>
          <a:lstStyle/>
          <a:p>
            <a:pPr indent="0" marL="0">
              <a:buNone/>
            </a:pPr>
            <a:r>
              <a:rPr lang="en-US" sz="1500" dirty="0">
                <a:solidFill>
                  <a:schemeClr val="tx1"/>
                </a:solidFill>
              </a:rPr>
              <a:t>Wrong total and missing delivery, shown beside the source quote.</a:t>
            </a:r>
            <a:endParaRPr lang="en-US" sz="1500" dirty="0"/>
          </a:p>
        </p:txBody>
      </p:sp>
      <p:sp>
        <p:nvSpPr>
          <p:cNvPr id="13" name="Step card 3"/>
          <p:cNvSpPr/>
          <p:nvPr/>
        </p:nvSpPr>
        <p:spPr>
          <a:xfrm>
            <a:off x="8147304" y="1298448"/>
            <a:ext cx="3547872" cy="2212848"/>
          </a:xfrm>
          <a:prstGeom prst="roundRect">
            <a:avLst>
              <a:gd name="adj" fmla="val 4132"/>
            </a:avLst>
          </a:prstGeom>
          <a:solidFill>
            <a:srgbClr val="EEF4F1"/>
          </a:solidFill>
          <a:ln/>
        </p:spPr>
      </p:sp>
      <p:sp>
        <p:nvSpPr>
          <p:cNvPr id="14" name="Step 3"/>
          <p:cNvSpPr/>
          <p:nvPr/>
        </p:nvSpPr>
        <p:spPr>
          <a:xfrm>
            <a:off x="8348472" y="1517904"/>
            <a:ext cx="347472" cy="347472"/>
          </a:xfrm>
          <a:prstGeom prst="ellipse">
            <a:avLst/>
          </a:prstGeom>
          <a:solidFill>
            <a:srgbClr val="00675F"/>
          </a:solidFill>
          <a:ln/>
        </p:spPr>
      </p:sp>
      <p:sp>
        <p:nvSpPr>
          <p:cNvPr id="15" name="Step 3 number"/>
          <p:cNvSpPr txBox="1"/>
          <p:nvPr/>
        </p:nvSpPr>
        <p:spPr>
          <a:xfrm>
            <a:off x="8348472" y="1517904"/>
            <a:ext cx="347472" cy="347472"/>
          </a:xfrm>
          <a:prstGeom prst="rect">
            <a:avLst/>
          </a:prstGeom>
          <a:no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6" name="Step title 3"/>
          <p:cNvSpPr txBox="1"/>
          <p:nvPr/>
        </p:nvSpPr>
        <p:spPr>
          <a:xfrm>
            <a:off x="8805672" y="1536192"/>
            <a:ext cx="2788920" cy="365760"/>
          </a:xfrm>
          <a:prstGeom prst="rect">
            <a:avLst/>
          </a:prstGeom>
          <a:noFill/>
          <a:ln/>
        </p:spPr>
        <p:txBody>
          <a:bodyPr wrap="square" lIns="0" tIns="0" rIns="0" bIns="0" rtlCol="0" anchor="ctr"/>
          <a:lstStyle/>
          <a:p>
            <a:pPr indent="0" marL="0">
              <a:buNone/>
            </a:pPr>
            <a:r>
              <a:rPr lang="en-US" sz="1800" b="1" dirty="0">
                <a:solidFill>
                  <a:schemeClr val="tx1"/>
                </a:solidFill>
              </a:rPr>
              <a:t>One request</a:t>
            </a:r>
            <a:endParaRPr lang="en-US" sz="1800" dirty="0"/>
          </a:p>
        </p:txBody>
      </p:sp>
      <p:sp>
        <p:nvSpPr>
          <p:cNvPr id="17" name="Step body 3"/>
          <p:cNvSpPr txBox="1"/>
          <p:nvPr/>
        </p:nvSpPr>
        <p:spPr>
          <a:xfrm>
            <a:off x="8366760" y="2121408"/>
            <a:ext cx="3218688" cy="1234440"/>
          </a:xfrm>
          <a:prstGeom prst="rect">
            <a:avLst/>
          </a:prstGeom>
          <a:noFill/>
          <a:ln/>
        </p:spPr>
        <p:txBody>
          <a:bodyPr wrap="square" lIns="0" tIns="0" rIns="0" bIns="0" rtlCol="0" anchor="t"/>
          <a:lstStyle/>
          <a:p>
            <a:pPr indent="0" marL="0">
              <a:buNone/>
            </a:pPr>
            <a:r>
              <a:rPr lang="en-US" sz="1500" dirty="0">
                <a:solidFill>
                  <a:schemeClr val="tx1"/>
                </a:solidFill>
              </a:rPr>
              <a:t>Both gaps go out together. The business is not asked twice.</a:t>
            </a:r>
            <a:endParaRPr lang="en-US" sz="1500" dirty="0"/>
          </a:p>
        </p:txBody>
      </p:sp>
      <p:sp>
        <p:nvSpPr>
          <p:cNvPr id="18" name="Step card 4"/>
          <p:cNvSpPr/>
          <p:nvPr/>
        </p:nvSpPr>
        <p:spPr>
          <a:xfrm>
            <a:off x="502920" y="3785616"/>
            <a:ext cx="3547872" cy="2212848"/>
          </a:xfrm>
          <a:prstGeom prst="roundRect">
            <a:avLst>
              <a:gd name="adj" fmla="val 4132"/>
            </a:avLst>
          </a:prstGeom>
          <a:solidFill>
            <a:srgbClr val="EEF4F1"/>
          </a:solidFill>
          <a:ln/>
        </p:spPr>
      </p:sp>
      <p:sp>
        <p:nvSpPr>
          <p:cNvPr id="19" name="Step 4"/>
          <p:cNvSpPr/>
          <p:nvPr/>
        </p:nvSpPr>
        <p:spPr>
          <a:xfrm>
            <a:off x="704088" y="4005072"/>
            <a:ext cx="347472" cy="347472"/>
          </a:xfrm>
          <a:prstGeom prst="ellipse">
            <a:avLst/>
          </a:prstGeom>
          <a:solidFill>
            <a:srgbClr val="00675F"/>
          </a:solidFill>
          <a:ln/>
        </p:spPr>
      </p:sp>
      <p:sp>
        <p:nvSpPr>
          <p:cNvPr id="20" name="Step 4 number"/>
          <p:cNvSpPr txBox="1"/>
          <p:nvPr/>
        </p:nvSpPr>
        <p:spPr>
          <a:xfrm>
            <a:off x="704088" y="4005072"/>
            <a:ext cx="347472" cy="347472"/>
          </a:xfrm>
          <a:prstGeom prst="rect">
            <a:avLst/>
          </a:prstGeom>
          <a:noFill/>
          <a:ln/>
        </p:spPr>
        <p:txBody>
          <a:bodyPr wrap="square" lIns="0" tIns="0" rIns="0" bIns="0" rtlCol="0" anchor="ctr"/>
          <a:lstStyle/>
          <a:p>
            <a:pPr algn="ctr" indent="0" marL="0">
              <a:buNone/>
            </a:pPr>
            <a:r>
              <a:rPr lang="en-US" sz="1400" b="1" dirty="0">
                <a:solidFill>
                  <a:srgbClr val="FFFFFF"/>
                </a:solidFill>
              </a:rPr>
              <a:t>4</a:t>
            </a:r>
            <a:endParaRPr lang="en-US" sz="1400" dirty="0"/>
          </a:p>
        </p:txBody>
      </p:sp>
      <p:sp>
        <p:nvSpPr>
          <p:cNvPr id="21" name="Step title 4"/>
          <p:cNvSpPr txBox="1"/>
          <p:nvPr/>
        </p:nvSpPr>
        <p:spPr>
          <a:xfrm>
            <a:off x="1161288" y="4023360"/>
            <a:ext cx="2788920" cy="365760"/>
          </a:xfrm>
          <a:prstGeom prst="rect">
            <a:avLst/>
          </a:prstGeom>
          <a:noFill/>
          <a:ln/>
        </p:spPr>
        <p:txBody>
          <a:bodyPr wrap="square" lIns="0" tIns="0" rIns="0" bIns="0" rtlCol="0" anchor="ctr"/>
          <a:lstStyle/>
          <a:p>
            <a:pPr indent="0" marL="0">
              <a:buNone/>
            </a:pPr>
            <a:r>
              <a:rPr lang="en-US" sz="1800" b="1" dirty="0">
                <a:solidFill>
                  <a:schemeClr val="tx1"/>
                </a:solidFill>
              </a:rPr>
              <a:t>Checklist closes</a:t>
            </a:r>
            <a:endParaRPr lang="en-US" sz="1800" dirty="0"/>
          </a:p>
        </p:txBody>
      </p:sp>
      <p:sp>
        <p:nvSpPr>
          <p:cNvPr id="22" name="Step body 4"/>
          <p:cNvSpPr txBox="1"/>
          <p:nvPr/>
        </p:nvSpPr>
        <p:spPr>
          <a:xfrm>
            <a:off x="722376" y="4608576"/>
            <a:ext cx="3218688" cy="1234440"/>
          </a:xfrm>
          <a:prstGeom prst="rect">
            <a:avLst/>
          </a:prstGeom>
          <a:noFill/>
          <a:ln/>
        </p:spPr>
        <p:txBody>
          <a:bodyPr wrap="square" lIns="0" tIns="0" rIns="0" bIns="0" rtlCol="0" anchor="t"/>
          <a:lstStyle/>
          <a:p>
            <a:pPr indent="0" marL="0">
              <a:buNone/>
            </a:pPr>
            <a:r>
              <a:rPr lang="en-US" sz="1500" dirty="0">
                <a:solidFill>
                  <a:schemeClr val="tx1"/>
                </a:solidFill>
              </a:rPr>
              <a:t>The corrected invoice and the remaining receipt turn it green.</a:t>
            </a:r>
            <a:endParaRPr lang="en-US" sz="1500" dirty="0"/>
          </a:p>
        </p:txBody>
      </p:sp>
      <p:sp>
        <p:nvSpPr>
          <p:cNvPr id="23" name="Step card 5"/>
          <p:cNvSpPr/>
          <p:nvPr/>
        </p:nvSpPr>
        <p:spPr>
          <a:xfrm>
            <a:off x="4325112" y="3785616"/>
            <a:ext cx="3547872" cy="2212848"/>
          </a:xfrm>
          <a:prstGeom prst="roundRect">
            <a:avLst>
              <a:gd name="adj" fmla="val 4132"/>
            </a:avLst>
          </a:prstGeom>
          <a:solidFill>
            <a:srgbClr val="EEF4F1"/>
          </a:solidFill>
          <a:ln/>
        </p:spPr>
      </p:sp>
      <p:sp>
        <p:nvSpPr>
          <p:cNvPr id="24" name="Step 5"/>
          <p:cNvSpPr/>
          <p:nvPr/>
        </p:nvSpPr>
        <p:spPr>
          <a:xfrm>
            <a:off x="4526280" y="4005072"/>
            <a:ext cx="347472" cy="347472"/>
          </a:xfrm>
          <a:prstGeom prst="ellipse">
            <a:avLst/>
          </a:prstGeom>
          <a:solidFill>
            <a:srgbClr val="00675F"/>
          </a:solidFill>
          <a:ln/>
        </p:spPr>
      </p:sp>
      <p:sp>
        <p:nvSpPr>
          <p:cNvPr id="25" name="Step 5 number"/>
          <p:cNvSpPr txBox="1"/>
          <p:nvPr/>
        </p:nvSpPr>
        <p:spPr>
          <a:xfrm>
            <a:off x="4526280" y="4005072"/>
            <a:ext cx="347472" cy="347472"/>
          </a:xfrm>
          <a:prstGeom prst="rect">
            <a:avLst/>
          </a:prstGeom>
          <a:noFill/>
          <a:ln/>
        </p:spPr>
        <p:txBody>
          <a:bodyPr wrap="square" lIns="0" tIns="0" rIns="0" bIns="0" rtlCol="0" anchor="ctr"/>
          <a:lstStyle/>
          <a:p>
            <a:pPr algn="ctr" indent="0" marL="0">
              <a:buNone/>
            </a:pPr>
            <a:r>
              <a:rPr lang="en-US" sz="1400" b="1" dirty="0">
                <a:solidFill>
                  <a:srgbClr val="FFFFFF"/>
                </a:solidFill>
              </a:rPr>
              <a:t>5</a:t>
            </a:r>
            <a:endParaRPr lang="en-US" sz="1400" dirty="0"/>
          </a:p>
        </p:txBody>
      </p:sp>
      <p:sp>
        <p:nvSpPr>
          <p:cNvPr id="26" name="Step title 5"/>
          <p:cNvSpPr txBox="1"/>
          <p:nvPr/>
        </p:nvSpPr>
        <p:spPr>
          <a:xfrm>
            <a:off x="4983480" y="4023360"/>
            <a:ext cx="2788920" cy="365760"/>
          </a:xfrm>
          <a:prstGeom prst="rect">
            <a:avLst/>
          </a:prstGeom>
          <a:noFill/>
          <a:ln/>
        </p:spPr>
        <p:txBody>
          <a:bodyPr wrap="square" lIns="0" tIns="0" rIns="0" bIns="0" rtlCol="0" anchor="ctr"/>
          <a:lstStyle/>
          <a:p>
            <a:pPr indent="0" marL="0">
              <a:buNone/>
            </a:pPr>
            <a:r>
              <a:rPr lang="en-US" sz="1800" b="1" dirty="0">
                <a:solidFill>
                  <a:schemeClr val="tx1"/>
                </a:solidFill>
              </a:rPr>
              <a:t>A person decides</a:t>
            </a:r>
            <a:endParaRPr lang="en-US" sz="1800" dirty="0"/>
          </a:p>
        </p:txBody>
      </p:sp>
      <p:sp>
        <p:nvSpPr>
          <p:cNvPr id="27" name="Step body 5"/>
          <p:cNvSpPr txBox="1"/>
          <p:nvPr/>
        </p:nvSpPr>
        <p:spPr>
          <a:xfrm>
            <a:off x="4544568" y="4608576"/>
            <a:ext cx="3218688" cy="1234440"/>
          </a:xfrm>
          <a:prstGeom prst="rect">
            <a:avLst/>
          </a:prstGeom>
          <a:noFill/>
          <a:ln/>
        </p:spPr>
        <p:txBody>
          <a:bodyPr wrap="square" lIns="0" tIns="0" rIns="0" bIns="0" rtlCol="0" anchor="t"/>
          <a:lstStyle/>
          <a:p>
            <a:pPr indent="0" marL="0">
              <a:buNone/>
            </a:pPr>
            <a:r>
              <a:rPr lang="en-US" sz="1500" dirty="0">
                <a:solidFill>
                  <a:schemeClr val="tx1"/>
                </a:solidFill>
              </a:rPr>
              <a:t>A dispute, or an instruction in the file, stays with the reviewer.</a:t>
            </a:r>
            <a:endParaRPr lang="en-US" sz="1500" dirty="0"/>
          </a:p>
        </p:txBody>
      </p:sp>
      <p:sp>
        <p:nvSpPr>
          <p:cNvPr id="28" name="Step card 6"/>
          <p:cNvSpPr/>
          <p:nvPr/>
        </p:nvSpPr>
        <p:spPr>
          <a:xfrm>
            <a:off x="8147304" y="3785616"/>
            <a:ext cx="3547872" cy="2212848"/>
          </a:xfrm>
          <a:prstGeom prst="roundRect">
            <a:avLst>
              <a:gd name="adj" fmla="val 4132"/>
            </a:avLst>
          </a:prstGeom>
          <a:solidFill>
            <a:srgbClr val="EEF4F1"/>
          </a:solidFill>
          <a:ln/>
        </p:spPr>
      </p:sp>
      <p:sp>
        <p:nvSpPr>
          <p:cNvPr id="29" name="Step 6"/>
          <p:cNvSpPr/>
          <p:nvPr/>
        </p:nvSpPr>
        <p:spPr>
          <a:xfrm>
            <a:off x="8348472" y="4005072"/>
            <a:ext cx="347472" cy="347472"/>
          </a:xfrm>
          <a:prstGeom prst="ellipse">
            <a:avLst/>
          </a:prstGeom>
          <a:solidFill>
            <a:srgbClr val="00675F"/>
          </a:solidFill>
          <a:ln/>
        </p:spPr>
      </p:sp>
      <p:sp>
        <p:nvSpPr>
          <p:cNvPr id="30" name="Step 6 number"/>
          <p:cNvSpPr txBox="1"/>
          <p:nvPr/>
        </p:nvSpPr>
        <p:spPr>
          <a:xfrm>
            <a:off x="8348472" y="4005072"/>
            <a:ext cx="347472" cy="347472"/>
          </a:xfrm>
          <a:prstGeom prst="rect">
            <a:avLst/>
          </a:prstGeom>
          <a:noFill/>
          <a:ln/>
        </p:spPr>
        <p:txBody>
          <a:bodyPr wrap="square" lIns="0" tIns="0" rIns="0" bIns="0" rtlCol="0" anchor="ctr"/>
          <a:lstStyle/>
          <a:p>
            <a:pPr algn="ctr" indent="0" marL="0">
              <a:buNone/>
            </a:pPr>
            <a:r>
              <a:rPr lang="en-US" sz="1400" b="1" dirty="0">
                <a:solidFill>
                  <a:srgbClr val="FFFFFF"/>
                </a:solidFill>
              </a:rPr>
              <a:t>6</a:t>
            </a:r>
            <a:endParaRPr lang="en-US" sz="1400" dirty="0"/>
          </a:p>
        </p:txBody>
      </p:sp>
      <p:sp>
        <p:nvSpPr>
          <p:cNvPr id="31" name="Step title 6"/>
          <p:cNvSpPr txBox="1"/>
          <p:nvPr/>
        </p:nvSpPr>
        <p:spPr>
          <a:xfrm>
            <a:off x="8805672" y="4023360"/>
            <a:ext cx="2788920" cy="365760"/>
          </a:xfrm>
          <a:prstGeom prst="rect">
            <a:avLst/>
          </a:prstGeom>
          <a:noFill/>
          <a:ln/>
        </p:spPr>
        <p:txBody>
          <a:bodyPr wrap="square" lIns="0" tIns="0" rIns="0" bIns="0" rtlCol="0" anchor="ctr"/>
          <a:lstStyle/>
          <a:p>
            <a:pPr indent="0" marL="0">
              <a:buNone/>
            </a:pPr>
            <a:r>
              <a:rPr lang="en-US" sz="1800" b="1" dirty="0">
                <a:solidFill>
                  <a:schemeClr val="tx1"/>
                </a:solidFill>
              </a:rPr>
              <a:t>Two documents</a:t>
            </a:r>
            <a:endParaRPr lang="en-US" sz="1800" dirty="0"/>
          </a:p>
        </p:txBody>
      </p:sp>
      <p:sp>
        <p:nvSpPr>
          <p:cNvPr id="32" name="Step body 6"/>
          <p:cNvSpPr txBox="1"/>
          <p:nvPr/>
        </p:nvSpPr>
        <p:spPr>
          <a:xfrm>
            <a:off x="8366760" y="4608576"/>
            <a:ext cx="3218688" cy="1234440"/>
          </a:xfrm>
          <a:prstGeom prst="rect">
            <a:avLst/>
          </a:prstGeom>
          <a:noFill/>
          <a:ln/>
        </p:spPr>
        <p:txBody>
          <a:bodyPr wrap="square" lIns="0" tIns="0" rIns="0" bIns="0" rtlCol="0" anchor="t"/>
          <a:lstStyle/>
          <a:p>
            <a:pPr indent="0" marL="0">
              <a:buNone/>
            </a:pPr>
            <a:r>
              <a:rPr lang="en-US" sz="1500" dirty="0">
                <a:solidFill>
                  <a:schemeClr val="tx1"/>
                </a:solidFill>
              </a:rPr>
              <a:t>The vendor gets the client notice. The bank keeps the full summary.</a:t>
            </a:r>
            <a:endParaRPr lang="en-US" sz="1500" dirty="0"/>
          </a:p>
        </p:txBody>
      </p:sp>
      <p:sp>
        <p:nvSpPr>
          <p:cNvPr id="25" name="Slide Number Placeholder 0"/>
          <p:cNvSpPr>
            <a:spLocks noGrp="1"/>
          </p:cNvSpPr>
          <p:nvPr>
            <p:ph type="sldNum" sz="quarter" idx="4294967295"/>
          </p:nvPr>
        </p:nvSpPr>
        <p:spPr>
          <a:xfrm>
            <a:off x="11109960" y="6446520"/>
            <a:ext cx="548640" cy="256032"/>
          </a:xfrm>
          <a:prstGeom prst="rect">
            <a:avLst/>
          </a:prstGeom>
          <a:extLst>
            <a:ext uri="{C572A759-6A51-4108-AA02-DFA0A04FC94B}">
              <ma14:wrappingTextBoxFlag xmlns:ma14="http://schemas.microsoft.com/office/mac/drawingml/2011/main" val="0"/>
            </a:ext>
          </a:extLst>
        </p:spPr>
        <p:txBody>
          <a:bodyPr/>
          <a:lstStyle>
            <a:lvl1pPr>
              <a:defRPr sz="1200">
                <a:solidFill>
                  <a:srgbClr val="52656C"/>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02920" y="384048"/>
            <a:ext cx="11155680" cy="640080"/>
          </a:xfrm>
          <a:prstGeom prst="rect">
            <a:avLst/>
          </a:prstGeom>
          <a:noFill/>
          <a:ln/>
        </p:spPr>
        <p:txBody>
          <a:bodyPr wrap="square" lIns="0" tIns="0" rIns="0" bIns="0" rtlCol="0" anchor="ctr"/>
          <a:lstStyle/>
          <a:p>
            <a:pPr indent="0" marL="0">
              <a:buNone/>
            </a:pPr>
            <a:r>
              <a:rPr lang="en-US" sz="3600" b="1" dirty="0">
                <a:solidFill>
                  <a:schemeClr val="tx1"/>
                </a:solidFill>
              </a:rPr>
              <a:t>Built to run on Cloud Run</a:t>
            </a:r>
            <a:endParaRPr lang="en-US" sz="3600" dirty="0"/>
          </a:p>
        </p:txBody>
      </p:sp>
      <p:sp>
        <p:nvSpPr>
          <p:cNvPr id="3" name="Cloud Run"/>
          <p:cNvSpPr/>
          <p:nvPr/>
        </p:nvSpPr>
        <p:spPr>
          <a:xfrm>
            <a:off x="502920" y="1261872"/>
            <a:ext cx="6720840" cy="1060704"/>
          </a:xfrm>
          <a:prstGeom prst="roundRect">
            <a:avLst>
              <a:gd name="adj" fmla="val 8621"/>
            </a:avLst>
          </a:prstGeom>
          <a:solidFill>
            <a:srgbClr val="EEF4F1"/>
          </a:solidFill>
          <a:ln/>
        </p:spPr>
      </p:sp>
      <p:sp>
        <p:nvSpPr>
          <p:cNvPr id="4" name="Cloud Run heading"/>
          <p:cNvSpPr txBox="1"/>
          <p:nvPr/>
        </p:nvSpPr>
        <p:spPr>
          <a:xfrm>
            <a:off x="731520" y="1408176"/>
            <a:ext cx="6309360" cy="329184"/>
          </a:xfrm>
          <a:prstGeom prst="rect">
            <a:avLst/>
          </a:prstGeom>
          <a:noFill/>
          <a:ln/>
        </p:spPr>
        <p:txBody>
          <a:bodyPr wrap="square" lIns="0" tIns="0" rIns="0" bIns="0" rtlCol="0" anchor="t"/>
          <a:lstStyle/>
          <a:p>
            <a:pPr indent="0" marL="0">
              <a:buNone/>
            </a:pPr>
            <a:r>
              <a:rPr lang="en-US" sz="1800" b="1" dirty="0">
                <a:solidFill>
                  <a:schemeClr val="accent1"/>
                </a:solidFill>
              </a:rPr>
              <a:t>Cloud Run</a:t>
            </a:r>
            <a:endParaRPr lang="en-US" sz="1800" dirty="0"/>
          </a:p>
        </p:txBody>
      </p:sp>
      <p:sp>
        <p:nvSpPr>
          <p:cNvPr id="5" name="Cloud Run body"/>
          <p:cNvSpPr txBox="1"/>
          <p:nvPr/>
        </p:nvSpPr>
        <p:spPr>
          <a:xfrm>
            <a:off x="731520" y="1773936"/>
            <a:ext cx="6309360" cy="420624"/>
          </a:xfrm>
          <a:prstGeom prst="rect">
            <a:avLst/>
          </a:prstGeom>
          <a:noFill/>
          <a:ln/>
        </p:spPr>
        <p:txBody>
          <a:bodyPr wrap="square" lIns="0" tIns="0" rIns="0" bIns="0" rtlCol="0" anchor="t"/>
          <a:lstStyle/>
          <a:p>
            <a:pPr indent="0" marL="0">
              <a:buNone/>
            </a:pPr>
            <a:r>
              <a:rPr lang="en-US" sz="1500" dirty="0">
                <a:solidFill>
                  <a:schemeClr val="tx1"/>
                </a:solidFill>
              </a:rPr>
              <a:t>Web, API, and worker as separate services</a:t>
            </a:r>
            <a:endParaRPr lang="en-US" sz="1500" dirty="0"/>
          </a:p>
        </p:txBody>
      </p:sp>
      <p:sp>
        <p:nvSpPr>
          <p:cNvPr id="6" name="Records"/>
          <p:cNvSpPr/>
          <p:nvPr/>
        </p:nvSpPr>
        <p:spPr>
          <a:xfrm>
            <a:off x="502920" y="2468880"/>
            <a:ext cx="6720840" cy="1060704"/>
          </a:xfrm>
          <a:prstGeom prst="roundRect">
            <a:avLst>
              <a:gd name="adj" fmla="val 8621"/>
            </a:avLst>
          </a:prstGeom>
          <a:solidFill>
            <a:srgbClr val="EEF4F1"/>
          </a:solidFill>
          <a:ln/>
        </p:spPr>
      </p:sp>
      <p:sp>
        <p:nvSpPr>
          <p:cNvPr id="7" name="Records heading"/>
          <p:cNvSpPr txBox="1"/>
          <p:nvPr/>
        </p:nvSpPr>
        <p:spPr>
          <a:xfrm>
            <a:off x="731520" y="2615184"/>
            <a:ext cx="6309360" cy="329184"/>
          </a:xfrm>
          <a:prstGeom prst="rect">
            <a:avLst/>
          </a:prstGeom>
          <a:noFill/>
          <a:ln/>
        </p:spPr>
        <p:txBody>
          <a:bodyPr wrap="square" lIns="0" tIns="0" rIns="0" bIns="0" rtlCol="0" anchor="t"/>
          <a:lstStyle/>
          <a:p>
            <a:pPr indent="0" marL="0">
              <a:buNone/>
            </a:pPr>
            <a:r>
              <a:rPr lang="en-US" sz="1800" b="1" dirty="0">
                <a:solidFill>
                  <a:schemeClr val="accent1"/>
                </a:solidFill>
              </a:rPr>
              <a:t>Records</a:t>
            </a:r>
            <a:endParaRPr lang="en-US" sz="1800" dirty="0"/>
          </a:p>
        </p:txBody>
      </p:sp>
      <p:sp>
        <p:nvSpPr>
          <p:cNvPr id="8" name="Records body"/>
          <p:cNvSpPr txBox="1"/>
          <p:nvPr/>
        </p:nvSpPr>
        <p:spPr>
          <a:xfrm>
            <a:off x="731520" y="2980944"/>
            <a:ext cx="6309360" cy="420624"/>
          </a:xfrm>
          <a:prstGeom prst="rect">
            <a:avLst/>
          </a:prstGeom>
          <a:noFill/>
          <a:ln/>
        </p:spPr>
        <p:txBody>
          <a:bodyPr wrap="square" lIns="0" tIns="0" rIns="0" bIns="0" rtlCol="0" anchor="t"/>
          <a:lstStyle/>
          <a:p>
            <a:pPr indent="0" marL="0">
              <a:buNone/>
            </a:pPr>
            <a:r>
              <a:rPr lang="en-US" sz="1500" dirty="0">
                <a:solidFill>
                  <a:schemeClr val="tx1"/>
                </a:solidFill>
              </a:rPr>
              <a:t>Cloud SQL for the case. A private bucket for originals and summaries</a:t>
            </a:r>
            <a:endParaRPr lang="en-US" sz="1500" dirty="0"/>
          </a:p>
        </p:txBody>
      </p:sp>
      <p:sp>
        <p:nvSpPr>
          <p:cNvPr id="9" name="Delivery"/>
          <p:cNvSpPr/>
          <p:nvPr/>
        </p:nvSpPr>
        <p:spPr>
          <a:xfrm>
            <a:off x="502920" y="3675888"/>
            <a:ext cx="6720840" cy="1060704"/>
          </a:xfrm>
          <a:prstGeom prst="roundRect">
            <a:avLst>
              <a:gd name="adj" fmla="val 8621"/>
            </a:avLst>
          </a:prstGeom>
          <a:solidFill>
            <a:srgbClr val="EEF4F1"/>
          </a:solidFill>
          <a:ln/>
        </p:spPr>
      </p:sp>
      <p:sp>
        <p:nvSpPr>
          <p:cNvPr id="10" name="Delivery heading"/>
          <p:cNvSpPr txBox="1"/>
          <p:nvPr/>
        </p:nvSpPr>
        <p:spPr>
          <a:xfrm>
            <a:off x="731520" y="3822192"/>
            <a:ext cx="6309360" cy="329184"/>
          </a:xfrm>
          <a:prstGeom prst="rect">
            <a:avLst/>
          </a:prstGeom>
          <a:noFill/>
          <a:ln/>
        </p:spPr>
        <p:txBody>
          <a:bodyPr wrap="square" lIns="0" tIns="0" rIns="0" bIns="0" rtlCol="0" anchor="t"/>
          <a:lstStyle/>
          <a:p>
            <a:pPr indent="0" marL="0">
              <a:buNone/>
            </a:pPr>
            <a:r>
              <a:rPr lang="en-US" sz="1800" b="1" dirty="0">
                <a:solidFill>
                  <a:schemeClr val="accent1"/>
                </a:solidFill>
              </a:rPr>
              <a:t>Delivery</a:t>
            </a:r>
            <a:endParaRPr lang="en-US" sz="1800" dirty="0"/>
          </a:p>
        </p:txBody>
      </p:sp>
      <p:sp>
        <p:nvSpPr>
          <p:cNvPr id="11" name="Delivery body"/>
          <p:cNvSpPr txBox="1"/>
          <p:nvPr/>
        </p:nvSpPr>
        <p:spPr>
          <a:xfrm>
            <a:off x="731520" y="4187952"/>
            <a:ext cx="6309360" cy="420624"/>
          </a:xfrm>
          <a:prstGeom prst="rect">
            <a:avLst/>
          </a:prstGeom>
          <a:noFill/>
          <a:ln/>
        </p:spPr>
        <p:txBody>
          <a:bodyPr wrap="square" lIns="0" tIns="0" rIns="0" bIns="0" rtlCol="0" anchor="t"/>
          <a:lstStyle/>
          <a:p>
            <a:pPr indent="0" marL="0">
              <a:buNone/>
            </a:pPr>
            <a:r>
              <a:rPr lang="en-US" sz="1500" dirty="0">
                <a:solidFill>
                  <a:schemeClr val="tx1"/>
                </a:solidFill>
              </a:rPr>
              <a:t>Cloud Tasks runs the worker. Cloud Scheduler reconciles</a:t>
            </a:r>
            <a:endParaRPr lang="en-US" sz="1500" dirty="0"/>
          </a:p>
        </p:txBody>
      </p:sp>
      <p:sp>
        <p:nvSpPr>
          <p:cNvPr id="12" name="Model"/>
          <p:cNvSpPr/>
          <p:nvPr/>
        </p:nvSpPr>
        <p:spPr>
          <a:xfrm>
            <a:off x="502920" y="4882896"/>
            <a:ext cx="6720840" cy="1060704"/>
          </a:xfrm>
          <a:prstGeom prst="roundRect">
            <a:avLst>
              <a:gd name="adj" fmla="val 8621"/>
            </a:avLst>
          </a:prstGeom>
          <a:solidFill>
            <a:srgbClr val="EEF4F1"/>
          </a:solidFill>
          <a:ln/>
        </p:spPr>
      </p:sp>
      <p:sp>
        <p:nvSpPr>
          <p:cNvPr id="13" name="Model heading"/>
          <p:cNvSpPr txBox="1"/>
          <p:nvPr/>
        </p:nvSpPr>
        <p:spPr>
          <a:xfrm>
            <a:off x="731520" y="5029200"/>
            <a:ext cx="6309360" cy="329184"/>
          </a:xfrm>
          <a:prstGeom prst="rect">
            <a:avLst/>
          </a:prstGeom>
          <a:noFill/>
          <a:ln/>
        </p:spPr>
        <p:txBody>
          <a:bodyPr wrap="square" lIns="0" tIns="0" rIns="0" bIns="0" rtlCol="0" anchor="t"/>
          <a:lstStyle/>
          <a:p>
            <a:pPr indent="0" marL="0">
              <a:buNone/>
            </a:pPr>
            <a:r>
              <a:rPr lang="en-US" sz="1800" b="1" dirty="0">
                <a:solidFill>
                  <a:schemeClr val="accent1"/>
                </a:solidFill>
              </a:rPr>
              <a:t>Model</a:t>
            </a:r>
            <a:endParaRPr lang="en-US" sz="1800" dirty="0"/>
          </a:p>
        </p:txBody>
      </p:sp>
      <p:sp>
        <p:nvSpPr>
          <p:cNvPr id="14" name="Model body"/>
          <p:cNvSpPr txBox="1"/>
          <p:nvPr/>
        </p:nvSpPr>
        <p:spPr>
          <a:xfrm>
            <a:off x="731520" y="5394960"/>
            <a:ext cx="6309360" cy="420624"/>
          </a:xfrm>
          <a:prstGeom prst="rect">
            <a:avLst/>
          </a:prstGeom>
          <a:noFill/>
          <a:ln/>
        </p:spPr>
        <p:txBody>
          <a:bodyPr wrap="square" lIns="0" tIns="0" rIns="0" bIns="0" rtlCol="0" anchor="t"/>
          <a:lstStyle/>
          <a:p>
            <a:pPr indent="0" marL="0">
              <a:buNone/>
            </a:pPr>
            <a:r>
              <a:rPr lang="en-US" sz="1500" dirty="0">
                <a:solidFill>
                  <a:schemeClr val="tx1"/>
                </a:solidFill>
              </a:rPr>
              <a:t>Vertex AI Gemini, with Google ADK for the agent</a:t>
            </a:r>
            <a:endParaRPr lang="en-US" sz="1500" dirty="0"/>
          </a:p>
        </p:txBody>
      </p:sp>
      <p:sp>
        <p:nvSpPr>
          <p:cNvPr id="15" name="Bounded"/>
          <p:cNvSpPr/>
          <p:nvPr/>
        </p:nvSpPr>
        <p:spPr>
          <a:xfrm>
            <a:off x="7406640" y="1261872"/>
            <a:ext cx="4251960" cy="2212848"/>
          </a:xfrm>
          <a:prstGeom prst="roundRect">
            <a:avLst>
              <a:gd name="adj" fmla="val 4132"/>
            </a:avLst>
          </a:prstGeom>
          <a:solidFill>
            <a:srgbClr val="E6F4EF"/>
          </a:solidFill>
          <a:ln/>
        </p:spPr>
      </p:sp>
      <p:sp>
        <p:nvSpPr>
          <p:cNvPr id="16" name="Bounded heading"/>
          <p:cNvSpPr txBox="1"/>
          <p:nvPr/>
        </p:nvSpPr>
        <p:spPr>
          <a:xfrm>
            <a:off x="7607808" y="1426464"/>
            <a:ext cx="3886200" cy="329184"/>
          </a:xfrm>
          <a:prstGeom prst="rect">
            <a:avLst/>
          </a:prstGeom>
          <a:noFill/>
          <a:ln/>
        </p:spPr>
        <p:txBody>
          <a:bodyPr wrap="square" lIns="0" tIns="0" rIns="0" bIns="0" rtlCol="0" anchor="t"/>
          <a:lstStyle/>
          <a:p>
            <a:pPr indent="0" marL="0">
              <a:buNone/>
            </a:pPr>
            <a:r>
              <a:rPr lang="en-US" sz="1800" b="1" dirty="0">
                <a:solidFill>
                  <a:schemeClr val="accent1"/>
                </a:solidFill>
              </a:rPr>
              <a:t>Already bounded</a:t>
            </a:r>
            <a:endParaRPr lang="en-US" sz="1800" dirty="0"/>
          </a:p>
        </p:txBody>
      </p:sp>
      <p:sp>
        <p:nvSpPr>
          <p:cNvPr id="17" name="Bounded body"/>
          <p:cNvSpPr txBox="1"/>
          <p:nvPr/>
        </p:nvSpPr>
        <p:spPr>
          <a:xfrm>
            <a:off x="7607808" y="1901952"/>
            <a:ext cx="3840480" cy="1417320"/>
          </a:xfrm>
          <a:prstGeom prst="rect">
            <a:avLst/>
          </a:prstGeom>
          <a:noFill/>
          <a:ln/>
        </p:spPr>
        <p:txBody>
          <a:bodyPr wrap="square" lIns="0" tIns="0" rIns="0" bIns="0" rtlCol="0" anchor="t"/>
          <a:lstStyle/>
          <a:p>
            <a:pPr indent="0" marL="0">
              <a:buNone/>
            </a:pPr>
            <a:r>
              <a:rPr lang="en-US" sz="1500" dirty="0">
                <a:solidFill>
                  <a:schemeClr val="tx1"/>
                </a:solidFill>
              </a:rPr>
              <a:t>Model work leaves the browser request. Originals are written once. Each case reserves cost and caps wakeups.</a:t>
            </a:r>
            <a:endParaRPr lang="en-US" sz="1500" dirty="0"/>
          </a:p>
        </p:txBody>
      </p:sp>
      <p:sp>
        <p:nvSpPr>
          <p:cNvPr id="18" name="Prototype scope"/>
          <p:cNvSpPr/>
          <p:nvPr/>
        </p:nvSpPr>
        <p:spPr>
          <a:xfrm>
            <a:off x="7406640" y="3767328"/>
            <a:ext cx="4251960" cy="2176272"/>
          </a:xfrm>
          <a:prstGeom prst="roundRect">
            <a:avLst>
              <a:gd name="adj" fmla="val 4202"/>
            </a:avLst>
          </a:prstGeom>
          <a:solidFill>
            <a:srgbClr val="EEF4F1"/>
          </a:solidFill>
          <a:ln/>
        </p:spPr>
      </p:sp>
      <p:sp>
        <p:nvSpPr>
          <p:cNvPr id="19" name="Scope heading"/>
          <p:cNvSpPr txBox="1"/>
          <p:nvPr/>
        </p:nvSpPr>
        <p:spPr>
          <a:xfrm>
            <a:off x="7607808" y="3913632"/>
            <a:ext cx="3886200" cy="365760"/>
          </a:xfrm>
          <a:prstGeom prst="rect">
            <a:avLst/>
          </a:prstGeom>
          <a:noFill/>
          <a:ln/>
        </p:spPr>
        <p:txBody>
          <a:bodyPr wrap="square" lIns="0" tIns="0" rIns="0" bIns="0" rtlCol="0" anchor="t"/>
          <a:lstStyle/>
          <a:p>
            <a:pPr indent="0" marL="0">
              <a:buNone/>
            </a:pPr>
            <a:r>
              <a:rPr lang="en-US" sz="1800" b="1" dirty="0">
                <a:solidFill>
                  <a:schemeClr val="tx1"/>
                </a:solidFill>
              </a:rPr>
              <a:t>Prototype, on purpose</a:t>
            </a:r>
            <a:endParaRPr lang="en-US" sz="1800" dirty="0"/>
          </a:p>
        </p:txBody>
      </p:sp>
      <p:sp>
        <p:nvSpPr>
          <p:cNvPr id="20" name="Scope body"/>
          <p:cNvSpPr txBox="1"/>
          <p:nvPr/>
        </p:nvSpPr>
        <p:spPr>
          <a:xfrm>
            <a:off x="7607808" y="4407408"/>
            <a:ext cx="3840480" cy="1417320"/>
          </a:xfrm>
          <a:prstGeom prst="rect">
            <a:avLst/>
          </a:prstGeom>
          <a:noFill/>
          <a:ln/>
        </p:spPr>
        <p:txBody>
          <a:bodyPr wrap="square" lIns="0" tIns="0" rIns="0" bIns="0" rtlCol="0" anchor="t"/>
          <a:lstStyle/>
          <a:p>
            <a:pPr indent="0" marL="0">
              <a:buNone/>
            </a:pPr>
            <a:r>
              <a:rPr lang="en-US" sz="1500" dirty="0">
                <a:solidFill>
                  <a:schemeClr val="tx1"/>
                </a:solidFill>
              </a:rPr>
              <a:t>PDFs, scans, images, DOCX, XLSX, CSV and text. Multiple items, currencies and taxes. Hosted demo access uses a code.</a:t>
            </a:r>
            <a:endParaRPr lang="en-US" sz="1500" dirty="0"/>
          </a:p>
        </p:txBody>
      </p:sp>
      <p:sp>
        <p:nvSpPr>
          <p:cNvPr id="25" name="Slide Number Placeholder 0"/>
          <p:cNvSpPr>
            <a:spLocks noGrp="1"/>
          </p:cNvSpPr>
          <p:nvPr>
            <p:ph type="sldNum" sz="quarter" idx="4294967295"/>
          </p:nvPr>
        </p:nvSpPr>
        <p:spPr>
          <a:xfrm>
            <a:off x="11109960" y="6446520"/>
            <a:ext cx="548640" cy="256032"/>
          </a:xfrm>
          <a:prstGeom prst="rect">
            <a:avLst/>
          </a:prstGeom>
          <a:extLst>
            <a:ext uri="{C572A759-6A51-4108-AA02-DFA0A04FC94B}">
              <ma14:wrappingTextBoxFlag xmlns:ma14="http://schemas.microsoft.com/office/mac/drawingml/2011/main" val="0"/>
            </a:ext>
          </a:extLst>
        </p:spPr>
        <p:txBody>
          <a:bodyPr/>
          <a:lstStyle>
            <a:lvl1pPr>
              <a:defRPr sz="1200">
                <a:solidFill>
                  <a:srgbClr val="52656C"/>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02920" y="384048"/>
            <a:ext cx="11155680" cy="640080"/>
          </a:xfrm>
          <a:prstGeom prst="rect">
            <a:avLst/>
          </a:prstGeom>
          <a:noFill/>
          <a:ln/>
        </p:spPr>
        <p:txBody>
          <a:bodyPr wrap="square" lIns="0" tIns="0" rIns="0" bIns="0" rtlCol="0" anchor="ctr"/>
          <a:lstStyle/>
          <a:p>
            <a:pPr indent="0" marL="0">
              <a:buNone/>
            </a:pPr>
            <a:r>
              <a:rPr lang="en-US" sz="3600" b="1" dirty="0">
                <a:solidFill>
                  <a:schemeClr val="tx1"/>
                </a:solidFill>
              </a:rPr>
              <a:t>Limits, stated up front</a:t>
            </a:r>
            <a:endParaRPr lang="en-US" sz="3600" dirty="0"/>
          </a:p>
        </p:txBody>
      </p:sp>
      <p:sp>
        <p:nvSpPr>
          <p:cNvPr id="3" name="Financing"/>
          <p:cNvSpPr/>
          <p:nvPr/>
        </p:nvSpPr>
        <p:spPr>
          <a:xfrm>
            <a:off x="502920" y="1280160"/>
            <a:ext cx="5623560" cy="1444752"/>
          </a:xfrm>
          <a:prstGeom prst="roundRect">
            <a:avLst>
              <a:gd name="adj" fmla="val 6329"/>
            </a:avLst>
          </a:prstGeom>
          <a:solidFill>
            <a:srgbClr val="EEF4F1"/>
          </a:solidFill>
          <a:ln/>
        </p:spPr>
      </p:sp>
      <p:sp>
        <p:nvSpPr>
          <p:cNvPr id="4" name="Financing heading"/>
          <p:cNvSpPr txBox="1"/>
          <p:nvPr/>
        </p:nvSpPr>
        <p:spPr>
          <a:xfrm>
            <a:off x="758952" y="1481328"/>
            <a:ext cx="5120640" cy="365760"/>
          </a:xfrm>
          <a:prstGeom prst="rect">
            <a:avLst/>
          </a:prstGeom>
          <a:noFill/>
          <a:ln/>
        </p:spPr>
        <p:txBody>
          <a:bodyPr wrap="square" lIns="0" tIns="0" rIns="0" bIns="0" rtlCol="0" anchor="t"/>
          <a:lstStyle/>
          <a:p>
            <a:pPr indent="0" marL="0">
              <a:buNone/>
            </a:pPr>
            <a:r>
              <a:rPr lang="en-US" sz="2000" b="1" dirty="0">
                <a:solidFill>
                  <a:schemeClr val="tx1"/>
                </a:solidFill>
              </a:rPr>
              <a:t>Financing</a:t>
            </a:r>
            <a:endParaRPr lang="en-US" sz="2000" dirty="0"/>
          </a:p>
        </p:txBody>
      </p:sp>
      <p:sp>
        <p:nvSpPr>
          <p:cNvPr id="5" name="Financing body"/>
          <p:cNvSpPr txBox="1"/>
          <p:nvPr/>
        </p:nvSpPr>
        <p:spPr>
          <a:xfrm>
            <a:off x="758952" y="1965960"/>
            <a:ext cx="5120640" cy="640080"/>
          </a:xfrm>
          <a:prstGeom prst="rect">
            <a:avLst/>
          </a:prstGeom>
          <a:noFill/>
          <a:ln/>
        </p:spPr>
        <p:txBody>
          <a:bodyPr wrap="square" lIns="0" tIns="0" rIns="0" bIns="0" rtlCol="0" anchor="t"/>
          <a:lstStyle/>
          <a:p>
            <a:pPr indent="0" marL="0">
              <a:buNone/>
            </a:pPr>
            <a:r>
              <a:rPr lang="en-US" sz="1600" dirty="0">
                <a:solidFill>
                  <a:schemeClr val="tx1"/>
                </a:solidFill>
              </a:rPr>
              <a:t>Does not approve, price, limit, or pay.</a:t>
            </a:r>
            <a:endParaRPr lang="en-US" sz="1600" dirty="0"/>
          </a:p>
        </p:txBody>
      </p:sp>
      <p:sp>
        <p:nvSpPr>
          <p:cNvPr id="6" name="Screening"/>
          <p:cNvSpPr/>
          <p:nvPr/>
        </p:nvSpPr>
        <p:spPr>
          <a:xfrm>
            <a:off x="6355080" y="1280160"/>
            <a:ext cx="5623560" cy="1444752"/>
          </a:xfrm>
          <a:prstGeom prst="roundRect">
            <a:avLst>
              <a:gd name="adj" fmla="val 6329"/>
            </a:avLst>
          </a:prstGeom>
          <a:solidFill>
            <a:srgbClr val="EEF4F1"/>
          </a:solidFill>
          <a:ln/>
        </p:spPr>
      </p:sp>
      <p:sp>
        <p:nvSpPr>
          <p:cNvPr id="7" name="Screening heading"/>
          <p:cNvSpPr txBox="1"/>
          <p:nvPr/>
        </p:nvSpPr>
        <p:spPr>
          <a:xfrm>
            <a:off x="6611112" y="1481328"/>
            <a:ext cx="5120640" cy="365760"/>
          </a:xfrm>
          <a:prstGeom prst="rect">
            <a:avLst/>
          </a:prstGeom>
          <a:noFill/>
          <a:ln/>
        </p:spPr>
        <p:txBody>
          <a:bodyPr wrap="square" lIns="0" tIns="0" rIns="0" bIns="0" rtlCol="0" anchor="t"/>
          <a:lstStyle/>
          <a:p>
            <a:pPr indent="0" marL="0">
              <a:buNone/>
            </a:pPr>
            <a:r>
              <a:rPr lang="en-US" sz="2000" b="1" dirty="0">
                <a:solidFill>
                  <a:schemeClr val="tx1"/>
                </a:solidFill>
              </a:rPr>
              <a:t>Screening</a:t>
            </a:r>
            <a:endParaRPr lang="en-US" sz="2000" dirty="0"/>
          </a:p>
        </p:txBody>
      </p:sp>
      <p:sp>
        <p:nvSpPr>
          <p:cNvPr id="8" name="Screening body"/>
          <p:cNvSpPr txBox="1"/>
          <p:nvPr/>
        </p:nvSpPr>
        <p:spPr>
          <a:xfrm>
            <a:off x="6611112" y="1965960"/>
            <a:ext cx="5120640" cy="640080"/>
          </a:xfrm>
          <a:prstGeom prst="rect">
            <a:avLst/>
          </a:prstGeom>
          <a:noFill/>
          <a:ln/>
        </p:spPr>
        <p:txBody>
          <a:bodyPr wrap="square" lIns="0" tIns="0" rIns="0" bIns="0" rtlCol="0" anchor="t"/>
          <a:lstStyle/>
          <a:p>
            <a:pPr indent="0" marL="0">
              <a:buNone/>
            </a:pPr>
            <a:r>
              <a:rPr lang="en-US" sz="1600" dirty="0">
                <a:solidFill>
                  <a:schemeClr val="tx1"/>
                </a:solidFill>
              </a:rPr>
              <a:t>Does not run sanctions, PEP, or adverse-media checks as a control.</a:t>
            </a:r>
            <a:endParaRPr lang="en-US" sz="1600" dirty="0"/>
          </a:p>
        </p:txBody>
      </p:sp>
      <p:sp>
        <p:nvSpPr>
          <p:cNvPr id="9" name="Authenticity"/>
          <p:cNvSpPr/>
          <p:nvPr/>
        </p:nvSpPr>
        <p:spPr>
          <a:xfrm>
            <a:off x="502920" y="2907792"/>
            <a:ext cx="5623560" cy="1444752"/>
          </a:xfrm>
          <a:prstGeom prst="roundRect">
            <a:avLst>
              <a:gd name="adj" fmla="val 6329"/>
            </a:avLst>
          </a:prstGeom>
          <a:solidFill>
            <a:srgbClr val="EEF4F1"/>
          </a:solidFill>
          <a:ln/>
        </p:spPr>
      </p:sp>
      <p:sp>
        <p:nvSpPr>
          <p:cNvPr id="10" name="Authenticity heading"/>
          <p:cNvSpPr txBox="1"/>
          <p:nvPr/>
        </p:nvSpPr>
        <p:spPr>
          <a:xfrm>
            <a:off x="758952" y="3108960"/>
            <a:ext cx="5120640" cy="365760"/>
          </a:xfrm>
          <a:prstGeom prst="rect">
            <a:avLst/>
          </a:prstGeom>
          <a:noFill/>
          <a:ln/>
        </p:spPr>
        <p:txBody>
          <a:bodyPr wrap="square" lIns="0" tIns="0" rIns="0" bIns="0" rtlCol="0" anchor="t"/>
          <a:lstStyle/>
          <a:p>
            <a:pPr indent="0" marL="0">
              <a:buNone/>
            </a:pPr>
            <a:r>
              <a:rPr lang="en-US" sz="2000" b="1" dirty="0">
                <a:solidFill>
                  <a:schemeClr val="tx1"/>
                </a:solidFill>
              </a:rPr>
              <a:t>Authenticity</a:t>
            </a:r>
            <a:endParaRPr lang="en-US" sz="2000" dirty="0"/>
          </a:p>
        </p:txBody>
      </p:sp>
      <p:sp>
        <p:nvSpPr>
          <p:cNvPr id="11" name="Authenticity body"/>
          <p:cNvSpPr txBox="1"/>
          <p:nvPr/>
        </p:nvSpPr>
        <p:spPr>
          <a:xfrm>
            <a:off x="758952" y="3593592"/>
            <a:ext cx="5120640" cy="640080"/>
          </a:xfrm>
          <a:prstGeom prst="rect">
            <a:avLst/>
          </a:prstGeom>
          <a:noFill/>
          <a:ln/>
        </p:spPr>
        <p:txBody>
          <a:bodyPr wrap="square" lIns="0" tIns="0" rIns="0" bIns="0" rtlCol="0" anchor="t"/>
          <a:lstStyle/>
          <a:p>
            <a:pPr indent="0" marL="0">
              <a:buNone/>
            </a:pPr>
            <a:r>
              <a:rPr lang="en-US" sz="1600" dirty="0">
                <a:solidFill>
                  <a:schemeClr val="tx1"/>
                </a:solidFill>
              </a:rPr>
              <a:t>Does not prove a document is genuine, or verify legal identity.</a:t>
            </a:r>
            <a:endParaRPr lang="en-US" sz="1600" dirty="0"/>
          </a:p>
        </p:txBody>
      </p:sp>
      <p:sp>
        <p:nvSpPr>
          <p:cNvPr id="12" name="Credit"/>
          <p:cNvSpPr/>
          <p:nvPr/>
        </p:nvSpPr>
        <p:spPr>
          <a:xfrm>
            <a:off x="6355080" y="2907792"/>
            <a:ext cx="5623560" cy="1444752"/>
          </a:xfrm>
          <a:prstGeom prst="roundRect">
            <a:avLst>
              <a:gd name="adj" fmla="val 6329"/>
            </a:avLst>
          </a:prstGeom>
          <a:solidFill>
            <a:srgbClr val="EEF4F1"/>
          </a:solidFill>
          <a:ln/>
        </p:spPr>
      </p:sp>
      <p:sp>
        <p:nvSpPr>
          <p:cNvPr id="13" name="Credit heading"/>
          <p:cNvSpPr txBox="1"/>
          <p:nvPr/>
        </p:nvSpPr>
        <p:spPr>
          <a:xfrm>
            <a:off x="6611112" y="3108960"/>
            <a:ext cx="5120640" cy="365760"/>
          </a:xfrm>
          <a:prstGeom prst="rect">
            <a:avLst/>
          </a:prstGeom>
          <a:noFill/>
          <a:ln/>
        </p:spPr>
        <p:txBody>
          <a:bodyPr wrap="square" lIns="0" tIns="0" rIns="0" bIns="0" rtlCol="0" anchor="t"/>
          <a:lstStyle/>
          <a:p>
            <a:pPr indent="0" marL="0">
              <a:buNone/>
            </a:pPr>
            <a:r>
              <a:rPr lang="en-US" sz="2000" b="1" dirty="0">
                <a:solidFill>
                  <a:schemeClr val="tx1"/>
                </a:solidFill>
              </a:rPr>
              <a:t>Credit</a:t>
            </a:r>
            <a:endParaRPr lang="en-US" sz="2000" dirty="0"/>
          </a:p>
        </p:txBody>
      </p:sp>
      <p:sp>
        <p:nvSpPr>
          <p:cNvPr id="14" name="Credit body"/>
          <p:cNvSpPr txBox="1"/>
          <p:nvPr/>
        </p:nvSpPr>
        <p:spPr>
          <a:xfrm>
            <a:off x="6611112" y="3593592"/>
            <a:ext cx="5120640" cy="640080"/>
          </a:xfrm>
          <a:prstGeom prst="rect">
            <a:avLst/>
          </a:prstGeom>
          <a:noFill/>
          <a:ln/>
        </p:spPr>
        <p:txBody>
          <a:bodyPr wrap="square" lIns="0" tIns="0" rIns="0" bIns="0" rtlCol="0" anchor="t"/>
          <a:lstStyle/>
          <a:p>
            <a:pPr indent="0" marL="0">
              <a:buNone/>
            </a:pPr>
            <a:r>
              <a:rPr lang="en-US" sz="1600" dirty="0">
                <a:solidFill>
                  <a:schemeClr val="tx1"/>
                </a:solidFill>
              </a:rPr>
              <a:t>Does not score a company, or watch it over time.</a:t>
            </a:r>
            <a:endParaRPr lang="en-US" sz="1600" dirty="0"/>
          </a:p>
        </p:txBody>
      </p:sp>
      <p:sp>
        <p:nvSpPr>
          <p:cNvPr id="15" name="Evidence"/>
          <p:cNvSpPr/>
          <p:nvPr/>
        </p:nvSpPr>
        <p:spPr>
          <a:xfrm>
            <a:off x="502920" y="4709160"/>
            <a:ext cx="11155680" cy="1417320"/>
          </a:xfrm>
          <a:prstGeom prst="roundRect">
            <a:avLst>
              <a:gd name="adj" fmla="val 6452"/>
            </a:avLst>
          </a:prstGeom>
          <a:solidFill>
            <a:srgbClr val="E6F4EF"/>
          </a:solidFill>
          <a:ln/>
        </p:spPr>
      </p:sp>
      <p:sp>
        <p:nvSpPr>
          <p:cNvPr id="16" name="Evidence heading"/>
          <p:cNvSpPr txBox="1"/>
          <p:nvPr/>
        </p:nvSpPr>
        <p:spPr>
          <a:xfrm>
            <a:off x="749808" y="4864608"/>
            <a:ext cx="10607040" cy="310896"/>
          </a:xfrm>
          <a:prstGeom prst="rect">
            <a:avLst/>
          </a:prstGeom>
          <a:noFill/>
          <a:ln/>
        </p:spPr>
        <p:txBody>
          <a:bodyPr wrap="square" lIns="0" tIns="0" rIns="0" bIns="0" rtlCol="0" anchor="t"/>
          <a:lstStyle/>
          <a:p>
            <a:pPr indent="0" marL="0">
              <a:buNone/>
            </a:pPr>
            <a:r>
              <a:rPr lang="en-US" sz="1600" b="1" dirty="0">
                <a:solidFill>
                  <a:schemeClr val="accent1"/>
                </a:solidFill>
              </a:rPr>
              <a:t>Evidence on this build</a:t>
            </a:r>
            <a:endParaRPr lang="en-US" sz="1600" dirty="0"/>
          </a:p>
        </p:txBody>
      </p:sp>
      <p:sp>
        <p:nvSpPr>
          <p:cNvPr id="17" name="Evidence body"/>
          <p:cNvSpPr txBox="1"/>
          <p:nvPr/>
        </p:nvSpPr>
        <p:spPr>
          <a:xfrm>
            <a:off x="749808" y="5303520"/>
            <a:ext cx="10607040" cy="713232"/>
          </a:xfrm>
          <a:prstGeom prst="rect">
            <a:avLst/>
          </a:prstGeom>
          <a:noFill/>
          <a:ln/>
        </p:spPr>
        <p:txBody>
          <a:bodyPr wrap="square" lIns="0" tIns="0" rIns="0" bIns="0" rtlCol="0" anchor="t"/>
          <a:lstStyle/>
          <a:p>
            <a:pPr indent="0" marL="0">
              <a:buNone/>
            </a:pPr>
            <a:r>
              <a:rPr lang="en-US" sz="1500" dirty="0">
                <a:solidFill>
                  <a:schemeClr val="tx1"/>
                </a:solidFill>
              </a:rPr>
              <a:t>60 constructed cases, 12 families, run on 12 October 2026. Zero incorrect completions on the agent and on the fixed-rule baseline. Staff minutes in that report are a time model, not a measured saving.</a:t>
            </a:r>
            <a:endParaRPr lang="en-US" sz="1500" dirty="0"/>
          </a:p>
        </p:txBody>
      </p:sp>
      <p:sp>
        <p:nvSpPr>
          <p:cNvPr id="25" name="Slide Number Placeholder 0"/>
          <p:cNvSpPr>
            <a:spLocks noGrp="1"/>
          </p:cNvSpPr>
          <p:nvPr>
            <p:ph type="sldNum" sz="quarter" idx="4294967295"/>
          </p:nvPr>
        </p:nvSpPr>
        <p:spPr>
          <a:xfrm>
            <a:off x="11109960" y="6446520"/>
            <a:ext cx="548640" cy="256032"/>
          </a:xfrm>
          <a:prstGeom prst="rect">
            <a:avLst/>
          </a:prstGeom>
          <a:extLst>
            <a:ext uri="{C572A759-6A51-4108-AA02-DFA0A04FC94B}">
              <ma14:wrappingTextBoxFlag xmlns:ma14="http://schemas.microsoft.com/office/mac/drawingml/2011/main" val="0"/>
            </a:ext>
          </a:extLst>
        </p:spPr>
        <p:txBody>
          <a:bodyPr/>
          <a:lstStyle>
            <a:lvl1pPr>
              <a:defRPr sz="1200">
                <a:solidFill>
                  <a:srgbClr val="52656C"/>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Close title"/>
          <p:cNvSpPr txBox="1"/>
          <p:nvPr/>
        </p:nvSpPr>
        <p:spPr>
          <a:xfrm>
            <a:off x="640080" y="502920"/>
            <a:ext cx="10972800" cy="640080"/>
          </a:xfrm>
          <a:prstGeom prst="rect">
            <a:avLst/>
          </a:prstGeom>
          <a:noFill/>
          <a:ln/>
        </p:spPr>
        <p:txBody>
          <a:bodyPr wrap="square" lIns="0" tIns="0" rIns="0" bIns="0" rtlCol="0" anchor="t"/>
          <a:lstStyle/>
          <a:p>
            <a:pPr indent="0" marL="0">
              <a:buNone/>
            </a:pPr>
            <a:r>
              <a:rPr lang="en-US" sz="3600" b="1" dirty="0">
                <a:solidFill>
                  <a:srgbClr val="FFFFFF"/>
                </a:solidFill>
              </a:rPr>
              <a:t>Open the prototype</a:t>
            </a:r>
            <a:endParaRPr lang="en-US" sz="3600" dirty="0"/>
          </a:p>
        </p:txBody>
      </p:sp>
      <p:sp>
        <p:nvSpPr>
          <p:cNvPr id="3" name="URL card"/>
          <p:cNvSpPr/>
          <p:nvPr/>
        </p:nvSpPr>
        <p:spPr>
          <a:xfrm>
            <a:off x="640080" y="1371600"/>
            <a:ext cx="10881360" cy="1554480"/>
          </a:xfrm>
          <a:prstGeom prst="roundRect">
            <a:avLst>
              <a:gd name="adj" fmla="val 5882"/>
            </a:avLst>
          </a:prstGeom>
          <a:solidFill>
            <a:srgbClr val="FFFFFF"/>
          </a:solidFill>
          <a:ln/>
        </p:spPr>
      </p:sp>
      <p:sp>
        <p:nvSpPr>
          <p:cNvPr id="4" name="URL label"/>
          <p:cNvSpPr txBox="1"/>
          <p:nvPr/>
        </p:nvSpPr>
        <p:spPr>
          <a:xfrm>
            <a:off x="896112" y="1536192"/>
            <a:ext cx="10332720" cy="274320"/>
          </a:xfrm>
          <a:prstGeom prst="rect">
            <a:avLst/>
          </a:prstGeom>
          <a:noFill/>
          <a:ln/>
        </p:spPr>
        <p:txBody>
          <a:bodyPr wrap="square" lIns="0" tIns="0" rIns="0" bIns="0" rtlCol="0" anchor="t"/>
          <a:lstStyle/>
          <a:p>
            <a:pPr indent="0" marL="0">
              <a:buNone/>
            </a:pPr>
            <a:r>
              <a:rPr lang="en-US" sz="1200" b="1" dirty="0">
                <a:solidFill>
                  <a:srgbClr val="00675F"/>
                </a:solidFill>
              </a:rPr>
              <a:t>HOSTED URL  ·  REPLACE BEFORE YOU EXPORT THE PDF</a:t>
            </a:r>
            <a:endParaRPr lang="en-US" sz="1200" dirty="0"/>
          </a:p>
        </p:txBody>
      </p:sp>
      <p:sp>
        <p:nvSpPr>
          <p:cNvPr id="5" name="URL value"/>
          <p:cNvSpPr txBox="1"/>
          <p:nvPr/>
        </p:nvSpPr>
        <p:spPr>
          <a:xfrm>
            <a:off x="896112" y="1901952"/>
            <a:ext cx="10332720" cy="640080"/>
          </a:xfrm>
          <a:prstGeom prst="rect">
            <a:avLst/>
          </a:prstGeom>
          <a:noFill/>
          <a:ln/>
        </p:spPr>
        <p:txBody>
          <a:bodyPr wrap="square" lIns="0" tIns="0" rIns="0" bIns="0" rtlCol="0" anchor="t"/>
          <a:lstStyle/>
          <a:p>
            <a:pPr indent="0" marL="0">
              <a:buNone/>
            </a:pPr>
            <a:r>
              <a:rPr lang="en-US" sz="2800" b="1" dirty="0">
                <a:solidFill>
                  <a:srgbClr val="112D3C"/>
                </a:solidFill>
              </a:rPr>
              <a:t>https://YOUR-CLOUD-RUN-HOST</a:t>
            </a:r>
            <a:endParaRPr lang="en-US" sz="2800" dirty="0"/>
          </a:p>
        </p:txBody>
      </p:sp>
      <p:sp>
        <p:nvSpPr>
          <p:cNvPr id="6" name="Vendor role"/>
          <p:cNvSpPr/>
          <p:nvPr/>
        </p:nvSpPr>
        <p:spPr>
          <a:xfrm>
            <a:off x="640080" y="3200400"/>
            <a:ext cx="3520440" cy="1417320"/>
          </a:xfrm>
          <a:prstGeom prst="roundRect">
            <a:avLst>
              <a:gd name="adj" fmla="val 6452"/>
            </a:avLst>
          </a:prstGeom>
          <a:solidFill>
            <a:srgbClr val="18394B"/>
          </a:solidFill>
          <a:ln/>
        </p:spPr>
      </p:sp>
      <p:sp>
        <p:nvSpPr>
          <p:cNvPr id="7" name="Vendor role heading"/>
          <p:cNvSpPr txBox="1"/>
          <p:nvPr/>
        </p:nvSpPr>
        <p:spPr>
          <a:xfrm>
            <a:off x="841248" y="3364992"/>
            <a:ext cx="3108960" cy="365760"/>
          </a:xfrm>
          <a:prstGeom prst="rect">
            <a:avLst/>
          </a:prstGeom>
          <a:noFill/>
          <a:ln/>
        </p:spPr>
        <p:txBody>
          <a:bodyPr wrap="square" lIns="0" tIns="0" rIns="0" bIns="0" rtlCol="0" anchor="t"/>
          <a:lstStyle/>
          <a:p>
            <a:pPr indent="0" marL="0">
              <a:buNone/>
            </a:pPr>
            <a:r>
              <a:rPr lang="en-US" sz="1800" b="1" dirty="0">
                <a:solidFill>
                  <a:srgbClr val="FFFFFF"/>
                </a:solidFill>
              </a:rPr>
              <a:t>Vendor</a:t>
            </a:r>
            <a:endParaRPr lang="en-US" sz="1800" dirty="0"/>
          </a:p>
        </p:txBody>
      </p:sp>
      <p:sp>
        <p:nvSpPr>
          <p:cNvPr id="8" name="Vendor role body"/>
          <p:cNvSpPr txBox="1"/>
          <p:nvPr/>
        </p:nvSpPr>
        <p:spPr>
          <a:xfrm>
            <a:off x="841248" y="3822192"/>
            <a:ext cx="3108960" cy="548640"/>
          </a:xfrm>
          <a:prstGeom prst="rect">
            <a:avLst/>
          </a:prstGeom>
          <a:noFill/>
          <a:ln/>
        </p:spPr>
        <p:txBody>
          <a:bodyPr wrap="square" lIns="0" tIns="0" rIns="0" bIns="0" rtlCol="0" anchor="t"/>
          <a:lstStyle/>
          <a:p>
            <a:pPr indent="0" marL="0">
              <a:buNone/>
            </a:pPr>
            <a:r>
              <a:rPr lang="en-US" sz="1500" dirty="0">
                <a:solidFill>
                  <a:srgbClr val="E6F4EF"/>
                </a:solidFill>
              </a:rPr>
              <a:t>Submit the pack and reply</a:t>
            </a:r>
            <a:endParaRPr lang="en-US" sz="1500" dirty="0"/>
          </a:p>
        </p:txBody>
      </p:sp>
      <p:sp>
        <p:nvSpPr>
          <p:cNvPr id="9" name="Reviewer role"/>
          <p:cNvSpPr/>
          <p:nvPr/>
        </p:nvSpPr>
        <p:spPr>
          <a:xfrm>
            <a:off x="4343400" y="3200400"/>
            <a:ext cx="3520440" cy="1417320"/>
          </a:xfrm>
          <a:prstGeom prst="roundRect">
            <a:avLst>
              <a:gd name="adj" fmla="val 6452"/>
            </a:avLst>
          </a:prstGeom>
          <a:solidFill>
            <a:srgbClr val="18394B"/>
          </a:solidFill>
          <a:ln/>
        </p:spPr>
      </p:sp>
      <p:sp>
        <p:nvSpPr>
          <p:cNvPr id="10" name="Reviewer role heading"/>
          <p:cNvSpPr txBox="1"/>
          <p:nvPr/>
        </p:nvSpPr>
        <p:spPr>
          <a:xfrm>
            <a:off x="4544568" y="3364992"/>
            <a:ext cx="3108960" cy="365760"/>
          </a:xfrm>
          <a:prstGeom prst="rect">
            <a:avLst/>
          </a:prstGeom>
          <a:noFill/>
          <a:ln/>
        </p:spPr>
        <p:txBody>
          <a:bodyPr wrap="square" lIns="0" tIns="0" rIns="0" bIns="0" rtlCol="0" anchor="t"/>
          <a:lstStyle/>
          <a:p>
            <a:pPr indent="0" marL="0">
              <a:buNone/>
            </a:pPr>
            <a:r>
              <a:rPr lang="en-US" sz="1800" b="1" dirty="0">
                <a:solidFill>
                  <a:srgbClr val="FFFFFF"/>
                </a:solidFill>
              </a:rPr>
              <a:t>Reviewer</a:t>
            </a:r>
            <a:endParaRPr lang="en-US" sz="1800" dirty="0"/>
          </a:p>
        </p:txBody>
      </p:sp>
      <p:sp>
        <p:nvSpPr>
          <p:cNvPr id="11" name="Reviewer role body"/>
          <p:cNvSpPr txBox="1"/>
          <p:nvPr/>
        </p:nvSpPr>
        <p:spPr>
          <a:xfrm>
            <a:off x="4544568" y="3822192"/>
            <a:ext cx="3108960" cy="548640"/>
          </a:xfrm>
          <a:prstGeom prst="rect">
            <a:avLst/>
          </a:prstGeom>
          <a:noFill/>
          <a:ln/>
        </p:spPr>
        <p:txBody>
          <a:bodyPr wrap="square" lIns="0" tIns="0" rIns="0" bIns="0" rtlCol="0" anchor="t"/>
          <a:lstStyle/>
          <a:p>
            <a:pPr indent="0" marL="0">
              <a:buNone/>
            </a:pPr>
            <a:r>
              <a:rPr lang="en-US" sz="1500" dirty="0">
                <a:solidFill>
                  <a:srgbClr val="E6F4EF"/>
                </a:solidFill>
              </a:rPr>
              <a:t>Quotes, checklist, decision</a:t>
            </a:r>
            <a:endParaRPr lang="en-US" sz="1500" dirty="0"/>
          </a:p>
        </p:txBody>
      </p:sp>
      <p:sp>
        <p:nvSpPr>
          <p:cNvPr id="12" name="Viewer role"/>
          <p:cNvSpPr/>
          <p:nvPr/>
        </p:nvSpPr>
        <p:spPr>
          <a:xfrm>
            <a:off x="8046720" y="3200400"/>
            <a:ext cx="3520440" cy="1417320"/>
          </a:xfrm>
          <a:prstGeom prst="roundRect">
            <a:avLst>
              <a:gd name="adj" fmla="val 6452"/>
            </a:avLst>
          </a:prstGeom>
          <a:solidFill>
            <a:srgbClr val="18394B"/>
          </a:solidFill>
          <a:ln/>
        </p:spPr>
      </p:sp>
      <p:sp>
        <p:nvSpPr>
          <p:cNvPr id="13" name="Viewer role heading"/>
          <p:cNvSpPr txBox="1"/>
          <p:nvPr/>
        </p:nvSpPr>
        <p:spPr>
          <a:xfrm>
            <a:off x="8247888" y="3364992"/>
            <a:ext cx="3108960" cy="365760"/>
          </a:xfrm>
          <a:prstGeom prst="rect">
            <a:avLst/>
          </a:prstGeom>
          <a:noFill/>
          <a:ln/>
        </p:spPr>
        <p:txBody>
          <a:bodyPr wrap="square" lIns="0" tIns="0" rIns="0" bIns="0" rtlCol="0" anchor="t"/>
          <a:lstStyle/>
          <a:p>
            <a:pPr indent="0" marL="0">
              <a:buNone/>
            </a:pPr>
            <a:r>
              <a:rPr lang="en-US" sz="1800" b="1" dirty="0">
                <a:solidFill>
                  <a:srgbClr val="FFFFFF"/>
                </a:solidFill>
              </a:rPr>
              <a:t>Viewer</a:t>
            </a:r>
            <a:endParaRPr lang="en-US" sz="1800" dirty="0"/>
          </a:p>
        </p:txBody>
      </p:sp>
      <p:sp>
        <p:nvSpPr>
          <p:cNvPr id="14" name="Viewer role body"/>
          <p:cNvSpPr txBox="1"/>
          <p:nvPr/>
        </p:nvSpPr>
        <p:spPr>
          <a:xfrm>
            <a:off x="8247888" y="3822192"/>
            <a:ext cx="3108960" cy="548640"/>
          </a:xfrm>
          <a:prstGeom prst="rect">
            <a:avLst/>
          </a:prstGeom>
          <a:noFill/>
          <a:ln/>
        </p:spPr>
        <p:txBody>
          <a:bodyPr wrap="square" lIns="0" tIns="0" rIns="0" bIns="0" rtlCol="0" anchor="t"/>
          <a:lstStyle/>
          <a:p>
            <a:pPr indent="0" marL="0">
              <a:buNone/>
            </a:pPr>
            <a:r>
              <a:rPr lang="en-US" sz="1500" dirty="0">
                <a:solidFill>
                  <a:srgbClr val="E6F4EF"/>
                </a:solidFill>
              </a:rPr>
              <a:t>Read the completed file</a:t>
            </a:r>
            <a:endParaRPr lang="en-US" sz="1500" dirty="0"/>
          </a:p>
        </p:txBody>
      </p:sp>
      <p:sp>
        <p:nvSpPr>
          <p:cNvPr id="15" name="Access note"/>
          <p:cNvSpPr txBox="1"/>
          <p:nvPr/>
        </p:nvSpPr>
        <p:spPr>
          <a:xfrm>
            <a:off x="640080" y="4846320"/>
            <a:ext cx="10881360" cy="1051560"/>
          </a:xfrm>
          <a:prstGeom prst="rect">
            <a:avLst/>
          </a:prstGeom>
          <a:noFill/>
          <a:ln/>
        </p:spPr>
        <p:txBody>
          <a:bodyPr wrap="square" lIns="0" tIns="0" rIns="0" bIns="0" rtlCol="0" anchor="t"/>
          <a:lstStyle/>
          <a:p>
            <a:pPr indent="0" marL="0">
              <a:buNone/>
            </a:pPr>
            <a:r>
              <a:rPr lang="en-US" sz="1600" dirty="0">
                <a:solidFill>
                  <a:srgbClr val="E6F4EF"/>
                </a:solidFill>
              </a:rPr>
              <a:t>Access code: paste it on this line before you export the PDF. Put the same code on the submission form. Do not commit it.</a:t>
            </a:r>
            <a:endParaRPr lang="en-US" sz="1600" dirty="0"/>
          </a:p>
        </p:txBody>
      </p:sp>
      <p:sp>
        <p:nvSpPr>
          <p:cNvPr id="25" name="Slide Number Placeholder 0"/>
          <p:cNvSpPr>
            <a:spLocks noGrp="1"/>
          </p:cNvSpPr>
          <p:nvPr>
            <p:ph type="sldNum" sz="quarter" idx="4294967295"/>
          </p:nvPr>
        </p:nvSpPr>
        <p:spPr>
          <a:xfrm>
            <a:off x="11109960" y="6446520"/>
            <a:ext cx="548640" cy="256032"/>
          </a:xfrm>
          <a:prstGeom prst="rect">
            <a:avLst/>
          </a:prstGeom>
          <a:extLst>
            <a:ext uri="{C572A759-6A51-4108-AA02-DFA0A04FC94B}">
              <ma14:wrappingTextBoxFlag xmlns:ma14="http://schemas.microsoft.com/office/mac/drawingml/2011/main" val="0"/>
            </a:ext>
          </a:extLst>
        </p:spPr>
        <p:txBody>
          <a:bodyPr/>
          <a:lstStyle>
            <a:lvl1pPr>
              <a:defRPr sz="1200">
                <a:solidFill>
                  <a:srgbClr val="D8E2E0"/>
                </a:solidFill>
              </a:defRPr>
            </a:lvl1pPr>
          </a:lstStyle>
          <a:p>
            <a:pPr algn="l"/>
            <a:fld id="{F7021451-1387-4CA6-816F-3879F97B5CBC}" type="slidenum">
              <a:rPr b="0" lang="en-US"/>
              <a:t>8</a:t>
            </a:fld>
            <a:endParaRPr lang="en-US"/>
          </a:p>
        </p:txBody>
      </p:sp>
    </p:spTree>
  </p:cSld>
  <p:clrMapOvr>
    <a:masterClrMapping/>
  </p:clrMapOvr>
</p:sld>
</file>

<file path=ppt/theme/theme1.xml><?xml version="1.0" encoding="utf-8"?>
<a:theme xmlns:a="http://schemas.openxmlformats.org/drawingml/2006/main" name="CaseProof">
  <a:themeElements>
    <a:clrScheme name="CaseProof">
      <a:dk1>
        <a:srgbClr val="112D3C"/>
      </a:dk1>
      <a:lt1>
        <a:srgbClr val="FFFFFF"/>
      </a:lt1>
      <a:dk2>
        <a:srgbClr val="18394B"/>
      </a:dk2>
      <a:lt2>
        <a:srgbClr val="EEF4F1"/>
      </a:lt2>
      <a:accent1>
        <a:srgbClr val="00675F"/>
      </a:accent1>
      <a:accent2>
        <a:srgbClr val="18394B"/>
      </a:accent2>
      <a:accent3>
        <a:srgbClr val="A86A12"/>
      </a:accent3>
      <a:accent4>
        <a:srgbClr val="52656C"/>
      </a:accent4>
      <a:accent5>
        <a:srgbClr val="1F6F78"/>
      </a:accent5>
      <a:accent6>
        <a:srgbClr val="D8E2E0"/>
      </a:accent6>
      <a:hlink>
        <a:srgbClr val="00675F"/>
      </a:hlink>
      <a:folHlink>
        <a:srgbClr val="112D3C"/>
      </a:folHlink>
    </a:clrScheme>
    <a:fontScheme name="CaseProof">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CaseProof</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CaseProof — AI Builder Cup 2026</dc:title>
  <dc:subject>BFSI: Intelligent Risk, Fraud and Financial Experiences</dc:subject>
  <dc:creator>CaseProof</dc:creator>
  <cp:lastModifiedBy>CaseProof</cp:lastModifiedBy>
  <cp:revision>1</cp:revision>
  <dcterms:created xsi:type="dcterms:W3CDTF">2026-10-16T07:08:23Z</dcterms:created>
  <dcterms:modified xsi:type="dcterms:W3CDTF">2026-10-16T07:08:23Z</dcterms:modified>
</cp:coreProperties>
</file>