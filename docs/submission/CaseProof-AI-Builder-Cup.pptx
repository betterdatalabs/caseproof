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all" id="{6918be4f-bdb1-6af6-3ad4-e66ae22ae36c}">
          <p14:sldIdLst>
            <p14:sldId id="256"/>
            <p14:sldId id="257"/>
            <p14:sldId id="258"/>
          </p14:sldIdLst>
        </p14:section>
        <p14:section name="The copilot" id="{3bed6fbc-3738-933c-14c0-a290792cac30}">
          <p14:sldIdLst>
            <p14:sldId id="259"/>
          </p14:sldIdLst>
        </p14:section>
        <p14:section name="How it works" id="{a574c16c-e2cb-2d26-2001-99cb2633fe81}">
          <p14:sldIdLst>
            <p14:sldId id="260"/>
            <p14:sldId id="261"/>
            <p14:sldId id="262"/>
            <p14:sldId id="263"/>
            <p14:sldId id="264"/>
          </p14:sldIdLst>
        </p14:section>
        <p14:section name="Proof" id="{971bd862-6277-9721-0a13-e276746ecf4e}">
          <p14:sldIdLst>
            <p14:sldId id="265"/>
            <p14:sldId id="266"/>
            <p14:sldId id="267"/>
            <p14:sldId id="268"/>
          </p14:sldIdLst>
        </p14:section>
        <p14:section name="Open it" id="{f2dd64c5-70c8-b225-b737-8291cf75c9a3}">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Staff minutes</c:v>
                </c:pt>
              </c:strCache>
            </c:strRef>
          </c:tx>
          <c:spPr>
            <a:solidFill>
              <a:srgbClr val="0E7C73"/>
            </a:solidFill>
            <a:effectLst/>
          </c:spPr>
          <c:invertIfNegative val="0"/>
          <c:dLbls>
            <c:numFmt formatCode="#,##0" sourceLinked="0"/>
            <c:txPr>
              <a:bodyPr/>
              <a:lstStyle/>
              <a:p>
                <a:pPr>
                  <a:defRPr b="0" i="0" strike="noStrike" sz="1100" u="none">
                    <a:solidFill>
                      <a:srgbClr val="163642"/>
                    </a:solidFill>
                    <a:latin typeface="+mn-lt"/>
                  </a:defRPr>
                </a:pPr>
              </a:p>
            </c:txPr>
            <c:showLegendKey val="0"/>
            <c:showVal val="1"/>
            <c:showCatName val="0"/>
            <c:showSerName val="0"/>
            <c:showPercent val="0"/>
            <c:showBubbleSize val="0"/>
            <c:showLeaderLines val="0"/>
          </c:dLbls>
          <c:cat>
            <c:multiLvlStrRef>
              <c:f>Sheet1!$A$2:$A$4</c:f>
              <c:multiLvlStrCache>
                <c:ptCount val="3"/>
                <c:lvl>
                  <c:pt idx="0">
                    <c:v>Manual model</c:v>
                  </c:pt>
                  <c:pt idx="1">
                    <c:v>Rules only</c:v>
                  </c:pt>
                  <c:pt idx="2">
                    <c:v>Agent</c:v>
                  </c:pt>
                </c:lvl>
              </c:multiLvlStrCache>
            </c:multiLvlStrRef>
          </c:cat>
          <c:val>
            <c:numRef>
              <c:f>Sheet1!$B$2:$B$4</c:f>
              <c:numCache>
                <c:formatCode>General</c:formatCode>
                <c:ptCount val="3"/>
                <c:pt idx="0">
                  <c:v>1440</c:v>
                </c:pt>
                <c:pt idx="1">
                  <c:v>100</c:v>
                </c:pt>
                <c:pt idx="2">
                  <c:v>110</c:v>
                </c:pt>
              </c:numCache>
            </c:numRef>
          </c:val>
        </c:ser>
        <c:dLbls>
          <c:numFmt formatCode="#,##0" sourceLinked="0"/>
          <c:txPr>
            <a:bodyPr/>
            <a:lstStyle/>
            <a:p>
              <a:pPr>
                <a:defRPr b="0" i="0" strike="noStrike" sz="1100" u="none">
                  <a:solidFill>
                    <a:srgbClr val="16364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E7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5E4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E76"/>
                </a:solidFill>
                <a:latin typeface="+mn-lt"/>
              </a:defRPr>
            </a:pPr>
            <a:endParaRPr lang="en-US"/>
          </a:p>
        </c:txPr>
        <c:crossAx val="2094734554"/>
        <c:crosses val="autoZero"/>
        <c:crossBetween val="between"/>
      </c:valAx>
      <c:spPr>
        <a:noFill/>
        <a:ln>
          <a:noFill/>
        </a:ln>
        <a:effectLst/>
      </c:spPr>
    </c:plotArea>
    <c:plotVisOnly val="1"/>
    <c:dispBlanksAs val="span"/>
  </c:chart>
  <c:spPr>
    <a:solidFill>
      <a:srgbClr val="F0F6F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Betterdata. CaseProof is the invoice-financing review copilot. Gemini processes the documents. The bank still decides whether to finance.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sales invoice is ready to fund, except the receipt does not cover it. The file waits on another email. Invoice finance earns when that pack is accepted or declined. The money is waiting on the paperwork.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faster file is not a cheaper model. It is fewer round trips, a hold on a repeated invoice, and a record the bank can show. Policy is how another desk uses the same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 reviews. Daniel publishes policy. Sam is the business. Aisha only reads. Alex is a combined walkthrough. The film uses Priya and Sam.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 extract, check, one request, a person if needed, then two frozen documents. Waiting is a saved request or task. The agent process does not stay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is Google ADK on Gemini. It wakes, chooses a tool, and stops. It cannot approve a facility, change policy, or treat text in a PDF as an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Duplication is certain because it is code. Appearance is a signal, not a forgery verdict. A prompt in the PDF is ignored and shown to a person. Quotes must exist on the page. Gemini proposes. The bank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is the desk's operating manual. Daniel publishes it. The case pins that version. Extra wording is assessed by Gemini. Core arithmetic cannot be waived. Force a template if the bank wants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Browser to API to Postgres. The outbox wakes a leased worker. The ADK agent talks to Gemini. Waiting is saved state. Compose and Cloud Run are the same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constructed cases. Zero incorrect completions. Twenty of twenty clean packs finished alone. Injection cases were flagged. Eighty-three cents for 342 calls. The minutes chart is a time model, not a user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site is an access code, not IAP. The API stays private. Cookies, CSRF, revisions, and row security are in the running app. Search never sees the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Run, Cloud SQL, Cloud Storage, Cloud Tasks, Scheduler, Vertex. Six model calls and fifty cents a case. Load on the hosted project has not been measured. Say that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not approve a facility. We do not prove a document is genuine. Research is a brief, not a score. Say the document limit so a judge who uploads a tax invoice is not surprised.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Shamiul Islam Shifat, Abdul Raheem, Abdul Kazi. Open the prototype. The code is on the form. After it, the case is already read. CaseProof. The invoice-financing review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28"/>
        </a:solidFill>
      </p:bgPr>
    </p:bg>
    <p:spTree>
      <p:nvGrpSpPr>
        <p:cNvPr id="1" name=""/>
        <p:cNvGrpSpPr/>
        <p:nvPr/>
      </p:nvGrpSpPr>
      <p:grpSpPr>
        <a:xfrm>
          <a:off x="0" y="0"/>
          <a:ext cx="0" cy="0"/>
          <a:chOff x="0" y="0"/>
          <a:chExt cx="0" cy="0"/>
        </a:xfrm>
      </p:grpSpPr>
      <p:sp>
        <p:nvSpPr>
          <p:cNvPr id="2" name="Text 0"/>
          <p:cNvSpPr/>
          <p:nvPr/>
        </p:nvSpPr>
        <p:spPr>
          <a:xfrm>
            <a:off x="502920" y="6446520"/>
            <a:ext cx="9326880" cy="256032"/>
          </a:xfrm>
          <a:prstGeom prst="rect">
            <a:avLst/>
          </a:prstGeom>
          <a:noFill/>
          <a:ln/>
        </p:spPr>
        <p:txBody>
          <a:bodyPr wrap="square" lIns="0" tIns="0" rIns="0" bIns="0" rtlCol="0" anchor="ctr"/>
          <a:lstStyle/>
          <a:p>
            <a:pPr indent="0" marL="0">
              <a:buNone/>
            </a:pPr>
            <a:r>
              <a:rPr lang="en-US" sz="1200" dirty="0">
                <a:solidFill>
                  <a:srgbClr val="A8C4BE"/>
                </a:solidFill>
              </a:rPr>
              <a:t>Betterdata   ·   CaseProof   ·   AI Builder Cup 2026</a:t>
            </a:r>
            <a:endParaRPr lang="en-US" sz="12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A8C4BE"/>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rtlCol="0"/>
          <a:lstStyle>
            <a:lvl1pPr indent="0" marL="0">
              <a:buNone/>
              <a:defRPr lang="en-US" sz="3200" b="1" dirty="0">
                <a:solidFill>
                  <a:schemeClr val="tx1"/>
                </a:solidFill>
              </a:defRPr>
            </a:lvl1pPr>
          </a:lstStyle>
          <a:p>
            <a:pPr indent="0" marL="0">
              <a:buNone/>
            </a:pPr>
            <a:r>
              <a:rPr lang="en-US" sz="3200" b="1" dirty="0">
                <a:solidFill>
                  <a:schemeClr val="tx1"/>
                </a:solidFill>
              </a:rPr>
              <a:t>Title</a:t>
            </a:r>
            <a:endParaRPr lang="en-US" sz="3200" dirty="0"/>
          </a:p>
        </p:txBody>
      </p:sp>
      <p:sp>
        <p:nvSpPr>
          <p:cNvPr id="3" name="Text 0"/>
          <p:cNvSpPr/>
          <p:nvPr/>
        </p:nvSpPr>
        <p:spPr>
          <a:xfrm>
            <a:off x="502920" y="6446520"/>
            <a:ext cx="9326880" cy="256032"/>
          </a:xfrm>
          <a:prstGeom prst="rect">
            <a:avLst/>
          </a:prstGeom>
          <a:noFill/>
          <a:ln/>
        </p:spPr>
        <p:txBody>
          <a:bodyPr wrap="square" lIns="0" tIns="0" rIns="0" bIns="0" rtlCol="0" anchor="ctr"/>
          <a:lstStyle/>
          <a:p>
            <a:pPr indent="0" marL="0">
              <a:buNone/>
            </a:pPr>
            <a:r>
              <a:rPr lang="en-US" sz="1200" dirty="0">
                <a:solidFill>
                  <a:srgbClr val="5A6E76"/>
                </a:solidFill>
              </a:rPr>
              <a:t>Betterdata   ·   CaseProof   ·   the invoice-financing review copilot</a:t>
            </a:r>
            <a:endParaRPr lang="en-US" sz="12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A8C4BE"/>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9235440" y="-1920240"/>
            <a:ext cx="5120640" cy="5120640"/>
          </a:xfrm>
          <a:prstGeom prst="ellipse">
            <a:avLst/>
          </a:prstGeom>
          <a:solidFill>
            <a:srgbClr val="163642"/>
          </a:solidFill>
          <a:ln/>
        </p:spPr>
      </p:sp>
      <p:sp>
        <p:nvSpPr>
          <p:cNvPr id="3" name="Eyebrow"/>
          <p:cNvSpPr txBox="1"/>
          <p:nvPr/>
        </p:nvSpPr>
        <p:spPr>
          <a:xfrm>
            <a:off x="640080" y="347472"/>
            <a:ext cx="10972800" cy="237744"/>
          </a:xfrm>
          <a:prstGeom prst="rect">
            <a:avLst/>
          </a:prstGeom>
          <a:noFill/>
          <a:ln/>
        </p:spPr>
        <p:txBody>
          <a:bodyPr wrap="square" lIns="0" tIns="0" rIns="0" bIns="0" rtlCol="0" anchor="t"/>
          <a:lstStyle/>
          <a:p>
            <a:pPr indent="0" marL="0">
              <a:buNone/>
            </a:pPr>
            <a:r>
              <a:rPr lang="en-US" sz="1200" b="1" spc="140" kern="0" dirty="0">
                <a:solidFill>
                  <a:srgbClr val="C4A35A"/>
                </a:solidFill>
              </a:rPr>
              <a:t>BETTERDATA  ·  AI BUILDER CUP 2026  ·  BFSI</a:t>
            </a:r>
            <a:endParaRPr lang="en-US" sz="1200" dirty="0"/>
          </a:p>
        </p:txBody>
      </p:sp>
      <p:sp>
        <p:nvSpPr>
          <p:cNvPr id="4" name="Wordmark"/>
          <p:cNvSpPr txBox="1"/>
          <p:nvPr/>
        </p:nvSpPr>
        <p:spPr>
          <a:xfrm>
            <a:off x="640080" y="640080"/>
            <a:ext cx="10972800" cy="713232"/>
          </a:xfrm>
          <a:prstGeom prst="rect">
            <a:avLst/>
          </a:prstGeom>
          <a:noFill/>
          <a:ln/>
        </p:spPr>
        <p:txBody>
          <a:bodyPr wrap="square" lIns="0" tIns="0" rIns="0" bIns="0" rtlCol="0" anchor="t"/>
          <a:lstStyle/>
          <a:p>
            <a:pPr indent="0" marL="0">
              <a:buNone/>
            </a:pPr>
            <a:r>
              <a:rPr lang="en-US" sz="5200" b="1" dirty="0">
                <a:solidFill>
                  <a:schemeClr val="bg1"/>
                </a:solidFill>
              </a:rPr>
              <a:t>CaseProof</a:t>
            </a:r>
            <a:endParaRPr lang="en-US" sz="5200" dirty="0"/>
          </a:p>
        </p:txBody>
      </p:sp>
      <p:sp>
        <p:nvSpPr>
          <p:cNvPr id="5" name="Product line"/>
          <p:cNvSpPr txBox="1"/>
          <p:nvPr/>
        </p:nvSpPr>
        <p:spPr>
          <a:xfrm>
            <a:off x="640080" y="1371600"/>
            <a:ext cx="10972800" cy="347472"/>
          </a:xfrm>
          <a:prstGeom prst="rect">
            <a:avLst/>
          </a:prstGeom>
          <a:noFill/>
          <a:ln/>
        </p:spPr>
        <p:txBody>
          <a:bodyPr wrap="square" lIns="0" tIns="0" rIns="0" bIns="0" rtlCol="0" anchor="t"/>
          <a:lstStyle/>
          <a:p>
            <a:pPr indent="0" marL="0">
              <a:buNone/>
            </a:pPr>
            <a:r>
              <a:rPr lang="en-US" sz="2200" dirty="0">
                <a:solidFill>
                  <a:srgbClr val="E7F4F0"/>
                </a:solidFill>
              </a:rPr>
              <a:t>The invoice-financing review copilot</a:t>
            </a:r>
            <a:endParaRPr lang="en-US" sz="2200" dirty="0"/>
          </a:p>
        </p:txBody>
      </p:sp>
      <p:sp>
        <p:nvSpPr>
          <p:cNvPr id="6" name="Promise"/>
          <p:cNvSpPr txBox="1"/>
          <p:nvPr/>
        </p:nvSpPr>
        <p:spPr>
          <a:xfrm>
            <a:off x="640080" y="1755648"/>
            <a:ext cx="10972800" cy="292608"/>
          </a:xfrm>
          <a:prstGeom prst="rect">
            <a:avLst/>
          </a:prstGeom>
          <a:noFill/>
          <a:ln/>
        </p:spPr>
        <p:txBody>
          <a:bodyPr wrap="square" lIns="0" tIns="0" rIns="0" bIns="0" rtlCol="0" anchor="t"/>
          <a:lstStyle/>
          <a:p>
            <a:pPr indent="0" marL="0">
              <a:buNone/>
            </a:pPr>
            <a:r>
              <a:rPr lang="en-US" sz="1600" dirty="0">
                <a:solidFill>
                  <a:srgbClr val="B7D0C9"/>
                </a:solidFill>
              </a:rPr>
              <a:t>Gemini processes the documents. The bank still decides whether to finance.</a:t>
            </a:r>
            <a:endParaRPr lang="en-US" sz="1600" dirty="0"/>
          </a:p>
        </p:txBody>
      </p:sp>
      <p:sp>
        <p:nvSpPr>
          <p:cNvPr id="7" name="Arrow 01"/>
          <p:cNvSpPr/>
          <p:nvPr/>
        </p:nvSpPr>
        <p:spPr>
          <a:xfrm>
            <a:off x="3255264" y="3182112"/>
            <a:ext cx="256032" cy="182880"/>
          </a:xfrm>
          <a:prstGeom prst="rightArrow">
            <a:avLst/>
          </a:prstGeom>
          <a:solidFill>
            <a:srgbClr val="C4A35A"/>
          </a:solidFill>
          <a:ln/>
        </p:spPr>
      </p:sp>
      <p:sp>
        <p:nvSpPr>
          <p:cNvPr id="8" name="Cover card Process"/>
          <p:cNvSpPr/>
          <p:nvPr/>
        </p:nvSpPr>
        <p:spPr>
          <a:xfrm>
            <a:off x="640080" y="2267712"/>
            <a:ext cx="2578608" cy="2084832"/>
          </a:xfrm>
          <a:prstGeom prst="roundRect">
            <a:avLst>
              <a:gd name="adj" fmla="val 4386"/>
            </a:avLst>
          </a:prstGeom>
          <a:solidFill>
            <a:srgbClr val="163642"/>
          </a:solidFill>
          <a:ln/>
        </p:spPr>
      </p:sp>
      <p:sp>
        <p:nvSpPr>
          <p:cNvPr id="9" name="Cover n 01"/>
          <p:cNvSpPr txBox="1"/>
          <p:nvPr/>
        </p:nvSpPr>
        <p:spPr>
          <a:xfrm>
            <a:off x="822960" y="2432304"/>
            <a:ext cx="2212848" cy="237744"/>
          </a:xfrm>
          <a:prstGeom prst="rect">
            <a:avLst/>
          </a:prstGeom>
          <a:noFill/>
          <a:ln/>
        </p:spPr>
        <p:txBody>
          <a:bodyPr wrap="square" lIns="0" tIns="0" rIns="0" bIns="0" rtlCol="0" anchor="t"/>
          <a:lstStyle/>
          <a:p>
            <a:pPr indent="0" marL="0">
              <a:buNone/>
            </a:pPr>
            <a:r>
              <a:rPr lang="en-US" sz="1200" b="1" dirty="0">
                <a:solidFill>
                  <a:srgbClr val="C4A35A"/>
                </a:solidFill>
              </a:rPr>
              <a:t>01</a:t>
            </a:r>
            <a:endParaRPr lang="en-US" sz="1200" dirty="0"/>
          </a:p>
        </p:txBody>
      </p:sp>
      <p:sp>
        <p:nvSpPr>
          <p:cNvPr id="10" name="Cover title Process"/>
          <p:cNvSpPr txBox="1"/>
          <p:nvPr/>
        </p:nvSpPr>
        <p:spPr>
          <a:xfrm>
            <a:off x="822960" y="2743200"/>
            <a:ext cx="2212848" cy="365760"/>
          </a:xfrm>
          <a:prstGeom prst="rect">
            <a:avLst/>
          </a:prstGeom>
          <a:noFill/>
          <a:ln/>
        </p:spPr>
        <p:txBody>
          <a:bodyPr wrap="square" lIns="0" tIns="0" rIns="0" bIns="0" rtlCol="0" anchor="t"/>
          <a:lstStyle/>
          <a:p>
            <a:pPr indent="0" marL="0">
              <a:buNone/>
            </a:pPr>
            <a:r>
              <a:rPr lang="en-US" sz="2200" b="1" dirty="0">
                <a:solidFill>
                  <a:schemeClr val="bg1"/>
                </a:solidFill>
              </a:rPr>
              <a:t>Process</a:t>
            </a:r>
            <a:endParaRPr lang="en-US" sz="2200" dirty="0"/>
          </a:p>
        </p:txBody>
      </p:sp>
      <p:sp>
        <p:nvSpPr>
          <p:cNvPr id="11" name="Cover body Process"/>
          <p:cNvSpPr txBox="1"/>
          <p:nvPr/>
        </p:nvSpPr>
        <p:spPr>
          <a:xfrm>
            <a:off x="822960" y="3200400"/>
            <a:ext cx="2212848" cy="914400"/>
          </a:xfrm>
          <a:prstGeom prst="rect">
            <a:avLst/>
          </a:prstGeom>
          <a:noFill/>
          <a:ln/>
        </p:spPr>
        <p:txBody>
          <a:bodyPr wrap="square" lIns="0" tIns="0" rIns="0" bIns="0" rtlCol="0" anchor="t"/>
          <a:lstStyle/>
          <a:p>
            <a:pPr indent="0" marL="0">
              <a:buNone/>
            </a:pPr>
            <a:r>
              <a:rPr lang="en-US" sz="1400" dirty="0">
                <a:solidFill>
                  <a:srgbClr val="C5DDD6"/>
                </a:solidFill>
              </a:rPr>
              <a:t>Gemini extracts the pack and quotes the page.</a:t>
            </a:r>
            <a:endParaRPr lang="en-US" sz="1400" dirty="0"/>
          </a:p>
        </p:txBody>
      </p:sp>
      <p:sp>
        <p:nvSpPr>
          <p:cNvPr id="12" name="Arrow 02"/>
          <p:cNvSpPr/>
          <p:nvPr/>
        </p:nvSpPr>
        <p:spPr>
          <a:xfrm>
            <a:off x="6108192" y="3182112"/>
            <a:ext cx="256032" cy="182880"/>
          </a:xfrm>
          <a:prstGeom prst="rightArrow">
            <a:avLst/>
          </a:prstGeom>
          <a:solidFill>
            <a:srgbClr val="C4A35A"/>
          </a:solidFill>
          <a:ln/>
        </p:spPr>
      </p:sp>
      <p:sp>
        <p:nvSpPr>
          <p:cNvPr id="13" name="Cover card Ask once"/>
          <p:cNvSpPr/>
          <p:nvPr/>
        </p:nvSpPr>
        <p:spPr>
          <a:xfrm>
            <a:off x="3493008" y="2267712"/>
            <a:ext cx="2578608" cy="2084832"/>
          </a:xfrm>
          <a:prstGeom prst="roundRect">
            <a:avLst>
              <a:gd name="adj" fmla="val 4386"/>
            </a:avLst>
          </a:prstGeom>
          <a:solidFill>
            <a:srgbClr val="163642"/>
          </a:solidFill>
          <a:ln/>
        </p:spPr>
      </p:sp>
      <p:sp>
        <p:nvSpPr>
          <p:cNvPr id="14" name="Cover n 02"/>
          <p:cNvSpPr txBox="1"/>
          <p:nvPr/>
        </p:nvSpPr>
        <p:spPr>
          <a:xfrm>
            <a:off x="3675888" y="2432304"/>
            <a:ext cx="2212848" cy="237744"/>
          </a:xfrm>
          <a:prstGeom prst="rect">
            <a:avLst/>
          </a:prstGeom>
          <a:noFill/>
          <a:ln/>
        </p:spPr>
        <p:txBody>
          <a:bodyPr wrap="square" lIns="0" tIns="0" rIns="0" bIns="0" rtlCol="0" anchor="t"/>
          <a:lstStyle/>
          <a:p>
            <a:pPr indent="0" marL="0">
              <a:buNone/>
            </a:pPr>
            <a:r>
              <a:rPr lang="en-US" sz="1200" b="1" dirty="0">
                <a:solidFill>
                  <a:srgbClr val="C4A35A"/>
                </a:solidFill>
              </a:rPr>
              <a:t>02</a:t>
            </a:r>
            <a:endParaRPr lang="en-US" sz="1200" dirty="0"/>
          </a:p>
        </p:txBody>
      </p:sp>
      <p:sp>
        <p:nvSpPr>
          <p:cNvPr id="15" name="Cover title Ask once"/>
          <p:cNvSpPr txBox="1"/>
          <p:nvPr/>
        </p:nvSpPr>
        <p:spPr>
          <a:xfrm>
            <a:off x="3675888" y="2743200"/>
            <a:ext cx="2212848" cy="365760"/>
          </a:xfrm>
          <a:prstGeom prst="rect">
            <a:avLst/>
          </a:prstGeom>
          <a:noFill/>
          <a:ln/>
        </p:spPr>
        <p:txBody>
          <a:bodyPr wrap="square" lIns="0" tIns="0" rIns="0" bIns="0" rtlCol="0" anchor="t"/>
          <a:lstStyle/>
          <a:p>
            <a:pPr indent="0" marL="0">
              <a:buNone/>
            </a:pPr>
            <a:r>
              <a:rPr lang="en-US" sz="2200" b="1" dirty="0">
                <a:solidFill>
                  <a:schemeClr val="bg1"/>
                </a:solidFill>
              </a:rPr>
              <a:t>Ask once</a:t>
            </a:r>
            <a:endParaRPr lang="en-US" sz="2200" dirty="0"/>
          </a:p>
        </p:txBody>
      </p:sp>
      <p:sp>
        <p:nvSpPr>
          <p:cNvPr id="16" name="Cover body Ask once"/>
          <p:cNvSpPr txBox="1"/>
          <p:nvPr/>
        </p:nvSpPr>
        <p:spPr>
          <a:xfrm>
            <a:off x="3675888" y="3200400"/>
            <a:ext cx="2212848" cy="914400"/>
          </a:xfrm>
          <a:prstGeom prst="rect">
            <a:avLst/>
          </a:prstGeom>
          <a:noFill/>
          <a:ln/>
        </p:spPr>
        <p:txBody>
          <a:bodyPr wrap="square" lIns="0" tIns="0" rIns="0" bIns="0" rtlCol="0" anchor="t"/>
          <a:lstStyle/>
          <a:p>
            <a:pPr indent="0" marL="0">
              <a:buNone/>
            </a:pPr>
            <a:r>
              <a:rPr lang="en-US" sz="1400" dirty="0">
                <a:solidFill>
                  <a:srgbClr val="C5DDD6"/>
                </a:solidFill>
              </a:rPr>
              <a:t>Every open gap leaves in one request.</a:t>
            </a:r>
            <a:endParaRPr lang="en-US" sz="1400" dirty="0"/>
          </a:p>
        </p:txBody>
      </p:sp>
      <p:sp>
        <p:nvSpPr>
          <p:cNvPr id="17" name="Arrow 03"/>
          <p:cNvSpPr/>
          <p:nvPr/>
        </p:nvSpPr>
        <p:spPr>
          <a:xfrm>
            <a:off x="8961120" y="3182112"/>
            <a:ext cx="256032" cy="182880"/>
          </a:xfrm>
          <a:prstGeom prst="rightArrow">
            <a:avLst/>
          </a:prstGeom>
          <a:solidFill>
            <a:srgbClr val="C4A35A"/>
          </a:solidFill>
          <a:ln/>
        </p:spPr>
      </p:sp>
      <p:sp>
        <p:nvSpPr>
          <p:cNvPr id="18" name="Cover card Decide"/>
          <p:cNvSpPr/>
          <p:nvPr/>
        </p:nvSpPr>
        <p:spPr>
          <a:xfrm>
            <a:off x="6345936" y="2267712"/>
            <a:ext cx="2578608" cy="2084832"/>
          </a:xfrm>
          <a:prstGeom prst="roundRect">
            <a:avLst>
              <a:gd name="adj" fmla="val 4386"/>
            </a:avLst>
          </a:prstGeom>
          <a:solidFill>
            <a:srgbClr val="163642"/>
          </a:solidFill>
          <a:ln/>
        </p:spPr>
      </p:sp>
      <p:sp>
        <p:nvSpPr>
          <p:cNvPr id="19" name="Cover n 03"/>
          <p:cNvSpPr txBox="1"/>
          <p:nvPr/>
        </p:nvSpPr>
        <p:spPr>
          <a:xfrm>
            <a:off x="6528816" y="2432304"/>
            <a:ext cx="2212848" cy="237744"/>
          </a:xfrm>
          <a:prstGeom prst="rect">
            <a:avLst/>
          </a:prstGeom>
          <a:noFill/>
          <a:ln/>
        </p:spPr>
        <p:txBody>
          <a:bodyPr wrap="square" lIns="0" tIns="0" rIns="0" bIns="0" rtlCol="0" anchor="t"/>
          <a:lstStyle/>
          <a:p>
            <a:pPr indent="0" marL="0">
              <a:buNone/>
            </a:pPr>
            <a:r>
              <a:rPr lang="en-US" sz="1200" b="1" dirty="0">
                <a:solidFill>
                  <a:srgbClr val="C4A35A"/>
                </a:solidFill>
              </a:rPr>
              <a:t>03</a:t>
            </a:r>
            <a:endParaRPr lang="en-US" sz="1200" dirty="0"/>
          </a:p>
        </p:txBody>
      </p:sp>
      <p:sp>
        <p:nvSpPr>
          <p:cNvPr id="20" name="Cover title Decide"/>
          <p:cNvSpPr txBox="1"/>
          <p:nvPr/>
        </p:nvSpPr>
        <p:spPr>
          <a:xfrm>
            <a:off x="6528816" y="2743200"/>
            <a:ext cx="2212848" cy="365760"/>
          </a:xfrm>
          <a:prstGeom prst="rect">
            <a:avLst/>
          </a:prstGeom>
          <a:noFill/>
          <a:ln/>
        </p:spPr>
        <p:txBody>
          <a:bodyPr wrap="square" lIns="0" tIns="0" rIns="0" bIns="0" rtlCol="0" anchor="t"/>
          <a:lstStyle/>
          <a:p>
            <a:pPr indent="0" marL="0">
              <a:buNone/>
            </a:pPr>
            <a:r>
              <a:rPr lang="en-US" sz="2200" b="1" dirty="0">
                <a:solidFill>
                  <a:schemeClr val="bg1"/>
                </a:solidFill>
              </a:rPr>
              <a:t>Decide</a:t>
            </a:r>
            <a:endParaRPr lang="en-US" sz="2200" dirty="0"/>
          </a:p>
        </p:txBody>
      </p:sp>
      <p:sp>
        <p:nvSpPr>
          <p:cNvPr id="21" name="Cover body Decide"/>
          <p:cNvSpPr txBox="1"/>
          <p:nvPr/>
        </p:nvSpPr>
        <p:spPr>
          <a:xfrm>
            <a:off x="6528816" y="3200400"/>
            <a:ext cx="2212848" cy="914400"/>
          </a:xfrm>
          <a:prstGeom prst="rect">
            <a:avLst/>
          </a:prstGeom>
          <a:noFill/>
          <a:ln/>
        </p:spPr>
        <p:txBody>
          <a:bodyPr wrap="square" lIns="0" tIns="0" rIns="0" bIns="0" rtlCol="0" anchor="t"/>
          <a:lstStyle/>
          <a:p>
            <a:pPr indent="0" marL="0">
              <a:buNone/>
            </a:pPr>
            <a:r>
              <a:rPr lang="en-US" sz="1400" dirty="0">
                <a:solidFill>
                  <a:srgbClr val="C5DDD6"/>
                </a:solidFill>
              </a:rPr>
              <a:t>A person records the exception.</a:t>
            </a:r>
            <a:endParaRPr lang="en-US" sz="1400" dirty="0"/>
          </a:p>
        </p:txBody>
      </p:sp>
      <p:sp>
        <p:nvSpPr>
          <p:cNvPr id="22" name="Cover card Publish"/>
          <p:cNvSpPr/>
          <p:nvPr/>
        </p:nvSpPr>
        <p:spPr>
          <a:xfrm>
            <a:off x="9198864" y="2267712"/>
            <a:ext cx="2578608" cy="2084832"/>
          </a:xfrm>
          <a:prstGeom prst="roundRect">
            <a:avLst>
              <a:gd name="adj" fmla="val 4386"/>
            </a:avLst>
          </a:prstGeom>
          <a:solidFill>
            <a:srgbClr val="163642"/>
          </a:solidFill>
          <a:ln/>
        </p:spPr>
      </p:sp>
      <p:sp>
        <p:nvSpPr>
          <p:cNvPr id="23" name="Cover n 04"/>
          <p:cNvSpPr txBox="1"/>
          <p:nvPr/>
        </p:nvSpPr>
        <p:spPr>
          <a:xfrm>
            <a:off x="9381744" y="2432304"/>
            <a:ext cx="2212848" cy="237744"/>
          </a:xfrm>
          <a:prstGeom prst="rect">
            <a:avLst/>
          </a:prstGeom>
          <a:noFill/>
          <a:ln/>
        </p:spPr>
        <p:txBody>
          <a:bodyPr wrap="square" lIns="0" tIns="0" rIns="0" bIns="0" rtlCol="0" anchor="t"/>
          <a:lstStyle/>
          <a:p>
            <a:pPr indent="0" marL="0">
              <a:buNone/>
            </a:pPr>
            <a:r>
              <a:rPr lang="en-US" sz="1200" b="1" dirty="0">
                <a:solidFill>
                  <a:srgbClr val="C4A35A"/>
                </a:solidFill>
              </a:rPr>
              <a:t>04</a:t>
            </a:r>
            <a:endParaRPr lang="en-US" sz="1200" dirty="0"/>
          </a:p>
        </p:txBody>
      </p:sp>
      <p:sp>
        <p:nvSpPr>
          <p:cNvPr id="24" name="Cover title Publish"/>
          <p:cNvSpPr txBox="1"/>
          <p:nvPr/>
        </p:nvSpPr>
        <p:spPr>
          <a:xfrm>
            <a:off x="9381744" y="2743200"/>
            <a:ext cx="2212848" cy="365760"/>
          </a:xfrm>
          <a:prstGeom prst="rect">
            <a:avLst/>
          </a:prstGeom>
          <a:noFill/>
          <a:ln/>
        </p:spPr>
        <p:txBody>
          <a:bodyPr wrap="square" lIns="0" tIns="0" rIns="0" bIns="0" rtlCol="0" anchor="t"/>
          <a:lstStyle/>
          <a:p>
            <a:pPr indent="0" marL="0">
              <a:buNone/>
            </a:pPr>
            <a:r>
              <a:rPr lang="en-US" sz="2200" b="1" dirty="0">
                <a:solidFill>
                  <a:schemeClr val="bg1"/>
                </a:solidFill>
              </a:rPr>
              <a:t>Publish</a:t>
            </a:r>
            <a:endParaRPr lang="en-US" sz="2200" dirty="0"/>
          </a:p>
        </p:txBody>
      </p:sp>
      <p:sp>
        <p:nvSpPr>
          <p:cNvPr id="25" name="Cover body Publish"/>
          <p:cNvSpPr txBox="1"/>
          <p:nvPr/>
        </p:nvSpPr>
        <p:spPr>
          <a:xfrm>
            <a:off x="9381744" y="3200400"/>
            <a:ext cx="2212848" cy="914400"/>
          </a:xfrm>
          <a:prstGeom prst="rect">
            <a:avLst/>
          </a:prstGeom>
          <a:noFill/>
          <a:ln/>
        </p:spPr>
        <p:txBody>
          <a:bodyPr wrap="square" lIns="0" tIns="0" rIns="0" bIns="0" rtlCol="0" anchor="t"/>
          <a:lstStyle/>
          <a:p>
            <a:pPr indent="0" marL="0">
              <a:buNone/>
            </a:pPr>
            <a:r>
              <a:rPr lang="en-US" sz="1400" dirty="0">
                <a:solidFill>
                  <a:srgbClr val="C5DDD6"/>
                </a:solidFill>
              </a:rPr>
              <a:t>The next file follows that policy.</a:t>
            </a:r>
            <a:endParaRPr lang="en-US" sz="1400" dirty="0"/>
          </a:p>
        </p:txBody>
      </p:sp>
      <p:sp>
        <p:nvSpPr>
          <p:cNvPr id="26" name="Team label"/>
          <p:cNvSpPr txBox="1"/>
          <p:nvPr/>
        </p:nvSpPr>
        <p:spPr>
          <a:xfrm>
            <a:off x="640080" y="4608576"/>
            <a:ext cx="10972800" cy="201168"/>
          </a:xfrm>
          <a:prstGeom prst="rect">
            <a:avLst/>
          </a:prstGeom>
          <a:noFill/>
          <a:ln/>
        </p:spPr>
        <p:txBody>
          <a:bodyPr wrap="square" lIns="0" tIns="0" rIns="0" bIns="0" rtlCol="0" anchor="t"/>
          <a:lstStyle/>
          <a:p>
            <a:pPr indent="0" marL="0">
              <a:buNone/>
            </a:pPr>
            <a:r>
              <a:rPr lang="en-US" sz="1200" b="1" spc="140" kern="0" dirty="0">
                <a:solidFill>
                  <a:srgbClr val="C4A35A"/>
                </a:solidFill>
              </a:rPr>
              <a:t>TEAM</a:t>
            </a:r>
            <a:endParaRPr lang="en-US" sz="1200" dirty="0"/>
          </a:p>
        </p:txBody>
      </p:sp>
      <p:sp>
        <p:nvSpPr>
          <p:cNvPr id="27" name="Team names"/>
          <p:cNvSpPr txBox="1"/>
          <p:nvPr/>
        </p:nvSpPr>
        <p:spPr>
          <a:xfrm>
            <a:off x="640080" y="4846320"/>
            <a:ext cx="10972800" cy="329184"/>
          </a:xfrm>
          <a:prstGeom prst="rect">
            <a:avLst/>
          </a:prstGeom>
          <a:noFill/>
          <a:ln/>
        </p:spPr>
        <p:txBody>
          <a:bodyPr wrap="square" lIns="0" tIns="0" rIns="0" bIns="0" rtlCol="0" anchor="t"/>
          <a:lstStyle/>
          <a:p>
            <a:pPr indent="0" marL="0">
              <a:buNone/>
            </a:pPr>
            <a:r>
              <a:rPr lang="en-US" sz="1800" dirty="0">
                <a:solidFill>
                  <a:schemeClr val="bg1"/>
                </a:solidFill>
              </a:rPr>
              <a:t>Shamiul Islam Shifat   ·   Abdul Raheem   ·   Abdul Kazi</a:t>
            </a:r>
            <a:endParaRPr lang="en-US" sz="18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A8C4BE"/>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The money is waiting on the paperwork</a:t>
            </a:r>
            <a:endParaRPr lang="en-US" sz="3200" dirty="0"/>
          </a:p>
        </p:txBody>
      </p:sp>
      <p:sp>
        <p:nvSpPr>
          <p:cNvPr id="3" name="Problem lead"/>
          <p:cNvSpPr txBox="1"/>
          <p:nvPr/>
        </p:nvSpPr>
        <p:spPr>
          <a:xfrm>
            <a:off x="502920" y="1078992"/>
            <a:ext cx="6766560" cy="1051560"/>
          </a:xfrm>
          <a:prstGeom prst="rect">
            <a:avLst/>
          </a:prstGeom>
          <a:noFill/>
          <a:ln/>
        </p:spPr>
        <p:txBody>
          <a:bodyPr wrap="square" lIns="0" tIns="0" rIns="0" bIns="0" rtlCol="0" anchor="t"/>
          <a:lstStyle/>
          <a:p>
            <a:pPr indent="0" marL="0">
              <a:buNone/>
            </a:pPr>
            <a:r>
              <a:rPr lang="en-US" sz="2000" b="1" dirty="0">
                <a:solidFill>
                  <a:schemeClr val="tx1"/>
                </a:solidFill>
              </a:rPr>
              <a:t>A fundable invoice sits idle because the receipt does not cover it, and the next email has not been written.</a:t>
            </a:r>
            <a:endParaRPr lang="en-US" sz="2000" dirty="0"/>
          </a:p>
        </p:txBody>
      </p:sp>
      <p:sp>
        <p:nvSpPr>
          <p:cNvPr id="4" name="The mismatch"/>
          <p:cNvSpPr/>
          <p:nvPr/>
        </p:nvSpPr>
        <p:spPr>
          <a:xfrm>
            <a:off x="502920" y="2286000"/>
            <a:ext cx="6766560" cy="1152144"/>
          </a:xfrm>
          <a:prstGeom prst="roundRect">
            <a:avLst>
              <a:gd name="adj" fmla="val 7937"/>
            </a:avLst>
          </a:prstGeom>
          <a:solidFill>
            <a:schemeClr val="bg2"/>
          </a:solidFill>
          <a:ln/>
          <a:effectLst>
            <a:outerShdw sx="100000" sy="100000" kx="0" ky="0" algn="bl" rotWithShape="0" blurRad="177800" dist="38100" dir="8400000">
              <a:srgbClr val="0B1F28">
                <a:alpha val="10000"/>
              </a:srgbClr>
            </a:outerShdw>
          </a:effectLst>
        </p:spPr>
      </p:sp>
      <p:sp>
        <p:nvSpPr>
          <p:cNvPr id="5" name="The mismatch h"/>
          <p:cNvSpPr txBox="1"/>
          <p:nvPr/>
        </p:nvSpPr>
        <p:spPr>
          <a:xfrm>
            <a:off x="731520" y="2432304"/>
            <a:ext cx="6355080" cy="292608"/>
          </a:xfrm>
          <a:prstGeom prst="rect">
            <a:avLst/>
          </a:prstGeom>
          <a:noFill/>
          <a:ln/>
        </p:spPr>
        <p:txBody>
          <a:bodyPr wrap="square" lIns="0" tIns="0" rIns="0" bIns="0" rtlCol="0" anchor="t"/>
          <a:lstStyle/>
          <a:p>
            <a:pPr indent="0" marL="0">
              <a:buNone/>
            </a:pPr>
            <a:r>
              <a:rPr lang="en-US" sz="1600" b="1" dirty="0">
                <a:solidFill>
                  <a:schemeClr val="accent1"/>
                </a:solidFill>
              </a:rPr>
              <a:t>The mismatch</a:t>
            </a:r>
            <a:endParaRPr lang="en-US" sz="1600" dirty="0"/>
          </a:p>
        </p:txBody>
      </p:sp>
      <p:sp>
        <p:nvSpPr>
          <p:cNvPr id="6" name="The mismatch b"/>
          <p:cNvSpPr txBox="1"/>
          <p:nvPr/>
        </p:nvSpPr>
        <p:spPr>
          <a:xfrm>
            <a:off x="731520" y="2779776"/>
            <a:ext cx="6355080" cy="502920"/>
          </a:xfrm>
          <a:prstGeom prst="rect">
            <a:avLst/>
          </a:prstGeom>
          <a:noFill/>
          <a:ln/>
        </p:spPr>
        <p:txBody>
          <a:bodyPr wrap="square" lIns="0" tIns="0" rIns="0" bIns="0" rtlCol="0" anchor="t"/>
          <a:lstStyle/>
          <a:p>
            <a:pPr indent="0" marL="0">
              <a:buNone/>
            </a:pPr>
            <a:r>
              <a:rPr lang="en-US" sz="1400" dirty="0">
                <a:solidFill>
                  <a:schemeClr val="tx1"/>
                </a:solidFill>
              </a:rPr>
              <a:t>Invoice total and delivery evidence disagree, or part of the goods never arrived.</a:t>
            </a:r>
            <a:endParaRPr lang="en-US" sz="1400" dirty="0"/>
          </a:p>
        </p:txBody>
      </p:sp>
      <p:sp>
        <p:nvSpPr>
          <p:cNvPr id="7" name="The second ask"/>
          <p:cNvSpPr/>
          <p:nvPr/>
        </p:nvSpPr>
        <p:spPr>
          <a:xfrm>
            <a:off x="502920" y="3547872"/>
            <a:ext cx="6766560" cy="1152144"/>
          </a:xfrm>
          <a:prstGeom prst="roundRect">
            <a:avLst>
              <a:gd name="adj" fmla="val 7937"/>
            </a:avLst>
          </a:prstGeom>
          <a:solidFill>
            <a:schemeClr val="bg2"/>
          </a:solidFill>
          <a:ln/>
          <a:effectLst>
            <a:outerShdw sx="100000" sy="100000" kx="0" ky="0" algn="bl" rotWithShape="0" blurRad="177800" dist="38100" dir="8400000">
              <a:srgbClr val="0B1F28">
                <a:alpha val="10000"/>
              </a:srgbClr>
            </a:outerShdw>
          </a:effectLst>
        </p:spPr>
      </p:sp>
      <p:sp>
        <p:nvSpPr>
          <p:cNvPr id="8" name="The second ask h"/>
          <p:cNvSpPr txBox="1"/>
          <p:nvPr/>
        </p:nvSpPr>
        <p:spPr>
          <a:xfrm>
            <a:off x="731520" y="3694176"/>
            <a:ext cx="6355080" cy="292608"/>
          </a:xfrm>
          <a:prstGeom prst="rect">
            <a:avLst/>
          </a:prstGeom>
          <a:noFill/>
          <a:ln/>
        </p:spPr>
        <p:txBody>
          <a:bodyPr wrap="square" lIns="0" tIns="0" rIns="0" bIns="0" rtlCol="0" anchor="t"/>
          <a:lstStyle/>
          <a:p>
            <a:pPr indent="0" marL="0">
              <a:buNone/>
            </a:pPr>
            <a:r>
              <a:rPr lang="en-US" sz="1600" b="1" dirty="0">
                <a:solidFill>
                  <a:schemeClr val="accent1"/>
                </a:solidFill>
              </a:rPr>
              <a:t>The second ask</a:t>
            </a:r>
            <a:endParaRPr lang="en-US" sz="1600" dirty="0"/>
          </a:p>
        </p:txBody>
      </p:sp>
      <p:sp>
        <p:nvSpPr>
          <p:cNvPr id="9" name="The second ask b"/>
          <p:cNvSpPr txBox="1"/>
          <p:nvPr/>
        </p:nvSpPr>
        <p:spPr>
          <a:xfrm>
            <a:off x="731520" y="4041648"/>
            <a:ext cx="6355080" cy="502920"/>
          </a:xfrm>
          <a:prstGeom prst="rect">
            <a:avLst/>
          </a:prstGeom>
          <a:noFill/>
          <a:ln/>
        </p:spPr>
        <p:txBody>
          <a:bodyPr wrap="square" lIns="0" tIns="0" rIns="0" bIns="0" rtlCol="0" anchor="t"/>
          <a:lstStyle/>
          <a:p>
            <a:pPr indent="0" marL="0">
              <a:buNone/>
            </a:pPr>
            <a:r>
              <a:rPr lang="en-US" sz="1400" dirty="0">
                <a:solidFill>
                  <a:schemeClr val="tx1"/>
                </a:solidFill>
              </a:rPr>
              <a:t>The reviewer writes, waits, and writes again. Earnings wait with that email.</a:t>
            </a:r>
            <a:endParaRPr lang="en-US" sz="1400" dirty="0"/>
          </a:p>
        </p:txBody>
      </p:sp>
      <p:sp>
        <p:nvSpPr>
          <p:cNvPr id="10" name="No shared file"/>
          <p:cNvSpPr/>
          <p:nvPr/>
        </p:nvSpPr>
        <p:spPr>
          <a:xfrm>
            <a:off x="502920" y="4809744"/>
            <a:ext cx="6766560" cy="1152144"/>
          </a:xfrm>
          <a:prstGeom prst="roundRect">
            <a:avLst>
              <a:gd name="adj" fmla="val 7937"/>
            </a:avLst>
          </a:prstGeom>
          <a:solidFill>
            <a:schemeClr val="bg2"/>
          </a:solidFill>
          <a:ln/>
          <a:effectLst>
            <a:outerShdw sx="100000" sy="100000" kx="0" ky="0" algn="bl" rotWithShape="0" blurRad="177800" dist="38100" dir="8400000">
              <a:srgbClr val="0B1F28">
                <a:alpha val="10000"/>
              </a:srgbClr>
            </a:outerShdw>
          </a:effectLst>
        </p:spPr>
      </p:sp>
      <p:sp>
        <p:nvSpPr>
          <p:cNvPr id="11" name="No shared file h"/>
          <p:cNvSpPr txBox="1"/>
          <p:nvPr/>
        </p:nvSpPr>
        <p:spPr>
          <a:xfrm>
            <a:off x="731520" y="4956048"/>
            <a:ext cx="6355080" cy="292608"/>
          </a:xfrm>
          <a:prstGeom prst="rect">
            <a:avLst/>
          </a:prstGeom>
          <a:noFill/>
          <a:ln/>
        </p:spPr>
        <p:txBody>
          <a:bodyPr wrap="square" lIns="0" tIns="0" rIns="0" bIns="0" rtlCol="0" anchor="t"/>
          <a:lstStyle/>
          <a:p>
            <a:pPr indent="0" marL="0">
              <a:buNone/>
            </a:pPr>
            <a:r>
              <a:rPr lang="en-US" sz="1600" b="1" dirty="0">
                <a:solidFill>
                  <a:schemeClr val="accent1"/>
                </a:solidFill>
              </a:rPr>
              <a:t>No shared file</a:t>
            </a:r>
            <a:endParaRPr lang="en-US" sz="1600" dirty="0"/>
          </a:p>
        </p:txBody>
      </p:sp>
      <p:sp>
        <p:nvSpPr>
          <p:cNvPr id="12" name="No shared file b"/>
          <p:cNvSpPr txBox="1"/>
          <p:nvPr/>
        </p:nvSpPr>
        <p:spPr>
          <a:xfrm>
            <a:off x="731520" y="5303520"/>
            <a:ext cx="6355080" cy="502920"/>
          </a:xfrm>
          <a:prstGeom prst="rect">
            <a:avLst/>
          </a:prstGeom>
          <a:noFill/>
          <a:ln/>
        </p:spPr>
        <p:txBody>
          <a:bodyPr wrap="square" lIns="0" tIns="0" rIns="0" bIns="0" rtlCol="0" anchor="t"/>
          <a:lstStyle/>
          <a:p>
            <a:pPr indent="0" marL="0">
              <a:buNone/>
            </a:pPr>
            <a:r>
              <a:rPr lang="en-US" sz="1400" dirty="0">
                <a:solidFill>
                  <a:schemeClr val="tx1"/>
                </a:solidFill>
              </a:rPr>
              <a:t>The business cannot see the block. The bank cannot show how the pack cleared.</a:t>
            </a:r>
            <a:endParaRPr lang="en-US" sz="1400" dirty="0"/>
          </a:p>
        </p:txBody>
      </p:sp>
      <p:sp>
        <p:nvSpPr>
          <p:cNvPr id="13" name="Cost panel"/>
          <p:cNvSpPr/>
          <p:nvPr/>
        </p:nvSpPr>
        <p:spPr>
          <a:xfrm>
            <a:off x="7498080" y="1078992"/>
            <a:ext cx="4160520" cy="5010912"/>
          </a:xfrm>
          <a:prstGeom prst="roundRect">
            <a:avLst>
              <a:gd name="adj" fmla="val 2198"/>
            </a:avLst>
          </a:prstGeom>
          <a:solidFill>
            <a:srgbClr val="0B1F28"/>
          </a:solidFill>
          <a:ln/>
          <a:effectLst>
            <a:outerShdw sx="100000" sy="100000" kx="0" ky="0" algn="bl" rotWithShape="0" blurRad="177800" dist="38100" dir="8400000">
              <a:srgbClr val="0B1F28">
                <a:alpha val="10000"/>
              </a:srgbClr>
            </a:outerShdw>
          </a:effectLst>
        </p:spPr>
      </p:sp>
      <p:sp>
        <p:nvSpPr>
          <p:cNvPr id="14" name="Cost line"/>
          <p:cNvSpPr txBox="1"/>
          <p:nvPr/>
        </p:nvSpPr>
        <p:spPr>
          <a:xfrm>
            <a:off x="7754112" y="1371600"/>
            <a:ext cx="3703320" cy="1280160"/>
          </a:xfrm>
          <a:prstGeom prst="rect">
            <a:avLst/>
          </a:prstGeom>
          <a:noFill/>
          <a:ln/>
        </p:spPr>
        <p:txBody>
          <a:bodyPr wrap="square" lIns="0" tIns="0" rIns="0" bIns="0" rtlCol="0" anchor="t"/>
          <a:lstStyle/>
          <a:p>
            <a:pPr indent="0" marL="0">
              <a:buNone/>
            </a:pPr>
            <a:r>
              <a:rPr lang="en-US" sz="2000" b="1" dirty="0">
                <a:solidFill>
                  <a:schemeClr val="bg1"/>
                </a:solidFill>
              </a:rPr>
              <a:t>Invoice finance earns when the pack is accepted or declined.</a:t>
            </a:r>
            <a:endParaRPr lang="en-US" sz="2000" dirty="0"/>
          </a:p>
        </p:txBody>
      </p:sp>
      <p:sp>
        <p:nvSpPr>
          <p:cNvPr id="15" name="Cost body"/>
          <p:cNvSpPr txBox="1"/>
          <p:nvPr/>
        </p:nvSpPr>
        <p:spPr>
          <a:xfrm>
            <a:off x="7754112" y="2834640"/>
            <a:ext cx="3703320" cy="1463040"/>
          </a:xfrm>
          <a:prstGeom prst="rect">
            <a:avLst/>
          </a:prstGeom>
          <a:noFill/>
          <a:ln/>
        </p:spPr>
        <p:txBody>
          <a:bodyPr wrap="square" lIns="0" tIns="0" rIns="0" bIns="0" rtlCol="0" anchor="t"/>
          <a:lstStyle/>
          <a:p>
            <a:pPr indent="0" marL="0">
              <a:buNone/>
            </a:pPr>
            <a:r>
              <a:rPr lang="en-US" sz="1600" dirty="0">
                <a:solidFill>
                  <a:srgbClr val="C5DDD6"/>
                </a:solidFill>
              </a:rPr>
              <a:t>Until then the facility is idle capital. A missing receipt is not a credit decision. It is a stalled file.</a:t>
            </a:r>
            <a:endParaRPr lang="en-US" sz="1600" dirty="0"/>
          </a:p>
        </p:txBody>
      </p:sp>
      <p:sp>
        <p:nvSpPr>
          <p:cNvPr id="16" name="Cost close"/>
          <p:cNvSpPr txBox="1"/>
          <p:nvPr/>
        </p:nvSpPr>
        <p:spPr>
          <a:xfrm>
            <a:off x="7754112" y="4480560"/>
            <a:ext cx="3703320" cy="1280160"/>
          </a:xfrm>
          <a:prstGeom prst="rect">
            <a:avLst/>
          </a:prstGeom>
          <a:noFill/>
          <a:ln/>
        </p:spPr>
        <p:txBody>
          <a:bodyPr wrap="square" lIns="0" tIns="0" rIns="0" bIns="0" rtlCol="0" anchor="t"/>
          <a:lstStyle/>
          <a:p>
            <a:pPr indent="0" marL="0">
              <a:buNone/>
            </a:pPr>
            <a:r>
              <a:rPr lang="en-US" sz="1500" dirty="0">
                <a:solidFill>
                  <a:srgbClr val="C4A35A"/>
                </a:solidFill>
              </a:rPr>
              <a:t>The expensive part is asking once, recording the answer, and knowing what still blocks the file.</a:t>
            </a:r>
            <a:endParaRPr lang="en-US" sz="15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What a faster, cleaner file is worth</a:t>
            </a:r>
            <a:endParaRPr lang="en-US" sz="3200" dirty="0"/>
          </a:p>
        </p:txBody>
      </p:sp>
      <p:sp>
        <p:nvSpPr>
          <p:cNvPr id="3" name="Turn the pack in one sitting"/>
          <p:cNvSpPr/>
          <p:nvPr/>
        </p:nvSpPr>
        <p:spPr>
          <a:xfrm>
            <a:off x="502920" y="1115568"/>
            <a:ext cx="5623560" cy="2304288"/>
          </a:xfrm>
          <a:prstGeom prst="roundRect">
            <a:avLst>
              <a:gd name="adj" fmla="val 3968"/>
            </a:avLst>
          </a:prstGeom>
          <a:solidFill>
            <a:srgbClr val="E4F2EF"/>
          </a:solidFill>
          <a:ln/>
          <a:effectLst>
            <a:outerShdw sx="100000" sy="100000" kx="0" ky="0" algn="bl" rotWithShape="0" blurRad="177800" dist="38100" dir="8400000">
              <a:srgbClr val="0B1F28">
                <a:alpha val="10000"/>
              </a:srgbClr>
            </a:outerShdw>
          </a:effectLst>
        </p:spPr>
      </p:sp>
      <p:sp>
        <p:nvSpPr>
          <p:cNvPr id="4" name="Turn the pack in one sitting h"/>
          <p:cNvSpPr txBox="1"/>
          <p:nvPr/>
        </p:nvSpPr>
        <p:spPr>
          <a:xfrm>
            <a:off x="777240" y="1371600"/>
            <a:ext cx="5074920" cy="640080"/>
          </a:xfrm>
          <a:prstGeom prst="rect">
            <a:avLst/>
          </a:prstGeom>
          <a:noFill/>
          <a:ln/>
        </p:spPr>
        <p:txBody>
          <a:bodyPr wrap="square" lIns="0" tIns="0" rIns="0" bIns="0" rtlCol="0" anchor="t"/>
          <a:lstStyle/>
          <a:p>
            <a:pPr indent="0" marL="0">
              <a:buNone/>
            </a:pPr>
            <a:r>
              <a:rPr lang="en-US" sz="2000" b="1" dirty="0">
                <a:solidFill>
                  <a:schemeClr val="tx1"/>
                </a:solidFill>
              </a:rPr>
              <a:t>Turn the pack in one sitting</a:t>
            </a:r>
            <a:endParaRPr lang="en-US" sz="2000" dirty="0"/>
          </a:p>
        </p:txBody>
      </p:sp>
      <p:sp>
        <p:nvSpPr>
          <p:cNvPr id="5" name="Turn the pack in one sitting b"/>
          <p:cNvSpPr txBox="1"/>
          <p:nvPr/>
        </p:nvSpPr>
        <p:spPr>
          <a:xfrm>
            <a:off x="777240" y="2103120"/>
            <a:ext cx="5074920" cy="1078992"/>
          </a:xfrm>
          <a:prstGeom prst="rect">
            <a:avLst/>
          </a:prstGeom>
          <a:noFill/>
          <a:ln/>
        </p:spPr>
        <p:txBody>
          <a:bodyPr wrap="square" lIns="0" tIns="0" rIns="0" bIns="0" rtlCol="0" anchor="t"/>
          <a:lstStyle/>
          <a:p>
            <a:pPr indent="0" marL="0">
              <a:buNone/>
            </a:pPr>
            <a:r>
              <a:rPr lang="en-US" sz="1500" dirty="0">
                <a:solidFill>
                  <a:schemeClr val="tx1"/>
                </a:solidFill>
              </a:rPr>
              <a:t>The reviewer opens a case that is already read. Gaps leave together. Earnings start when the pack is clean enough to accept or send back.</a:t>
            </a:r>
            <a:endParaRPr lang="en-US" sz="1500" dirty="0"/>
          </a:p>
        </p:txBody>
      </p:sp>
      <p:sp>
        <p:nvSpPr>
          <p:cNvPr id="6" name="Hold the book, not the inbox"/>
          <p:cNvSpPr/>
          <p:nvPr/>
        </p:nvSpPr>
        <p:spPr>
          <a:xfrm>
            <a:off x="6309360" y="1115568"/>
            <a:ext cx="5623560"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7" name="Hold the book, not the inbox h"/>
          <p:cNvSpPr txBox="1"/>
          <p:nvPr/>
        </p:nvSpPr>
        <p:spPr>
          <a:xfrm>
            <a:off x="6583680" y="1371600"/>
            <a:ext cx="5074920" cy="640080"/>
          </a:xfrm>
          <a:prstGeom prst="rect">
            <a:avLst/>
          </a:prstGeom>
          <a:noFill/>
          <a:ln/>
        </p:spPr>
        <p:txBody>
          <a:bodyPr wrap="square" lIns="0" tIns="0" rIns="0" bIns="0" rtlCol="0" anchor="t"/>
          <a:lstStyle/>
          <a:p>
            <a:pPr indent="0" marL="0">
              <a:buNone/>
            </a:pPr>
            <a:r>
              <a:rPr lang="en-US" sz="2000" b="1" dirty="0">
                <a:solidFill>
                  <a:schemeClr val="tx1"/>
                </a:solidFill>
              </a:rPr>
              <a:t>Hold the book, not the inbox</a:t>
            </a:r>
            <a:endParaRPr lang="en-US" sz="2000" dirty="0"/>
          </a:p>
        </p:txBody>
      </p:sp>
      <p:sp>
        <p:nvSpPr>
          <p:cNvPr id="8" name="Hold the book, not the inbox b"/>
          <p:cNvSpPr txBox="1"/>
          <p:nvPr/>
        </p:nvSpPr>
        <p:spPr>
          <a:xfrm>
            <a:off x="6583680" y="2103120"/>
            <a:ext cx="5074920" cy="1078992"/>
          </a:xfrm>
          <a:prstGeom prst="rect">
            <a:avLst/>
          </a:prstGeom>
          <a:noFill/>
          <a:ln/>
        </p:spPr>
        <p:txBody>
          <a:bodyPr wrap="square" lIns="0" tIns="0" rIns="0" bIns="0" rtlCol="0" anchor="t"/>
          <a:lstStyle/>
          <a:p>
            <a:pPr indent="0" marL="0">
              <a:buNone/>
            </a:pPr>
            <a:r>
              <a:rPr lang="en-US" sz="1500" dirty="0">
                <a:solidFill>
                  <a:schemeClr val="tx1"/>
                </a:solidFill>
              </a:rPr>
              <a:t>The same seller invoice on a second case stays on hold. A copied file on one case is counted once. Neither is a financing verdict.</a:t>
            </a:r>
            <a:endParaRPr lang="en-US" sz="1500" dirty="0"/>
          </a:p>
        </p:txBody>
      </p:sp>
      <p:sp>
        <p:nvSpPr>
          <p:cNvPr id="9" name="Leave a file the bank can defend"/>
          <p:cNvSpPr/>
          <p:nvPr/>
        </p:nvSpPr>
        <p:spPr>
          <a:xfrm>
            <a:off x="502920" y="3584448"/>
            <a:ext cx="5623560"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0" name="Leave a file the bank can defend h"/>
          <p:cNvSpPr txBox="1"/>
          <p:nvPr/>
        </p:nvSpPr>
        <p:spPr>
          <a:xfrm>
            <a:off x="777240" y="3840480"/>
            <a:ext cx="5074920" cy="640080"/>
          </a:xfrm>
          <a:prstGeom prst="rect">
            <a:avLst/>
          </a:prstGeom>
          <a:noFill/>
          <a:ln/>
        </p:spPr>
        <p:txBody>
          <a:bodyPr wrap="square" lIns="0" tIns="0" rIns="0" bIns="0" rtlCol="0" anchor="t"/>
          <a:lstStyle/>
          <a:p>
            <a:pPr indent="0" marL="0">
              <a:buNone/>
            </a:pPr>
            <a:r>
              <a:rPr lang="en-US" sz="2000" b="1" dirty="0">
                <a:solidFill>
                  <a:schemeClr val="tx1"/>
                </a:solidFill>
              </a:rPr>
              <a:t>Leave a file the bank can defend</a:t>
            </a:r>
            <a:endParaRPr lang="en-US" sz="2000" dirty="0"/>
          </a:p>
        </p:txBody>
      </p:sp>
      <p:sp>
        <p:nvSpPr>
          <p:cNvPr id="11" name="Leave a file the bank can defend b"/>
          <p:cNvSpPr txBox="1"/>
          <p:nvPr/>
        </p:nvSpPr>
        <p:spPr>
          <a:xfrm>
            <a:off x="777240" y="4572000"/>
            <a:ext cx="5074920" cy="1078992"/>
          </a:xfrm>
          <a:prstGeom prst="rect">
            <a:avLst/>
          </a:prstGeom>
          <a:noFill/>
          <a:ln/>
        </p:spPr>
        <p:txBody>
          <a:bodyPr wrap="square" lIns="0" tIns="0" rIns="0" bIns="0" rtlCol="0" anchor="t"/>
          <a:lstStyle/>
          <a:p>
            <a:pPr indent="0" marL="0">
              <a:buNone/>
            </a:pPr>
            <a:r>
              <a:rPr lang="en-US" sz="1500" dirty="0">
                <a:solidFill>
                  <a:schemeClr val="tx1"/>
                </a:solidFill>
              </a:rPr>
              <a:t>A frozen PDF and JSON. The client notice omits reviewer names, notes, and model traces. Originals stay hashed.</a:t>
            </a:r>
            <a:endParaRPr lang="en-US" sz="1500" dirty="0"/>
          </a:p>
        </p:txBody>
      </p:sp>
      <p:sp>
        <p:nvSpPr>
          <p:cNvPr id="12" name="Publish the rule once"/>
          <p:cNvSpPr/>
          <p:nvPr/>
        </p:nvSpPr>
        <p:spPr>
          <a:xfrm>
            <a:off x="6309360" y="3584448"/>
            <a:ext cx="5623560"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3" name="Publish the rule once h"/>
          <p:cNvSpPr txBox="1"/>
          <p:nvPr/>
        </p:nvSpPr>
        <p:spPr>
          <a:xfrm>
            <a:off x="6583680" y="3840480"/>
            <a:ext cx="5074920" cy="640080"/>
          </a:xfrm>
          <a:prstGeom prst="rect">
            <a:avLst/>
          </a:prstGeom>
          <a:noFill/>
          <a:ln/>
        </p:spPr>
        <p:txBody>
          <a:bodyPr wrap="square" lIns="0" tIns="0" rIns="0" bIns="0" rtlCol="0" anchor="t"/>
          <a:lstStyle/>
          <a:p>
            <a:pPr indent="0" marL="0">
              <a:buNone/>
            </a:pPr>
            <a:r>
              <a:rPr lang="en-US" sz="2000" b="1" dirty="0">
                <a:solidFill>
                  <a:schemeClr val="tx1"/>
                </a:solidFill>
              </a:rPr>
              <a:t>Publish the rule once</a:t>
            </a:r>
            <a:endParaRPr lang="en-US" sz="2000" dirty="0"/>
          </a:p>
        </p:txBody>
      </p:sp>
      <p:sp>
        <p:nvSpPr>
          <p:cNvPr id="14" name="Publish the rule once b"/>
          <p:cNvSpPr txBox="1"/>
          <p:nvPr/>
        </p:nvSpPr>
        <p:spPr>
          <a:xfrm>
            <a:off x="6583680" y="4572000"/>
            <a:ext cx="5074920" cy="1078992"/>
          </a:xfrm>
          <a:prstGeom prst="rect">
            <a:avLst/>
          </a:prstGeom>
          <a:noFill/>
          <a:ln/>
        </p:spPr>
        <p:txBody>
          <a:bodyPr wrap="square" lIns="0" tIns="0" rIns="0" bIns="0" rtlCol="0" anchor="t"/>
          <a:lstStyle/>
          <a:p>
            <a:pPr indent="0" marL="0">
              <a:buNone/>
            </a:pPr>
            <a:r>
              <a:rPr lang="en-US" sz="1500" dirty="0">
                <a:solidFill>
                  <a:schemeClr val="tx1"/>
                </a:solidFill>
              </a:rPr>
              <a:t>Any desk that can write a checklist can run this copilot on its finance documents. Invoice finance today. Another pack when that policy exists.</a:t>
            </a:r>
            <a:endParaRPr lang="en-US" sz="15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One copilot. Five people. One file</a:t>
            </a:r>
            <a:endParaRPr lang="en-US" sz="3200" dirty="0"/>
          </a:p>
        </p:txBody>
      </p:sp>
      <p:sp>
        <p:nvSpPr>
          <p:cNvPr id="3" name="People lead"/>
          <p:cNvSpPr txBox="1"/>
          <p:nvPr/>
        </p:nvSpPr>
        <p:spPr>
          <a:xfrm>
            <a:off x="502920" y="1005840"/>
            <a:ext cx="11155680" cy="292608"/>
          </a:xfrm>
          <a:prstGeom prst="rect">
            <a:avLst/>
          </a:prstGeom>
          <a:noFill/>
          <a:ln/>
        </p:spPr>
        <p:txBody>
          <a:bodyPr wrap="square" lIns="0" tIns="0" rIns="0" bIns="0" rtlCol="0" anchor="t"/>
          <a:lstStyle/>
          <a:p>
            <a:pPr indent="0" marL="0">
              <a:buNone/>
            </a:pPr>
            <a:r>
              <a:rPr lang="en-US" sz="1600" dirty="0">
                <a:solidFill>
                  <a:schemeClr val="tx2"/>
                </a:solidFill>
              </a:rPr>
              <a:t>The same case. Different authority. The film uses Priya and Sam.</a:t>
            </a:r>
            <a:endParaRPr lang="en-US" sz="1600" dirty="0"/>
          </a:p>
        </p:txBody>
      </p:sp>
      <p:sp>
        <p:nvSpPr>
          <p:cNvPr id="4" name="Priya"/>
          <p:cNvSpPr/>
          <p:nvPr/>
        </p:nvSpPr>
        <p:spPr>
          <a:xfrm>
            <a:off x="502920" y="1444752"/>
            <a:ext cx="2176272" cy="3520440"/>
          </a:xfrm>
          <a:prstGeom prst="roundRect">
            <a:avLst>
              <a:gd name="adj" fmla="val 4202"/>
            </a:avLst>
          </a:prstGeom>
          <a:solidFill>
            <a:srgbClr val="E4F2EF"/>
          </a:solidFill>
          <a:ln/>
          <a:effectLst>
            <a:outerShdw sx="100000" sy="100000" kx="0" ky="0" algn="bl" rotWithShape="0" blurRad="177800" dist="38100" dir="8400000">
              <a:srgbClr val="0B1F28">
                <a:alpha val="10000"/>
              </a:srgbClr>
            </a:outerShdw>
          </a:effectLst>
        </p:spPr>
      </p:sp>
      <p:sp>
        <p:nvSpPr>
          <p:cNvPr id="5" name="Priya n"/>
          <p:cNvSpPr txBox="1"/>
          <p:nvPr/>
        </p:nvSpPr>
        <p:spPr>
          <a:xfrm>
            <a:off x="649224" y="1645920"/>
            <a:ext cx="1883664" cy="384048"/>
          </a:xfrm>
          <a:prstGeom prst="rect">
            <a:avLst/>
          </a:prstGeom>
          <a:noFill/>
          <a:ln/>
        </p:spPr>
        <p:txBody>
          <a:bodyPr wrap="square" lIns="0" tIns="0" rIns="0" bIns="0" rtlCol="0" anchor="t"/>
          <a:lstStyle/>
          <a:p>
            <a:pPr indent="0" marL="0">
              <a:buNone/>
            </a:pPr>
            <a:r>
              <a:rPr lang="en-US" sz="2000" b="1" dirty="0">
                <a:solidFill>
                  <a:schemeClr val="tx1"/>
                </a:solidFill>
              </a:rPr>
              <a:t>Priya</a:t>
            </a:r>
            <a:endParaRPr lang="en-US" sz="2000" dirty="0"/>
          </a:p>
        </p:txBody>
      </p:sp>
      <p:sp>
        <p:nvSpPr>
          <p:cNvPr id="6" name="Priya r"/>
          <p:cNvSpPr txBox="1"/>
          <p:nvPr/>
        </p:nvSpPr>
        <p:spPr>
          <a:xfrm>
            <a:off x="649224" y="2084832"/>
            <a:ext cx="1883664" cy="292608"/>
          </a:xfrm>
          <a:prstGeom prst="rect">
            <a:avLst/>
          </a:prstGeom>
          <a:noFill/>
          <a:ln/>
        </p:spPr>
        <p:txBody>
          <a:bodyPr wrap="square" lIns="0" tIns="0" rIns="0" bIns="0" rtlCol="0" anchor="t"/>
          <a:lstStyle/>
          <a:p>
            <a:pPr indent="0" marL="0">
              <a:buNone/>
            </a:pPr>
            <a:r>
              <a:rPr lang="en-US" sz="1300" b="1" dirty="0">
                <a:solidFill>
                  <a:schemeClr val="accent1"/>
                </a:solidFill>
              </a:rPr>
              <a:t>Reviewer</a:t>
            </a:r>
            <a:endParaRPr lang="en-US" sz="1300" dirty="0"/>
          </a:p>
        </p:txBody>
      </p:sp>
      <p:sp>
        <p:nvSpPr>
          <p:cNvPr id="7" name="Priya b"/>
          <p:cNvSpPr txBox="1"/>
          <p:nvPr/>
        </p:nvSpPr>
        <p:spPr>
          <a:xfrm>
            <a:off x="649224" y="2542032"/>
            <a:ext cx="1883664" cy="2194560"/>
          </a:xfrm>
          <a:prstGeom prst="rect">
            <a:avLst/>
          </a:prstGeom>
          <a:noFill/>
          <a:ln/>
        </p:spPr>
        <p:txBody>
          <a:bodyPr wrap="square" lIns="0" tIns="0" rIns="0" bIns="0" rtlCol="0" anchor="t"/>
          <a:lstStyle/>
          <a:p>
            <a:pPr indent="0" marL="0">
              <a:buNone/>
            </a:pPr>
            <a:r>
              <a:rPr lang="en-US" sz="1400" dirty="0">
                <a:solidFill>
                  <a:schemeClr val="tx1"/>
                </a:solidFill>
              </a:rPr>
              <a:t>Sees the quote, the checklist, and one request. Records exceptions. Does not publish policy.</a:t>
            </a:r>
            <a:endParaRPr lang="en-US" sz="1400" dirty="0"/>
          </a:p>
        </p:txBody>
      </p:sp>
      <p:sp>
        <p:nvSpPr>
          <p:cNvPr id="8" name="Daniel"/>
          <p:cNvSpPr/>
          <p:nvPr/>
        </p:nvSpPr>
        <p:spPr>
          <a:xfrm>
            <a:off x="2788920" y="1444752"/>
            <a:ext cx="2176272" cy="3520440"/>
          </a:xfrm>
          <a:prstGeom prst="roundRect">
            <a:avLst>
              <a:gd name="adj" fmla="val 4202"/>
            </a:avLst>
          </a:prstGeom>
          <a:solidFill>
            <a:schemeClr val="bg2"/>
          </a:solidFill>
          <a:ln/>
          <a:effectLst>
            <a:outerShdw sx="100000" sy="100000" kx="0" ky="0" algn="bl" rotWithShape="0" blurRad="177800" dist="38100" dir="8400000">
              <a:srgbClr val="0B1F28">
                <a:alpha val="10000"/>
              </a:srgbClr>
            </a:outerShdw>
          </a:effectLst>
        </p:spPr>
      </p:sp>
      <p:sp>
        <p:nvSpPr>
          <p:cNvPr id="9" name="Daniel n"/>
          <p:cNvSpPr txBox="1"/>
          <p:nvPr/>
        </p:nvSpPr>
        <p:spPr>
          <a:xfrm>
            <a:off x="2935224" y="1645920"/>
            <a:ext cx="1883664" cy="384048"/>
          </a:xfrm>
          <a:prstGeom prst="rect">
            <a:avLst/>
          </a:prstGeom>
          <a:noFill/>
          <a:ln/>
        </p:spPr>
        <p:txBody>
          <a:bodyPr wrap="square" lIns="0" tIns="0" rIns="0" bIns="0" rtlCol="0" anchor="t"/>
          <a:lstStyle/>
          <a:p>
            <a:pPr indent="0" marL="0">
              <a:buNone/>
            </a:pPr>
            <a:r>
              <a:rPr lang="en-US" sz="2000" b="1" dirty="0">
                <a:solidFill>
                  <a:schemeClr val="tx1"/>
                </a:solidFill>
              </a:rPr>
              <a:t>Daniel</a:t>
            </a:r>
            <a:endParaRPr lang="en-US" sz="2000" dirty="0"/>
          </a:p>
        </p:txBody>
      </p:sp>
      <p:sp>
        <p:nvSpPr>
          <p:cNvPr id="10" name="Daniel r"/>
          <p:cNvSpPr txBox="1"/>
          <p:nvPr/>
        </p:nvSpPr>
        <p:spPr>
          <a:xfrm>
            <a:off x="2935224" y="2084832"/>
            <a:ext cx="1883664" cy="292608"/>
          </a:xfrm>
          <a:prstGeom prst="rect">
            <a:avLst/>
          </a:prstGeom>
          <a:noFill/>
          <a:ln/>
        </p:spPr>
        <p:txBody>
          <a:bodyPr wrap="square" lIns="0" tIns="0" rIns="0" bIns="0" rtlCol="0" anchor="t"/>
          <a:lstStyle/>
          <a:p>
            <a:pPr indent="0" marL="0">
              <a:buNone/>
            </a:pPr>
            <a:r>
              <a:rPr lang="en-US" sz="1300" b="1" dirty="0">
                <a:solidFill>
                  <a:schemeClr val="accent1"/>
                </a:solidFill>
              </a:rPr>
              <a:t>Supervisor</a:t>
            </a:r>
            <a:endParaRPr lang="en-US" sz="1300" dirty="0"/>
          </a:p>
        </p:txBody>
      </p:sp>
      <p:sp>
        <p:nvSpPr>
          <p:cNvPr id="11" name="Daniel b"/>
          <p:cNvSpPr txBox="1"/>
          <p:nvPr/>
        </p:nvSpPr>
        <p:spPr>
          <a:xfrm>
            <a:off x="2935224" y="2542032"/>
            <a:ext cx="1883664" cy="2194560"/>
          </a:xfrm>
          <a:prstGeom prst="rect">
            <a:avLst/>
          </a:prstGeom>
          <a:noFill/>
          <a:ln/>
        </p:spPr>
        <p:txBody>
          <a:bodyPr wrap="square" lIns="0" tIns="0" rIns="0" bIns="0" rtlCol="0" anchor="t"/>
          <a:lstStyle/>
          <a:p>
            <a:pPr indent="0" marL="0">
              <a:buNone/>
            </a:pPr>
            <a:r>
              <a:rPr lang="en-US" sz="1400" dirty="0">
                <a:solidFill>
                  <a:schemeClr val="tx1"/>
                </a:solidFill>
              </a:rPr>
              <a:t>Publishes policy and extends budget. Same review tools, plus those two gates.</a:t>
            </a:r>
            <a:endParaRPr lang="en-US" sz="1400" dirty="0"/>
          </a:p>
        </p:txBody>
      </p:sp>
      <p:sp>
        <p:nvSpPr>
          <p:cNvPr id="12" name="Sam"/>
          <p:cNvSpPr/>
          <p:nvPr/>
        </p:nvSpPr>
        <p:spPr>
          <a:xfrm>
            <a:off x="5074920" y="1444752"/>
            <a:ext cx="2176272" cy="3520440"/>
          </a:xfrm>
          <a:prstGeom prst="roundRect">
            <a:avLst>
              <a:gd name="adj" fmla="val 4202"/>
            </a:avLst>
          </a:prstGeom>
          <a:solidFill>
            <a:schemeClr val="bg2"/>
          </a:solidFill>
          <a:ln/>
          <a:effectLst>
            <a:outerShdw sx="100000" sy="100000" kx="0" ky="0" algn="bl" rotWithShape="0" blurRad="177800" dist="38100" dir="8400000">
              <a:srgbClr val="0B1F28">
                <a:alpha val="10000"/>
              </a:srgbClr>
            </a:outerShdw>
          </a:effectLst>
        </p:spPr>
      </p:sp>
      <p:sp>
        <p:nvSpPr>
          <p:cNvPr id="13" name="Sam n"/>
          <p:cNvSpPr txBox="1"/>
          <p:nvPr/>
        </p:nvSpPr>
        <p:spPr>
          <a:xfrm>
            <a:off x="5221224" y="1645920"/>
            <a:ext cx="1883664" cy="384048"/>
          </a:xfrm>
          <a:prstGeom prst="rect">
            <a:avLst/>
          </a:prstGeom>
          <a:noFill/>
          <a:ln/>
        </p:spPr>
        <p:txBody>
          <a:bodyPr wrap="square" lIns="0" tIns="0" rIns="0" bIns="0" rtlCol="0" anchor="t"/>
          <a:lstStyle/>
          <a:p>
            <a:pPr indent="0" marL="0">
              <a:buNone/>
            </a:pPr>
            <a:r>
              <a:rPr lang="en-US" sz="2000" b="1" dirty="0">
                <a:solidFill>
                  <a:schemeClr val="tx1"/>
                </a:solidFill>
              </a:rPr>
              <a:t>Sam</a:t>
            </a:r>
            <a:endParaRPr lang="en-US" sz="2000" dirty="0"/>
          </a:p>
        </p:txBody>
      </p:sp>
      <p:sp>
        <p:nvSpPr>
          <p:cNvPr id="14" name="Sam r"/>
          <p:cNvSpPr txBox="1"/>
          <p:nvPr/>
        </p:nvSpPr>
        <p:spPr>
          <a:xfrm>
            <a:off x="5221224" y="2084832"/>
            <a:ext cx="1883664" cy="292608"/>
          </a:xfrm>
          <a:prstGeom prst="rect">
            <a:avLst/>
          </a:prstGeom>
          <a:noFill/>
          <a:ln/>
        </p:spPr>
        <p:txBody>
          <a:bodyPr wrap="square" lIns="0" tIns="0" rIns="0" bIns="0" rtlCol="0" anchor="t"/>
          <a:lstStyle/>
          <a:p>
            <a:pPr indent="0" marL="0">
              <a:buNone/>
            </a:pPr>
            <a:r>
              <a:rPr lang="en-US" sz="1300" b="1" dirty="0">
                <a:solidFill>
                  <a:schemeClr val="accent1"/>
                </a:solidFill>
              </a:rPr>
              <a:t>Vendor</a:t>
            </a:r>
            <a:endParaRPr lang="en-US" sz="1300" dirty="0"/>
          </a:p>
        </p:txBody>
      </p:sp>
      <p:sp>
        <p:nvSpPr>
          <p:cNvPr id="15" name="Sam b"/>
          <p:cNvSpPr txBox="1"/>
          <p:nvPr/>
        </p:nvSpPr>
        <p:spPr>
          <a:xfrm>
            <a:off x="5221224" y="2542032"/>
            <a:ext cx="1883664" cy="2194560"/>
          </a:xfrm>
          <a:prstGeom prst="rect">
            <a:avLst/>
          </a:prstGeom>
          <a:noFill/>
          <a:ln/>
        </p:spPr>
        <p:txBody>
          <a:bodyPr wrap="square" lIns="0" tIns="0" rIns="0" bIns="0" rtlCol="0" anchor="t"/>
          <a:lstStyle/>
          <a:p>
            <a:pPr indent="0" marL="0">
              <a:buNone/>
            </a:pPr>
            <a:r>
              <a:rPr lang="en-US" sz="1400" dirty="0">
                <a:solidFill>
                  <a:schemeClr val="tx1"/>
                </a:solidFill>
              </a:rPr>
              <a:t>Uploads the invoice and receipts, answers the request, receives the client notice.</a:t>
            </a:r>
            <a:endParaRPr lang="en-US" sz="1400" dirty="0"/>
          </a:p>
        </p:txBody>
      </p:sp>
      <p:sp>
        <p:nvSpPr>
          <p:cNvPr id="16" name="Aisha"/>
          <p:cNvSpPr/>
          <p:nvPr/>
        </p:nvSpPr>
        <p:spPr>
          <a:xfrm>
            <a:off x="7360920" y="1444752"/>
            <a:ext cx="2176272" cy="3520440"/>
          </a:xfrm>
          <a:prstGeom prst="roundRect">
            <a:avLst>
              <a:gd name="adj" fmla="val 4202"/>
            </a:avLst>
          </a:prstGeom>
          <a:solidFill>
            <a:schemeClr val="bg2"/>
          </a:solidFill>
          <a:ln/>
          <a:effectLst>
            <a:outerShdw sx="100000" sy="100000" kx="0" ky="0" algn="bl" rotWithShape="0" blurRad="177800" dist="38100" dir="8400000">
              <a:srgbClr val="0B1F28">
                <a:alpha val="10000"/>
              </a:srgbClr>
            </a:outerShdw>
          </a:effectLst>
        </p:spPr>
      </p:sp>
      <p:sp>
        <p:nvSpPr>
          <p:cNvPr id="17" name="Aisha n"/>
          <p:cNvSpPr txBox="1"/>
          <p:nvPr/>
        </p:nvSpPr>
        <p:spPr>
          <a:xfrm>
            <a:off x="7507224" y="1645920"/>
            <a:ext cx="1883664" cy="384048"/>
          </a:xfrm>
          <a:prstGeom prst="rect">
            <a:avLst/>
          </a:prstGeom>
          <a:noFill/>
          <a:ln/>
        </p:spPr>
        <p:txBody>
          <a:bodyPr wrap="square" lIns="0" tIns="0" rIns="0" bIns="0" rtlCol="0" anchor="t"/>
          <a:lstStyle/>
          <a:p>
            <a:pPr indent="0" marL="0">
              <a:buNone/>
            </a:pPr>
            <a:r>
              <a:rPr lang="en-US" sz="2000" b="1" dirty="0">
                <a:solidFill>
                  <a:schemeClr val="tx1"/>
                </a:solidFill>
              </a:rPr>
              <a:t>Aisha</a:t>
            </a:r>
            <a:endParaRPr lang="en-US" sz="2000" dirty="0"/>
          </a:p>
        </p:txBody>
      </p:sp>
      <p:sp>
        <p:nvSpPr>
          <p:cNvPr id="18" name="Aisha r"/>
          <p:cNvSpPr txBox="1"/>
          <p:nvPr/>
        </p:nvSpPr>
        <p:spPr>
          <a:xfrm>
            <a:off x="7507224" y="2084832"/>
            <a:ext cx="1883664" cy="292608"/>
          </a:xfrm>
          <a:prstGeom prst="rect">
            <a:avLst/>
          </a:prstGeom>
          <a:noFill/>
          <a:ln/>
        </p:spPr>
        <p:txBody>
          <a:bodyPr wrap="square" lIns="0" tIns="0" rIns="0" bIns="0" rtlCol="0" anchor="t"/>
          <a:lstStyle/>
          <a:p>
            <a:pPr indent="0" marL="0">
              <a:buNone/>
            </a:pPr>
            <a:r>
              <a:rPr lang="en-US" sz="1300" b="1" dirty="0">
                <a:solidFill>
                  <a:schemeClr val="accent1"/>
                </a:solidFill>
              </a:rPr>
              <a:t>Viewer</a:t>
            </a:r>
            <a:endParaRPr lang="en-US" sz="1300" dirty="0"/>
          </a:p>
        </p:txBody>
      </p:sp>
      <p:sp>
        <p:nvSpPr>
          <p:cNvPr id="19" name="Aisha b"/>
          <p:cNvSpPr txBox="1"/>
          <p:nvPr/>
        </p:nvSpPr>
        <p:spPr>
          <a:xfrm>
            <a:off x="7507224" y="2542032"/>
            <a:ext cx="1883664" cy="2194560"/>
          </a:xfrm>
          <a:prstGeom prst="rect">
            <a:avLst/>
          </a:prstGeom>
          <a:noFill/>
          <a:ln/>
        </p:spPr>
        <p:txBody>
          <a:bodyPr wrap="square" lIns="0" tIns="0" rIns="0" bIns="0" rtlCol="0" anchor="t"/>
          <a:lstStyle/>
          <a:p>
            <a:pPr indent="0" marL="0">
              <a:buNone/>
            </a:pPr>
            <a:r>
              <a:rPr lang="en-US" sz="1400" dirty="0">
                <a:solidFill>
                  <a:schemeClr val="tx1"/>
                </a:solidFill>
              </a:rPr>
              <a:t>Reads the completed file. Cannot change the case.</a:t>
            </a:r>
            <a:endParaRPr lang="en-US" sz="1400" dirty="0"/>
          </a:p>
        </p:txBody>
      </p:sp>
      <p:sp>
        <p:nvSpPr>
          <p:cNvPr id="20" name="Alex"/>
          <p:cNvSpPr/>
          <p:nvPr/>
        </p:nvSpPr>
        <p:spPr>
          <a:xfrm>
            <a:off x="9646920" y="1444752"/>
            <a:ext cx="2176272" cy="3520440"/>
          </a:xfrm>
          <a:prstGeom prst="roundRect">
            <a:avLst>
              <a:gd name="adj" fmla="val 4202"/>
            </a:avLst>
          </a:prstGeom>
          <a:solidFill>
            <a:schemeClr val="bg2"/>
          </a:solidFill>
          <a:ln/>
          <a:effectLst>
            <a:outerShdw sx="100000" sy="100000" kx="0" ky="0" algn="bl" rotWithShape="0" blurRad="177800" dist="38100" dir="8400000">
              <a:srgbClr val="0B1F28">
                <a:alpha val="10000"/>
              </a:srgbClr>
            </a:outerShdw>
          </a:effectLst>
        </p:spPr>
      </p:sp>
      <p:sp>
        <p:nvSpPr>
          <p:cNvPr id="21" name="Alex n"/>
          <p:cNvSpPr txBox="1"/>
          <p:nvPr/>
        </p:nvSpPr>
        <p:spPr>
          <a:xfrm>
            <a:off x="9793224" y="1645920"/>
            <a:ext cx="1883664" cy="384048"/>
          </a:xfrm>
          <a:prstGeom prst="rect">
            <a:avLst/>
          </a:prstGeom>
          <a:noFill/>
          <a:ln/>
        </p:spPr>
        <p:txBody>
          <a:bodyPr wrap="square" lIns="0" tIns="0" rIns="0" bIns="0" rtlCol="0" anchor="t"/>
          <a:lstStyle/>
          <a:p>
            <a:pPr indent="0" marL="0">
              <a:buNone/>
            </a:pPr>
            <a:r>
              <a:rPr lang="en-US" sz="2000" b="1" dirty="0">
                <a:solidFill>
                  <a:schemeClr val="tx1"/>
                </a:solidFill>
              </a:rPr>
              <a:t>Alex</a:t>
            </a:r>
            <a:endParaRPr lang="en-US" sz="2000" dirty="0"/>
          </a:p>
        </p:txBody>
      </p:sp>
      <p:sp>
        <p:nvSpPr>
          <p:cNvPr id="22" name="Alex r"/>
          <p:cNvSpPr txBox="1"/>
          <p:nvPr/>
        </p:nvSpPr>
        <p:spPr>
          <a:xfrm>
            <a:off x="9793224" y="2084832"/>
            <a:ext cx="1883664" cy="292608"/>
          </a:xfrm>
          <a:prstGeom prst="rect">
            <a:avLst/>
          </a:prstGeom>
          <a:noFill/>
          <a:ln/>
        </p:spPr>
        <p:txBody>
          <a:bodyPr wrap="square" lIns="0" tIns="0" rIns="0" bIns="0" rtlCol="0" anchor="t"/>
          <a:lstStyle/>
          <a:p>
            <a:pPr indent="0" marL="0">
              <a:buNone/>
            </a:pPr>
            <a:r>
              <a:rPr lang="en-US" sz="1300" b="1" dirty="0">
                <a:solidFill>
                  <a:schemeClr val="accent1"/>
                </a:solidFill>
              </a:rPr>
              <a:t>Walkthrough</a:t>
            </a:r>
            <a:endParaRPr lang="en-US" sz="1300" dirty="0"/>
          </a:p>
        </p:txBody>
      </p:sp>
      <p:sp>
        <p:nvSpPr>
          <p:cNvPr id="23" name="Alex b"/>
          <p:cNvSpPr txBox="1"/>
          <p:nvPr/>
        </p:nvSpPr>
        <p:spPr>
          <a:xfrm>
            <a:off x="9793224" y="2542032"/>
            <a:ext cx="1883664" cy="2194560"/>
          </a:xfrm>
          <a:prstGeom prst="rect">
            <a:avLst/>
          </a:prstGeom>
          <a:noFill/>
          <a:ln/>
        </p:spPr>
        <p:txBody>
          <a:bodyPr wrap="square" lIns="0" tIns="0" rIns="0" bIns="0" rtlCol="0" anchor="t"/>
          <a:lstStyle/>
          <a:p>
            <a:pPr indent="0" marL="0">
              <a:buNone/>
            </a:pPr>
            <a:r>
              <a:rPr lang="en-US" sz="1400" dirty="0">
                <a:solidFill>
                  <a:schemeClr val="tx1"/>
                </a:solidFill>
              </a:rPr>
              <a:t>Combined roles for a one-person demo. The film uses Priya and Sam.</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How a case actually runs</a:t>
            </a:r>
            <a:endParaRPr lang="en-US" sz="3200" dirty="0"/>
          </a:p>
        </p:txBody>
      </p:sp>
      <p:sp>
        <p:nvSpPr>
          <p:cNvPr id="3" name="Submit"/>
          <p:cNvSpPr/>
          <p:nvPr/>
        </p:nvSpPr>
        <p:spPr>
          <a:xfrm>
            <a:off x="502920" y="109728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4" name="Badge 1"/>
          <p:cNvSpPr/>
          <p:nvPr/>
        </p:nvSpPr>
        <p:spPr>
          <a:xfrm>
            <a:off x="704088" y="1316736"/>
            <a:ext cx="329184" cy="329184"/>
          </a:xfrm>
          <a:prstGeom prst="ellipse">
            <a:avLst/>
          </a:prstGeom>
          <a:solidFill>
            <a:srgbClr val="0E7C73"/>
          </a:solidFill>
          <a:ln/>
        </p:spPr>
      </p:sp>
      <p:sp>
        <p:nvSpPr>
          <p:cNvPr id="5" name="Badge 1 number"/>
          <p:cNvSpPr txBox="1"/>
          <p:nvPr/>
        </p:nvSpPr>
        <p:spPr>
          <a:xfrm>
            <a:off x="704088" y="13167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Run Submit"/>
          <p:cNvSpPr txBox="1"/>
          <p:nvPr/>
        </p:nvSpPr>
        <p:spPr>
          <a:xfrm>
            <a:off x="1143000" y="1316736"/>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Submit</a:t>
            </a:r>
            <a:endParaRPr lang="en-US" sz="2000" dirty="0"/>
          </a:p>
        </p:txBody>
      </p:sp>
      <p:sp>
        <p:nvSpPr>
          <p:cNvPr id="7" name="Run body Submit"/>
          <p:cNvSpPr txBox="1"/>
          <p:nvPr/>
        </p:nvSpPr>
        <p:spPr>
          <a:xfrm>
            <a:off x="722376" y="1901952"/>
            <a:ext cx="3246120" cy="1280160"/>
          </a:xfrm>
          <a:prstGeom prst="rect">
            <a:avLst/>
          </a:prstGeom>
          <a:noFill/>
          <a:ln/>
        </p:spPr>
        <p:txBody>
          <a:bodyPr wrap="square" lIns="0" tIns="0" rIns="0" bIns="0" rtlCol="0" anchor="t"/>
          <a:lstStyle/>
          <a:p>
            <a:pPr indent="0" marL="0">
              <a:buNone/>
            </a:pPr>
            <a:r>
              <a:rPr lang="en-US" sz="1500" dirty="0">
                <a:solidFill>
                  <a:schemeClr val="tx1"/>
                </a:solidFill>
              </a:rPr>
              <a:t>Vendor or bank uploads an English text PDF. Bytes are stored once. A SHA-256 is kept.</a:t>
            </a:r>
            <a:endParaRPr lang="en-US" sz="1500" dirty="0"/>
          </a:p>
        </p:txBody>
      </p:sp>
      <p:sp>
        <p:nvSpPr>
          <p:cNvPr id="8" name="Extract"/>
          <p:cNvSpPr/>
          <p:nvPr/>
        </p:nvSpPr>
        <p:spPr>
          <a:xfrm>
            <a:off x="4343400" y="109728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9" name="Badge 2"/>
          <p:cNvSpPr/>
          <p:nvPr/>
        </p:nvSpPr>
        <p:spPr>
          <a:xfrm>
            <a:off x="4544568" y="1316736"/>
            <a:ext cx="329184" cy="329184"/>
          </a:xfrm>
          <a:prstGeom prst="ellipse">
            <a:avLst/>
          </a:prstGeom>
          <a:solidFill>
            <a:srgbClr val="0E7C73"/>
          </a:solidFill>
          <a:ln/>
        </p:spPr>
      </p:sp>
      <p:sp>
        <p:nvSpPr>
          <p:cNvPr id="10" name="Badge 2 number"/>
          <p:cNvSpPr txBox="1"/>
          <p:nvPr/>
        </p:nvSpPr>
        <p:spPr>
          <a:xfrm>
            <a:off x="4544568" y="13167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Run Extract"/>
          <p:cNvSpPr txBox="1"/>
          <p:nvPr/>
        </p:nvSpPr>
        <p:spPr>
          <a:xfrm>
            <a:off x="4983480" y="1316736"/>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Extract</a:t>
            </a:r>
            <a:endParaRPr lang="en-US" sz="2000" dirty="0"/>
          </a:p>
        </p:txBody>
      </p:sp>
      <p:sp>
        <p:nvSpPr>
          <p:cNvPr id="12" name="Run body Extract"/>
          <p:cNvSpPr txBox="1"/>
          <p:nvPr/>
        </p:nvSpPr>
        <p:spPr>
          <a:xfrm>
            <a:off x="4562856" y="1901952"/>
            <a:ext cx="3246120" cy="1280160"/>
          </a:xfrm>
          <a:prstGeom prst="rect">
            <a:avLst/>
          </a:prstGeom>
          <a:noFill/>
          <a:ln/>
        </p:spPr>
        <p:txBody>
          <a:bodyPr wrap="square" lIns="0" tIns="0" rIns="0" bIns="0" rtlCol="0" anchor="t"/>
          <a:lstStyle/>
          <a:p>
            <a:pPr indent="0" marL="0">
              <a:buNone/>
            </a:pPr>
            <a:r>
              <a:rPr lang="en-US" sz="1500" dirty="0">
                <a:solidFill>
                  <a:schemeClr val="tx1"/>
                </a:solidFill>
              </a:rPr>
              <a:t>Page text, at most 20 pages / 40,000 characters, goes to Gemini. The raw PDF does not.</a:t>
            </a:r>
            <a:endParaRPr lang="en-US" sz="1500" dirty="0"/>
          </a:p>
        </p:txBody>
      </p:sp>
      <p:sp>
        <p:nvSpPr>
          <p:cNvPr id="13" name="Check"/>
          <p:cNvSpPr/>
          <p:nvPr/>
        </p:nvSpPr>
        <p:spPr>
          <a:xfrm>
            <a:off x="8183880" y="109728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4" name="Badge 3"/>
          <p:cNvSpPr/>
          <p:nvPr/>
        </p:nvSpPr>
        <p:spPr>
          <a:xfrm>
            <a:off x="8385048" y="1316736"/>
            <a:ext cx="329184" cy="329184"/>
          </a:xfrm>
          <a:prstGeom prst="ellipse">
            <a:avLst/>
          </a:prstGeom>
          <a:solidFill>
            <a:srgbClr val="0E7C73"/>
          </a:solidFill>
          <a:ln/>
        </p:spPr>
      </p:sp>
      <p:sp>
        <p:nvSpPr>
          <p:cNvPr id="15" name="Badge 3 number"/>
          <p:cNvSpPr txBox="1"/>
          <p:nvPr/>
        </p:nvSpPr>
        <p:spPr>
          <a:xfrm>
            <a:off x="8385048" y="13167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Run Check"/>
          <p:cNvSpPr txBox="1"/>
          <p:nvPr/>
        </p:nvSpPr>
        <p:spPr>
          <a:xfrm>
            <a:off x="8823960" y="1316736"/>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Check</a:t>
            </a:r>
            <a:endParaRPr lang="en-US" sz="2000" dirty="0"/>
          </a:p>
        </p:txBody>
      </p:sp>
      <p:sp>
        <p:nvSpPr>
          <p:cNvPr id="17" name="Run body Check"/>
          <p:cNvSpPr txBox="1"/>
          <p:nvPr/>
        </p:nvSpPr>
        <p:spPr>
          <a:xfrm>
            <a:off x="8403336" y="1901952"/>
            <a:ext cx="3246120" cy="1280160"/>
          </a:xfrm>
          <a:prstGeom prst="rect">
            <a:avLst/>
          </a:prstGeom>
          <a:noFill/>
          <a:ln/>
        </p:spPr>
        <p:txBody>
          <a:bodyPr wrap="square" lIns="0" tIns="0" rIns="0" bIns="0" rtlCol="0" anchor="t"/>
          <a:lstStyle/>
          <a:p>
            <a:pPr indent="0" marL="0">
              <a:buNone/>
            </a:pPr>
            <a:r>
              <a:rPr lang="en-US" sz="1500" dirty="0">
                <a:solidFill>
                  <a:schemeClr val="tx1"/>
                </a:solidFill>
              </a:rPr>
              <a:t>Python commits arithmetic, delivery identity, replacements, and a repeated seller invoice.</a:t>
            </a:r>
            <a:endParaRPr lang="en-US" sz="1500" dirty="0"/>
          </a:p>
        </p:txBody>
      </p:sp>
      <p:sp>
        <p:nvSpPr>
          <p:cNvPr id="18" name="Ask"/>
          <p:cNvSpPr/>
          <p:nvPr/>
        </p:nvSpPr>
        <p:spPr>
          <a:xfrm>
            <a:off x="502920" y="356616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9" name="Badge 4"/>
          <p:cNvSpPr/>
          <p:nvPr/>
        </p:nvSpPr>
        <p:spPr>
          <a:xfrm>
            <a:off x="704088" y="3785616"/>
            <a:ext cx="329184" cy="329184"/>
          </a:xfrm>
          <a:prstGeom prst="ellipse">
            <a:avLst/>
          </a:prstGeom>
          <a:solidFill>
            <a:srgbClr val="0E7C73"/>
          </a:solidFill>
          <a:ln/>
        </p:spPr>
      </p:sp>
      <p:sp>
        <p:nvSpPr>
          <p:cNvPr id="20" name="Badge 4 number"/>
          <p:cNvSpPr txBox="1"/>
          <p:nvPr/>
        </p:nvSpPr>
        <p:spPr>
          <a:xfrm>
            <a:off x="704088" y="378561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Run Ask"/>
          <p:cNvSpPr txBox="1"/>
          <p:nvPr/>
        </p:nvSpPr>
        <p:spPr>
          <a:xfrm>
            <a:off x="1143000" y="3785616"/>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Ask</a:t>
            </a:r>
            <a:endParaRPr lang="en-US" sz="2000" dirty="0"/>
          </a:p>
        </p:txBody>
      </p:sp>
      <p:sp>
        <p:nvSpPr>
          <p:cNvPr id="22" name="Run body Ask"/>
          <p:cNvSpPr txBox="1"/>
          <p:nvPr/>
        </p:nvSpPr>
        <p:spPr>
          <a:xfrm>
            <a:off x="722376" y="4370832"/>
            <a:ext cx="3246120" cy="1280160"/>
          </a:xfrm>
          <a:prstGeom prst="rect">
            <a:avLst/>
          </a:prstGeom>
          <a:noFill/>
          <a:ln/>
        </p:spPr>
        <p:txBody>
          <a:bodyPr wrap="square" lIns="0" tIns="0" rIns="0" bIns="0" rtlCol="0" anchor="t"/>
          <a:lstStyle/>
          <a:p>
            <a:pPr indent="0" marL="0">
              <a:buNone/>
            </a:pPr>
            <a:r>
              <a:rPr lang="en-US" sz="1500" dirty="0">
                <a:solidFill>
                  <a:schemeClr val="tx1"/>
                </a:solidFill>
              </a:rPr>
              <a:t>The agent issues one request for every open gap, from a published template.</a:t>
            </a:r>
            <a:endParaRPr lang="en-US" sz="1500" dirty="0"/>
          </a:p>
        </p:txBody>
      </p:sp>
      <p:sp>
        <p:nvSpPr>
          <p:cNvPr id="23" name="Decide"/>
          <p:cNvSpPr/>
          <p:nvPr/>
        </p:nvSpPr>
        <p:spPr>
          <a:xfrm>
            <a:off x="4343400" y="356616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24" name="Badge 5"/>
          <p:cNvSpPr/>
          <p:nvPr/>
        </p:nvSpPr>
        <p:spPr>
          <a:xfrm>
            <a:off x="4544568" y="3785616"/>
            <a:ext cx="329184" cy="329184"/>
          </a:xfrm>
          <a:prstGeom prst="ellipse">
            <a:avLst/>
          </a:prstGeom>
          <a:solidFill>
            <a:srgbClr val="0E7C73"/>
          </a:solidFill>
          <a:ln/>
        </p:spPr>
      </p:sp>
      <p:sp>
        <p:nvSpPr>
          <p:cNvPr id="25" name="Badge 5 number"/>
          <p:cNvSpPr txBox="1"/>
          <p:nvPr/>
        </p:nvSpPr>
        <p:spPr>
          <a:xfrm>
            <a:off x="4544568" y="378561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Run Decide"/>
          <p:cNvSpPr txBox="1"/>
          <p:nvPr/>
        </p:nvSpPr>
        <p:spPr>
          <a:xfrm>
            <a:off x="4983480" y="3785616"/>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Decide</a:t>
            </a:r>
            <a:endParaRPr lang="en-US" sz="2000" dirty="0"/>
          </a:p>
        </p:txBody>
      </p:sp>
      <p:sp>
        <p:nvSpPr>
          <p:cNvPr id="27" name="Run body Decide"/>
          <p:cNvSpPr txBox="1"/>
          <p:nvPr/>
        </p:nvSpPr>
        <p:spPr>
          <a:xfrm>
            <a:off x="4562856" y="4370832"/>
            <a:ext cx="3246120" cy="1280160"/>
          </a:xfrm>
          <a:prstGeom prst="rect">
            <a:avLst/>
          </a:prstGeom>
          <a:noFill/>
          <a:ln/>
        </p:spPr>
        <p:txBody>
          <a:bodyPr wrap="square" lIns="0" tIns="0" rIns="0" bIns="0" rtlCol="0" anchor="t"/>
          <a:lstStyle/>
          <a:p>
            <a:pPr indent="0" marL="0">
              <a:buNone/>
            </a:pPr>
            <a:r>
              <a:rPr lang="en-US" sz="1500" dirty="0">
                <a:solidFill>
                  <a:schemeClr val="tx1"/>
                </a:solidFill>
              </a:rPr>
              <a:t>A written message, a dispute, or appearance doubt becomes a human task.</a:t>
            </a:r>
            <a:endParaRPr lang="en-US" sz="1500" dirty="0"/>
          </a:p>
        </p:txBody>
      </p:sp>
      <p:sp>
        <p:nvSpPr>
          <p:cNvPr id="28" name="Freeze"/>
          <p:cNvSpPr/>
          <p:nvPr/>
        </p:nvSpPr>
        <p:spPr>
          <a:xfrm>
            <a:off x="8183880" y="356616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29" name="Badge 6"/>
          <p:cNvSpPr/>
          <p:nvPr/>
        </p:nvSpPr>
        <p:spPr>
          <a:xfrm>
            <a:off x="8385048" y="3785616"/>
            <a:ext cx="329184" cy="329184"/>
          </a:xfrm>
          <a:prstGeom prst="ellipse">
            <a:avLst/>
          </a:prstGeom>
          <a:solidFill>
            <a:srgbClr val="0E7C73"/>
          </a:solidFill>
          <a:ln/>
        </p:spPr>
      </p:sp>
      <p:sp>
        <p:nvSpPr>
          <p:cNvPr id="30" name="Badge 6 number"/>
          <p:cNvSpPr txBox="1"/>
          <p:nvPr/>
        </p:nvSpPr>
        <p:spPr>
          <a:xfrm>
            <a:off x="8385048" y="378561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1" name="Run Freeze"/>
          <p:cNvSpPr txBox="1"/>
          <p:nvPr/>
        </p:nvSpPr>
        <p:spPr>
          <a:xfrm>
            <a:off x="8823960" y="3785616"/>
            <a:ext cx="2834640" cy="365760"/>
          </a:xfrm>
          <a:prstGeom prst="rect">
            <a:avLst/>
          </a:prstGeom>
          <a:noFill/>
          <a:ln/>
        </p:spPr>
        <p:txBody>
          <a:bodyPr wrap="square" lIns="0" tIns="0" rIns="0" bIns="0" rtlCol="0" anchor="ctr"/>
          <a:lstStyle/>
          <a:p>
            <a:pPr indent="0" marL="0">
              <a:buNone/>
            </a:pPr>
            <a:r>
              <a:rPr lang="en-US" sz="2000" b="1" dirty="0">
                <a:solidFill>
                  <a:schemeClr val="tx1"/>
                </a:solidFill>
              </a:rPr>
              <a:t>Freeze</a:t>
            </a:r>
            <a:endParaRPr lang="en-US" sz="2000" dirty="0"/>
          </a:p>
        </p:txBody>
      </p:sp>
      <p:sp>
        <p:nvSpPr>
          <p:cNvPr id="32" name="Run body Freeze"/>
          <p:cNvSpPr txBox="1"/>
          <p:nvPr/>
        </p:nvSpPr>
        <p:spPr>
          <a:xfrm>
            <a:off x="8403336" y="4370832"/>
            <a:ext cx="3246120" cy="1280160"/>
          </a:xfrm>
          <a:prstGeom prst="rect">
            <a:avLst/>
          </a:prstGeom>
          <a:noFill/>
          <a:ln/>
        </p:spPr>
        <p:txBody>
          <a:bodyPr wrap="square" lIns="0" tIns="0" rIns="0" bIns="0" rtlCol="0" anchor="t"/>
          <a:lstStyle/>
          <a:p>
            <a:pPr indent="0" marL="0">
              <a:buNone/>
            </a:pPr>
            <a:r>
              <a:rPr lang="en-US" sz="1500" dirty="0">
                <a:solidFill>
                  <a:schemeClr val="tx1"/>
                </a:solidFill>
              </a:rPr>
              <a:t>Completion rechecks everything, then writes a bank summary and a client notice.</a:t>
            </a:r>
            <a:endParaRPr lang="en-US" sz="15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An ADK agent on Gemini. One wakeup. One case</a:t>
            </a:r>
            <a:endParaRPr lang="en-US" sz="3200" dirty="0"/>
          </a:p>
        </p:txBody>
      </p:sp>
      <p:sp>
        <p:nvSpPr>
          <p:cNvPr id="3" name="Agent loop"/>
          <p:cNvSpPr/>
          <p:nvPr/>
        </p:nvSpPr>
        <p:spPr>
          <a:xfrm>
            <a:off x="502920" y="1078992"/>
            <a:ext cx="6903720" cy="3246120"/>
          </a:xfrm>
          <a:prstGeom prst="roundRect">
            <a:avLst>
              <a:gd name="adj" fmla="val 2817"/>
            </a:avLst>
          </a:prstGeom>
          <a:solidFill>
            <a:srgbClr val="E4F2EF"/>
          </a:solidFill>
          <a:ln/>
          <a:effectLst>
            <a:outerShdw sx="100000" sy="100000" kx="0" ky="0" algn="bl" rotWithShape="0" blurRad="177800" dist="38100" dir="8400000">
              <a:srgbClr val="0B1F28">
                <a:alpha val="10000"/>
              </a:srgbClr>
            </a:outerShdw>
          </a:effectLst>
        </p:spPr>
      </p:sp>
      <p:sp>
        <p:nvSpPr>
          <p:cNvPr id="4" name="Authority"/>
          <p:cNvSpPr/>
          <p:nvPr/>
        </p:nvSpPr>
        <p:spPr>
          <a:xfrm>
            <a:off x="7589520" y="1078992"/>
            <a:ext cx="4114800" cy="3246120"/>
          </a:xfrm>
          <a:prstGeom prst="roundRect">
            <a:avLst>
              <a:gd name="adj" fmla="val 2817"/>
            </a:avLst>
          </a:prstGeom>
          <a:solidFill>
            <a:srgbClr val="0B1F28"/>
          </a:solidFill>
          <a:ln/>
          <a:effectLst>
            <a:outerShdw sx="100000" sy="100000" kx="0" ky="0" algn="bl" rotWithShape="0" blurRad="177800" dist="38100" dir="8400000">
              <a:srgbClr val="0B1F28">
                <a:alpha val="10000"/>
              </a:srgbClr>
            </a:outerShdw>
          </a:effectLst>
        </p:spPr>
      </p:sp>
      <p:sp>
        <p:nvSpPr>
          <p:cNvPr id="5" name="Agent h"/>
          <p:cNvSpPr txBox="1"/>
          <p:nvPr/>
        </p:nvSpPr>
        <p:spPr>
          <a:xfrm>
            <a:off x="749808" y="1261872"/>
            <a:ext cx="6446520" cy="329184"/>
          </a:xfrm>
          <a:prstGeom prst="rect">
            <a:avLst/>
          </a:prstGeom>
          <a:noFill/>
          <a:ln/>
        </p:spPr>
        <p:txBody>
          <a:bodyPr wrap="square" lIns="0" tIns="0" rIns="0" bIns="0" rtlCol="0" anchor="t"/>
          <a:lstStyle/>
          <a:p>
            <a:pPr indent="0" marL="0">
              <a:buNone/>
            </a:pPr>
            <a:r>
              <a:rPr lang="en-US" sz="1600" b="1" dirty="0">
                <a:solidFill>
                  <a:schemeClr val="accent1"/>
                </a:solidFill>
              </a:rPr>
              <a:t>How it works a file</a:t>
            </a:r>
            <a:endParaRPr lang="en-US" sz="1600" dirty="0"/>
          </a:p>
        </p:txBody>
      </p:sp>
      <p:sp>
        <p:nvSpPr>
          <p:cNvPr id="6" name="Agent loop"/>
          <p:cNvSpPr txBox="1"/>
          <p:nvPr/>
        </p:nvSpPr>
        <p:spPr>
          <a:xfrm>
            <a:off x="749808" y="1719072"/>
            <a:ext cx="6446520" cy="233172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Wakes on a saved snapshot. Chooses a tool. The conversation is discarded.</a:t>
            </a:r>
            <a:endParaRPr lang="en-US" sz="1500" dirty="0"/>
          </a:p>
          <a:p>
            <a:pPr indent="0" marL="0">
              <a:spcAft>
                <a:spcPts val="800"/>
              </a:spcAft>
              <a:buNone/>
            </a:pPr>
            <a:r>
              <a:rPr lang="en-US" sz="1500" dirty="0">
                <a:solidFill>
                  <a:schemeClr val="tx1"/>
                </a:solidFill>
              </a:rPr>
              <a:t>Extracts fields with the printed quote. Plans one request for every open gap.</a:t>
            </a:r>
            <a:endParaRPr lang="en-US" sz="1500" dirty="0"/>
          </a:p>
          <a:p>
            <a:pPr indent="0" marL="0">
              <a:spcAft>
                <a:spcPts val="800"/>
              </a:spcAft>
              <a:buNone/>
            </a:pPr>
            <a:r>
              <a:rPr lang="en-US" sz="1500" dirty="0">
                <a:solidFill>
                  <a:schemeClr val="tx1"/>
                </a:solidFill>
              </a:rPr>
              <a:t>Compares a written message to the invoice or receipt, then opens a human task.</a:t>
            </a:r>
            <a:endParaRPr lang="en-US" sz="1500" dirty="0"/>
          </a:p>
          <a:p>
            <a:pPr indent="0" marL="0">
              <a:spcAft>
                <a:spcPts val="800"/>
              </a:spcAft>
              <a:buNone/>
            </a:pPr>
            <a:r>
              <a:rPr lang="en-US" sz="1500" dirty="0">
                <a:solidFill>
                  <a:schemeClr val="tx1"/>
                </a:solidFill>
              </a:rPr>
              <a:t>Asks run_checks before it claims a total. try_complete only after every gate.</a:t>
            </a:r>
            <a:endParaRPr lang="en-US" sz="1500" dirty="0"/>
          </a:p>
        </p:txBody>
      </p:sp>
      <p:sp>
        <p:nvSpPr>
          <p:cNvPr id="7" name="Cannot h"/>
          <p:cNvSpPr txBox="1"/>
          <p:nvPr/>
        </p:nvSpPr>
        <p:spPr>
          <a:xfrm>
            <a:off x="7818120" y="1261872"/>
            <a:ext cx="3703320" cy="329184"/>
          </a:xfrm>
          <a:prstGeom prst="rect">
            <a:avLst/>
          </a:prstGeom>
          <a:noFill/>
          <a:ln/>
        </p:spPr>
        <p:txBody>
          <a:bodyPr wrap="square" lIns="0" tIns="0" rIns="0" bIns="0" rtlCol="0" anchor="t"/>
          <a:lstStyle/>
          <a:p>
            <a:pPr indent="0" marL="0">
              <a:buNone/>
            </a:pPr>
            <a:r>
              <a:rPr lang="en-US" sz="1600" b="1" dirty="0">
                <a:solidFill>
                  <a:srgbClr val="C4A35A"/>
                </a:solidFill>
              </a:rPr>
              <a:t>It cannot</a:t>
            </a:r>
            <a:endParaRPr lang="en-US" sz="1600" dirty="0"/>
          </a:p>
        </p:txBody>
      </p:sp>
      <p:sp>
        <p:nvSpPr>
          <p:cNvPr id="8" name="Cannot b"/>
          <p:cNvSpPr txBox="1"/>
          <p:nvPr/>
        </p:nvSpPr>
        <p:spPr>
          <a:xfrm>
            <a:off x="7818120" y="1719072"/>
            <a:ext cx="3703320" cy="2286000"/>
          </a:xfrm>
          <a:prstGeom prst="rect">
            <a:avLst/>
          </a:prstGeom>
          <a:noFill/>
          <a:ln/>
        </p:spPr>
        <p:txBody>
          <a:bodyPr wrap="square" lIns="0" tIns="0" rIns="0" bIns="0" rtlCol="0" anchor="t"/>
          <a:lstStyle/>
          <a:p>
            <a:pPr indent="0" marL="0">
              <a:buNone/>
            </a:pPr>
            <a:r>
              <a:rPr lang="en-US" sz="1500" dirty="0">
                <a:solidFill>
                  <a:srgbClr val="E7F4F0"/>
                </a:solidFill>
              </a:rPr>
              <a:t>Approve a facility. Change policy. Pick a recipient. Open another case. Treat PDF text as an order. Compute a total. Waive an unmet rule.</a:t>
            </a:r>
            <a:endParaRPr lang="en-US" sz="1500" dirty="0"/>
          </a:p>
        </p:txBody>
      </p:sp>
      <p:sp>
        <p:nvSpPr>
          <p:cNvPr id="9" name="Tools"/>
          <p:cNvSpPr/>
          <p:nvPr/>
        </p:nvSpPr>
        <p:spPr>
          <a:xfrm>
            <a:off x="502920" y="4480560"/>
            <a:ext cx="11201400" cy="1627632"/>
          </a:xfrm>
          <a:prstGeom prst="roundRect">
            <a:avLst>
              <a:gd name="adj" fmla="val 5618"/>
            </a:avLst>
          </a:prstGeom>
          <a:solidFill>
            <a:schemeClr val="bg2"/>
          </a:solidFill>
          <a:ln/>
          <a:effectLst>
            <a:outerShdw sx="100000" sy="100000" kx="0" ky="0" algn="bl" rotWithShape="0" blurRad="177800" dist="38100" dir="8400000">
              <a:srgbClr val="0B1F28">
                <a:alpha val="10000"/>
              </a:srgbClr>
            </a:outerShdw>
          </a:effectLst>
        </p:spPr>
      </p:sp>
      <p:sp>
        <p:nvSpPr>
          <p:cNvPr id="10" name="Tools h"/>
          <p:cNvSpPr txBox="1"/>
          <p:nvPr/>
        </p:nvSpPr>
        <p:spPr>
          <a:xfrm>
            <a:off x="749808" y="4645152"/>
            <a:ext cx="10744200" cy="292608"/>
          </a:xfrm>
          <a:prstGeom prst="rect">
            <a:avLst/>
          </a:prstGeom>
          <a:noFill/>
          <a:ln/>
        </p:spPr>
        <p:txBody>
          <a:bodyPr wrap="square" lIns="0" tIns="0" rIns="0" bIns="0" rtlCol="0" anchor="t"/>
          <a:lstStyle/>
          <a:p>
            <a:pPr indent="0" marL="0">
              <a:buNone/>
            </a:pPr>
            <a:r>
              <a:rPr lang="en-US" sz="1600" b="1" dirty="0">
                <a:solidFill>
                  <a:schemeClr val="tx1"/>
                </a:solidFill>
              </a:rPr>
              <a:t>Nine tools. Same validation as the API. None of them approve a facility</a:t>
            </a:r>
            <a:endParaRPr lang="en-US" sz="1600" dirty="0"/>
          </a:p>
        </p:txBody>
      </p:sp>
      <p:sp>
        <p:nvSpPr>
          <p:cNvPr id="11" name="Tools b"/>
          <p:cNvSpPr txBox="1"/>
          <p:nvPr/>
        </p:nvSpPr>
        <p:spPr>
          <a:xfrm>
            <a:off x="749808" y="5029200"/>
            <a:ext cx="10744200" cy="822960"/>
          </a:xfrm>
          <a:prstGeom prst="rect">
            <a:avLst/>
          </a:prstGeom>
          <a:noFill/>
          <a:ln/>
        </p:spPr>
        <p:txBody>
          <a:bodyPr wrap="square" lIns="0" tIns="0" rIns="0" bIns="0" rtlCol="0" anchor="t"/>
          <a:lstStyle/>
          <a:p>
            <a:pPr indent="0" marL="0">
              <a:buNone/>
            </a:pPr>
            <a:r>
              <a:rPr lang="en-US" sz="1500" dirty="0">
                <a:solidFill>
                  <a:schemeClr val="tx2"/>
                </a:solidFill>
              </a:rPr>
              <a:t>read_case  ·  inspect_source  ·  compare_statements  ·  run_checks  ·  prepare_request  ·  issue_request  ·  wait_for_event  ·  open_human_task  ·  try_complete</a:t>
            </a:r>
            <a:endParaRPr lang="en-US" sz="15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What Gemini may flag. What the bank can trust</a:t>
            </a:r>
            <a:endParaRPr lang="en-US" sz="3200" dirty="0"/>
          </a:p>
        </p:txBody>
      </p:sp>
      <p:sp>
        <p:nvSpPr>
          <p:cNvPr id="3" name="Duplication — certain"/>
          <p:cNvSpPr/>
          <p:nvPr/>
        </p:nvSpPr>
        <p:spPr>
          <a:xfrm>
            <a:off x="502920" y="1078992"/>
            <a:ext cx="3675888" cy="2322576"/>
          </a:xfrm>
          <a:prstGeom prst="roundRect">
            <a:avLst>
              <a:gd name="adj" fmla="val 3937"/>
            </a:avLst>
          </a:prstGeom>
          <a:solidFill>
            <a:schemeClr val="bg2"/>
          </a:solidFill>
          <a:ln/>
          <a:effectLst>
            <a:outerShdw sx="100000" sy="100000" kx="0" ky="0" algn="bl" rotWithShape="0" blurRad="177800" dist="38100" dir="8400000">
              <a:srgbClr val="0B1F28">
                <a:alpha val="10000"/>
              </a:srgbClr>
            </a:outerShdw>
          </a:effectLst>
        </p:spPr>
      </p:sp>
      <p:sp>
        <p:nvSpPr>
          <p:cNvPr id="4" name="Duplication — certain h"/>
          <p:cNvSpPr txBox="1"/>
          <p:nvPr/>
        </p:nvSpPr>
        <p:spPr>
          <a:xfrm>
            <a:off x="685800" y="1243584"/>
            <a:ext cx="3310128" cy="566928"/>
          </a:xfrm>
          <a:prstGeom prst="rect">
            <a:avLst/>
          </a:prstGeom>
          <a:noFill/>
          <a:ln/>
        </p:spPr>
        <p:txBody>
          <a:bodyPr wrap="square" lIns="0" tIns="0" rIns="0" bIns="0" rtlCol="0" anchor="t"/>
          <a:lstStyle/>
          <a:p>
            <a:pPr indent="0" marL="0">
              <a:buNone/>
            </a:pPr>
            <a:r>
              <a:rPr lang="en-US" sz="1600" b="1" dirty="0">
                <a:solidFill>
                  <a:schemeClr val="tx1"/>
                </a:solidFill>
              </a:rPr>
              <a:t>Duplication — certain</a:t>
            </a:r>
            <a:endParaRPr lang="en-US" sz="1600" dirty="0"/>
          </a:p>
        </p:txBody>
      </p:sp>
      <p:sp>
        <p:nvSpPr>
          <p:cNvPr id="5" name="Duplication — certain b"/>
          <p:cNvSpPr txBox="1"/>
          <p:nvPr/>
        </p:nvSpPr>
        <p:spPr>
          <a:xfrm>
            <a:off x="685800" y="1865376"/>
            <a:ext cx="3310128" cy="1371600"/>
          </a:xfrm>
          <a:prstGeom prst="rect">
            <a:avLst/>
          </a:prstGeom>
          <a:noFill/>
          <a:ln/>
        </p:spPr>
        <p:txBody>
          <a:bodyPr wrap="square" lIns="0" tIns="0" rIns="0" bIns="0" rtlCol="0" anchor="t"/>
          <a:lstStyle/>
          <a:p>
            <a:pPr indent="0" marL="0">
              <a:buNone/>
            </a:pPr>
            <a:r>
              <a:rPr lang="en-US" sz="1300" dirty="0">
                <a:solidFill>
                  <a:schemeClr val="tx1"/>
                </a:solidFill>
              </a:rPr>
              <a:t>Same bytes on one case are hashed and counted once. The same seller, number, and amount on another case is a book hold. Code, not Gemini. Not a finance verdict.</a:t>
            </a:r>
            <a:endParaRPr lang="en-US" sz="1300" dirty="0"/>
          </a:p>
        </p:txBody>
      </p:sp>
      <p:sp>
        <p:nvSpPr>
          <p:cNvPr id="6" name="Appearance / forging — a signal"/>
          <p:cNvSpPr/>
          <p:nvPr/>
        </p:nvSpPr>
        <p:spPr>
          <a:xfrm>
            <a:off x="4343400" y="1078992"/>
            <a:ext cx="3675888" cy="2322576"/>
          </a:xfrm>
          <a:prstGeom prst="roundRect">
            <a:avLst>
              <a:gd name="adj" fmla="val 3937"/>
            </a:avLst>
          </a:prstGeom>
          <a:solidFill>
            <a:schemeClr val="bg2"/>
          </a:solidFill>
          <a:ln/>
          <a:effectLst>
            <a:outerShdw sx="100000" sy="100000" kx="0" ky="0" algn="bl" rotWithShape="0" blurRad="177800" dist="38100" dir="8400000">
              <a:srgbClr val="0B1F28">
                <a:alpha val="10000"/>
              </a:srgbClr>
            </a:outerShdw>
          </a:effectLst>
        </p:spPr>
      </p:sp>
      <p:sp>
        <p:nvSpPr>
          <p:cNvPr id="7" name="Appearance / forging — a signal h"/>
          <p:cNvSpPr txBox="1"/>
          <p:nvPr/>
        </p:nvSpPr>
        <p:spPr>
          <a:xfrm>
            <a:off x="4526280" y="1243584"/>
            <a:ext cx="3310128" cy="566928"/>
          </a:xfrm>
          <a:prstGeom prst="rect">
            <a:avLst/>
          </a:prstGeom>
          <a:noFill/>
          <a:ln/>
        </p:spPr>
        <p:txBody>
          <a:bodyPr wrap="square" lIns="0" tIns="0" rIns="0" bIns="0" rtlCol="0" anchor="t"/>
          <a:lstStyle/>
          <a:p>
            <a:pPr indent="0" marL="0">
              <a:buNone/>
            </a:pPr>
            <a:r>
              <a:rPr lang="en-US" sz="1600" b="1" dirty="0">
                <a:solidFill>
                  <a:schemeClr val="tx1"/>
                </a:solidFill>
              </a:rPr>
              <a:t>Appearance / forging — a signal</a:t>
            </a:r>
            <a:endParaRPr lang="en-US" sz="1600" dirty="0"/>
          </a:p>
        </p:txBody>
      </p:sp>
      <p:sp>
        <p:nvSpPr>
          <p:cNvPr id="8" name="Appearance / forging — a signal b"/>
          <p:cNvSpPr txBox="1"/>
          <p:nvPr/>
        </p:nvSpPr>
        <p:spPr>
          <a:xfrm>
            <a:off x="4526280" y="1865376"/>
            <a:ext cx="3310128" cy="1371600"/>
          </a:xfrm>
          <a:prstGeom prst="rect">
            <a:avLst/>
          </a:prstGeom>
          <a:noFill/>
          <a:ln/>
        </p:spPr>
        <p:txBody>
          <a:bodyPr wrap="square" lIns="0" tIns="0" rIns="0" bIns="0" rtlCol="0" anchor="t"/>
          <a:lstStyle/>
          <a:p>
            <a:pPr indent="0" marL="0">
              <a:buNone/>
            </a:pPr>
            <a:r>
              <a:rPr lang="en-US" sz="1300" dirty="0">
                <a:solidFill>
                  <a:schemeClr val="tx1"/>
                </a:solidFill>
              </a:rPr>
              <a:t>Covered text, cut edges, and a forced template go to a person. Gemini must not claim fraud or authenticity. A careful fake can pass. A legitimate edit can be flagged.</a:t>
            </a:r>
            <a:endParaRPr lang="en-US" sz="1300" dirty="0"/>
          </a:p>
        </p:txBody>
      </p:sp>
      <p:sp>
        <p:nvSpPr>
          <p:cNvPr id="9" name="Hidden or malicious prompt — ignored"/>
          <p:cNvSpPr/>
          <p:nvPr/>
        </p:nvSpPr>
        <p:spPr>
          <a:xfrm>
            <a:off x="8183880" y="1078992"/>
            <a:ext cx="3675888" cy="2322576"/>
          </a:xfrm>
          <a:prstGeom prst="roundRect">
            <a:avLst>
              <a:gd name="adj" fmla="val 3937"/>
            </a:avLst>
          </a:prstGeom>
          <a:solidFill>
            <a:schemeClr val="bg2"/>
          </a:solidFill>
          <a:ln/>
          <a:effectLst>
            <a:outerShdw sx="100000" sy="100000" kx="0" ky="0" algn="bl" rotWithShape="0" blurRad="177800" dist="38100" dir="8400000">
              <a:srgbClr val="0B1F28">
                <a:alpha val="10000"/>
              </a:srgbClr>
            </a:outerShdw>
          </a:effectLst>
        </p:spPr>
      </p:sp>
      <p:sp>
        <p:nvSpPr>
          <p:cNvPr id="10" name="Hidden or malicious prompt — ignored h"/>
          <p:cNvSpPr txBox="1"/>
          <p:nvPr/>
        </p:nvSpPr>
        <p:spPr>
          <a:xfrm>
            <a:off x="8366760" y="1243584"/>
            <a:ext cx="3310128" cy="566928"/>
          </a:xfrm>
          <a:prstGeom prst="rect">
            <a:avLst/>
          </a:prstGeom>
          <a:noFill/>
          <a:ln/>
        </p:spPr>
        <p:txBody>
          <a:bodyPr wrap="square" lIns="0" tIns="0" rIns="0" bIns="0" rtlCol="0" anchor="t"/>
          <a:lstStyle/>
          <a:p>
            <a:pPr indent="0" marL="0">
              <a:buNone/>
            </a:pPr>
            <a:r>
              <a:rPr lang="en-US" sz="1600" b="1" dirty="0">
                <a:solidFill>
                  <a:schemeClr val="tx1"/>
                </a:solidFill>
              </a:rPr>
              <a:t>Hidden or malicious prompt — ignored</a:t>
            </a:r>
            <a:endParaRPr lang="en-US" sz="1600" dirty="0"/>
          </a:p>
        </p:txBody>
      </p:sp>
      <p:sp>
        <p:nvSpPr>
          <p:cNvPr id="11" name="Hidden or malicious prompt — ignored b"/>
          <p:cNvSpPr txBox="1"/>
          <p:nvPr/>
        </p:nvSpPr>
        <p:spPr>
          <a:xfrm>
            <a:off x="8366760" y="1865376"/>
            <a:ext cx="3310128" cy="1371600"/>
          </a:xfrm>
          <a:prstGeom prst="rect">
            <a:avLst/>
          </a:prstGeom>
          <a:noFill/>
          <a:ln/>
        </p:spPr>
        <p:txBody>
          <a:bodyPr wrap="square" lIns="0" tIns="0" rIns="0" bIns="0" rtlCol="0" anchor="t"/>
          <a:lstStyle/>
          <a:p>
            <a:pPr indent="0" marL="0">
              <a:buNone/>
            </a:pPr>
            <a:r>
              <a:rPr lang="en-US" sz="1300" dirty="0">
                <a:solidFill>
                  <a:schemeClr val="tx1"/>
                </a:solidFill>
              </a:rPr>
              <a:t>Text in the PDF or a message is evidence, never an instruction. Orders to complete the case, change rules, or send data are shown to the reviewer. Eval injection flag rate: 1.0.</a:t>
            </a:r>
            <a:endParaRPr lang="en-US" sz="1300" dirty="0"/>
          </a:p>
        </p:txBody>
      </p:sp>
      <p:sp>
        <p:nvSpPr>
          <p:cNvPr id="12" name="Quotes — shown only if on the page"/>
          <p:cNvSpPr/>
          <p:nvPr/>
        </p:nvSpPr>
        <p:spPr>
          <a:xfrm>
            <a:off x="502920" y="3566160"/>
            <a:ext cx="3675888" cy="2322576"/>
          </a:xfrm>
          <a:prstGeom prst="roundRect">
            <a:avLst>
              <a:gd name="adj" fmla="val 3937"/>
            </a:avLst>
          </a:prstGeom>
          <a:solidFill>
            <a:schemeClr val="bg2"/>
          </a:solidFill>
          <a:ln/>
          <a:effectLst>
            <a:outerShdw sx="100000" sy="100000" kx="0" ky="0" algn="bl" rotWithShape="0" blurRad="177800" dist="38100" dir="8400000">
              <a:srgbClr val="0B1F28">
                <a:alpha val="10000"/>
              </a:srgbClr>
            </a:outerShdw>
          </a:effectLst>
        </p:spPr>
      </p:sp>
      <p:sp>
        <p:nvSpPr>
          <p:cNvPr id="13" name="Quotes — shown only if on the page h"/>
          <p:cNvSpPr txBox="1"/>
          <p:nvPr/>
        </p:nvSpPr>
        <p:spPr>
          <a:xfrm>
            <a:off x="685800" y="3730752"/>
            <a:ext cx="3310128" cy="566928"/>
          </a:xfrm>
          <a:prstGeom prst="rect">
            <a:avLst/>
          </a:prstGeom>
          <a:noFill/>
          <a:ln/>
        </p:spPr>
        <p:txBody>
          <a:bodyPr wrap="square" lIns="0" tIns="0" rIns="0" bIns="0" rtlCol="0" anchor="t"/>
          <a:lstStyle/>
          <a:p>
            <a:pPr indent="0" marL="0">
              <a:buNone/>
            </a:pPr>
            <a:r>
              <a:rPr lang="en-US" sz="1600" b="1" dirty="0">
                <a:solidFill>
                  <a:schemeClr val="tx1"/>
                </a:solidFill>
              </a:rPr>
              <a:t>Quotes — shown only if on the page</a:t>
            </a:r>
            <a:endParaRPr lang="en-US" sz="1600" dirty="0"/>
          </a:p>
        </p:txBody>
      </p:sp>
      <p:sp>
        <p:nvSpPr>
          <p:cNvPr id="14" name="Quotes — shown only if on the page b"/>
          <p:cNvSpPr txBox="1"/>
          <p:nvPr/>
        </p:nvSpPr>
        <p:spPr>
          <a:xfrm>
            <a:off x="685800" y="4352544"/>
            <a:ext cx="3310128" cy="1371600"/>
          </a:xfrm>
          <a:prstGeom prst="rect">
            <a:avLst/>
          </a:prstGeom>
          <a:noFill/>
          <a:ln/>
        </p:spPr>
        <p:txBody>
          <a:bodyPr wrap="square" lIns="0" tIns="0" rIns="0" bIns="0" rtlCol="0" anchor="t"/>
          <a:lstStyle/>
          <a:p>
            <a:pPr indent="0" marL="0">
              <a:buNone/>
            </a:pPr>
            <a:r>
              <a:rPr lang="en-US" sz="1300" dirty="0">
                <a:solidFill>
                  <a:schemeClr val="tx1"/>
                </a:solidFill>
              </a:rPr>
              <a:t>Gemini must copy the printed value. An unverified quote is not rendered as evidence. That is how the file stays trustworthy when the model is wrong.</a:t>
            </a:r>
            <a:endParaRPr lang="en-US" sz="1300" dirty="0"/>
          </a:p>
        </p:txBody>
      </p:sp>
      <p:sp>
        <p:nvSpPr>
          <p:cNvPr id="15" name="Earlier signal — in context, not retrained"/>
          <p:cNvSpPr/>
          <p:nvPr/>
        </p:nvSpPr>
        <p:spPr>
          <a:xfrm>
            <a:off x="4343400" y="3566160"/>
            <a:ext cx="3675888" cy="2322576"/>
          </a:xfrm>
          <a:prstGeom prst="roundRect">
            <a:avLst>
              <a:gd name="adj" fmla="val 3937"/>
            </a:avLst>
          </a:prstGeom>
          <a:solidFill>
            <a:schemeClr val="bg2"/>
          </a:solidFill>
          <a:ln/>
          <a:effectLst>
            <a:outerShdw sx="100000" sy="100000" kx="0" ky="0" algn="bl" rotWithShape="0" blurRad="177800" dist="38100" dir="8400000">
              <a:srgbClr val="0B1F28">
                <a:alpha val="10000"/>
              </a:srgbClr>
            </a:outerShdw>
          </a:effectLst>
        </p:spPr>
      </p:sp>
      <p:sp>
        <p:nvSpPr>
          <p:cNvPr id="16" name="Earlier signal — in context, not retrained h"/>
          <p:cNvSpPr txBox="1"/>
          <p:nvPr/>
        </p:nvSpPr>
        <p:spPr>
          <a:xfrm>
            <a:off x="4526280" y="3730752"/>
            <a:ext cx="3310128" cy="566928"/>
          </a:xfrm>
          <a:prstGeom prst="rect">
            <a:avLst/>
          </a:prstGeom>
          <a:noFill/>
          <a:ln/>
        </p:spPr>
        <p:txBody>
          <a:bodyPr wrap="square" lIns="0" tIns="0" rIns="0" bIns="0" rtlCol="0" anchor="t"/>
          <a:lstStyle/>
          <a:p>
            <a:pPr indent="0" marL="0">
              <a:buNone/>
            </a:pPr>
            <a:r>
              <a:rPr lang="en-US" sz="1600" b="1" dirty="0">
                <a:solidFill>
                  <a:schemeClr val="tx1"/>
                </a:solidFill>
              </a:rPr>
              <a:t>Earlier signal — in context, not retrained</a:t>
            </a:r>
            <a:endParaRPr lang="en-US" sz="1600" dirty="0"/>
          </a:p>
        </p:txBody>
      </p:sp>
      <p:sp>
        <p:nvSpPr>
          <p:cNvPr id="17" name="Earlier signal — in context, not retrained b"/>
          <p:cNvSpPr txBox="1"/>
          <p:nvPr/>
        </p:nvSpPr>
        <p:spPr>
          <a:xfrm>
            <a:off x="4526280" y="4352544"/>
            <a:ext cx="3310128" cy="1371600"/>
          </a:xfrm>
          <a:prstGeom prst="rect">
            <a:avLst/>
          </a:prstGeom>
          <a:noFill/>
          <a:ln/>
        </p:spPr>
        <p:txBody>
          <a:bodyPr wrap="square" lIns="0" tIns="0" rIns="0" bIns="0" rtlCol="0" anchor="t"/>
          <a:lstStyle/>
          <a:p>
            <a:pPr indent="0" marL="0">
              <a:buNone/>
            </a:pPr>
            <a:r>
              <a:rPr lang="en-US" sz="1300" dirty="0">
                <a:solidFill>
                  <a:schemeClr val="tx1"/>
                </a:solidFill>
              </a:rPr>
              <a:t>Dismissed and flagged packs stay on the case. Gemini sees them before the next review starts. Weights do not change. A person still records the exception.</a:t>
            </a:r>
            <a:endParaRPr lang="en-US" sz="1300" dirty="0"/>
          </a:p>
        </p:txBody>
      </p:sp>
      <p:sp>
        <p:nvSpPr>
          <p:cNvPr id="18" name="The trust rule"/>
          <p:cNvSpPr/>
          <p:nvPr/>
        </p:nvSpPr>
        <p:spPr>
          <a:xfrm>
            <a:off x="8183880" y="3566160"/>
            <a:ext cx="3675888" cy="2322576"/>
          </a:xfrm>
          <a:prstGeom prst="roundRect">
            <a:avLst>
              <a:gd name="adj" fmla="val 3937"/>
            </a:avLst>
          </a:prstGeom>
          <a:solidFill>
            <a:srgbClr val="E4F2EF"/>
          </a:solidFill>
          <a:ln/>
          <a:effectLst>
            <a:outerShdw sx="100000" sy="100000" kx="0" ky="0" algn="bl" rotWithShape="0" blurRad="177800" dist="38100" dir="8400000">
              <a:srgbClr val="0B1F28">
                <a:alpha val="10000"/>
              </a:srgbClr>
            </a:outerShdw>
          </a:effectLst>
        </p:spPr>
      </p:sp>
      <p:sp>
        <p:nvSpPr>
          <p:cNvPr id="19" name="The trust rule h"/>
          <p:cNvSpPr txBox="1"/>
          <p:nvPr/>
        </p:nvSpPr>
        <p:spPr>
          <a:xfrm>
            <a:off x="8366760" y="3730752"/>
            <a:ext cx="3310128" cy="566928"/>
          </a:xfrm>
          <a:prstGeom prst="rect">
            <a:avLst/>
          </a:prstGeom>
          <a:noFill/>
          <a:ln/>
        </p:spPr>
        <p:txBody>
          <a:bodyPr wrap="square" lIns="0" tIns="0" rIns="0" bIns="0" rtlCol="0" anchor="t"/>
          <a:lstStyle/>
          <a:p>
            <a:pPr indent="0" marL="0">
              <a:buNone/>
            </a:pPr>
            <a:r>
              <a:rPr lang="en-US" sz="1600" b="1" dirty="0">
                <a:solidFill>
                  <a:schemeClr val="tx1"/>
                </a:solidFill>
              </a:rPr>
              <a:t>The trust rule</a:t>
            </a:r>
            <a:endParaRPr lang="en-US" sz="1600" dirty="0"/>
          </a:p>
        </p:txBody>
      </p:sp>
      <p:sp>
        <p:nvSpPr>
          <p:cNvPr id="20" name="The trust rule b"/>
          <p:cNvSpPr txBox="1"/>
          <p:nvPr/>
        </p:nvSpPr>
        <p:spPr>
          <a:xfrm>
            <a:off x="8366760" y="4352544"/>
            <a:ext cx="3310128" cy="1371600"/>
          </a:xfrm>
          <a:prstGeom prst="rect">
            <a:avLst/>
          </a:prstGeom>
          <a:noFill/>
          <a:ln/>
        </p:spPr>
        <p:txBody>
          <a:bodyPr wrap="square" lIns="0" tIns="0" rIns="0" bIns="0" rtlCol="0" anchor="t"/>
          <a:lstStyle/>
          <a:p>
            <a:pPr indent="0" marL="0">
              <a:buNone/>
            </a:pPr>
            <a:r>
              <a:rPr lang="en-US" sz="1300" dirty="0">
                <a:solidFill>
                  <a:schemeClr val="tx1"/>
                </a:solidFill>
              </a:rPr>
              <a:t>Reliability is the wakeup and the lease. Certainty is Python. Safeguarding is a person. Gemini proposes. Code commits. The bank decides.</a:t>
            </a:r>
            <a:endParaRPr lang="en-US" sz="13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Policy is the desk's operating manual</a:t>
            </a:r>
            <a:endParaRPr lang="en-US" sz="3200" dirty="0"/>
          </a:p>
        </p:txBody>
      </p:sp>
      <p:sp>
        <p:nvSpPr>
          <p:cNvPr id="3" name="Policy lead"/>
          <p:cNvSpPr txBox="1"/>
          <p:nvPr/>
        </p:nvSpPr>
        <p:spPr>
          <a:xfrm>
            <a:off x="502920" y="1005840"/>
            <a:ext cx="11155680" cy="502920"/>
          </a:xfrm>
          <a:prstGeom prst="rect">
            <a:avLst/>
          </a:prstGeom>
          <a:noFill/>
          <a:ln/>
        </p:spPr>
        <p:txBody>
          <a:bodyPr wrap="square" lIns="0" tIns="0" rIns="0" bIns="0" rtlCol="0" anchor="t"/>
          <a:lstStyle/>
          <a:p>
            <a:pPr indent="0" marL="0">
              <a:buNone/>
            </a:pPr>
            <a:r>
              <a:rPr lang="en-US" sz="1600" dirty="0">
                <a:solidFill>
                  <a:schemeClr val="tx2"/>
                </a:solidFill>
              </a:rPr>
              <a:t>Daniel publishes it. Priya cannot. The case pins that version. Gemini may assess extra wording. It cannot waive a core check.</a:t>
            </a:r>
            <a:endParaRPr lang="en-US" sz="1600" dirty="0"/>
          </a:p>
        </p:txBody>
      </p:sp>
      <p:sp>
        <p:nvSpPr>
          <p:cNvPr id="4" name="Checklist and holds"/>
          <p:cNvSpPr/>
          <p:nvPr/>
        </p:nvSpPr>
        <p:spPr>
          <a:xfrm>
            <a:off x="502920" y="1627632"/>
            <a:ext cx="3675888" cy="2029968"/>
          </a:xfrm>
          <a:prstGeom prst="roundRect">
            <a:avLst>
              <a:gd name="adj" fmla="val 4505"/>
            </a:avLst>
          </a:prstGeom>
          <a:solidFill>
            <a:srgbClr val="E4F2EF"/>
          </a:solidFill>
          <a:ln/>
          <a:effectLst>
            <a:outerShdw sx="100000" sy="100000" kx="0" ky="0" algn="bl" rotWithShape="0" blurRad="177800" dist="38100" dir="8400000">
              <a:srgbClr val="0B1F28">
                <a:alpha val="10000"/>
              </a:srgbClr>
            </a:outerShdw>
          </a:effectLst>
        </p:spPr>
      </p:sp>
      <p:sp>
        <p:nvSpPr>
          <p:cNvPr id="5" name="Checklist and holds h"/>
          <p:cNvSpPr txBox="1"/>
          <p:nvPr/>
        </p:nvSpPr>
        <p:spPr>
          <a:xfrm>
            <a:off x="685800" y="1773936"/>
            <a:ext cx="3310128" cy="365760"/>
          </a:xfrm>
          <a:prstGeom prst="rect">
            <a:avLst/>
          </a:prstGeom>
          <a:noFill/>
          <a:ln/>
        </p:spPr>
        <p:txBody>
          <a:bodyPr wrap="square" lIns="0" tIns="0" rIns="0" bIns="0" rtlCol="0" anchor="t"/>
          <a:lstStyle/>
          <a:p>
            <a:pPr indent="0" marL="0">
              <a:buNone/>
            </a:pPr>
            <a:r>
              <a:rPr lang="en-US" sz="1600" b="1" dirty="0">
                <a:solidFill>
                  <a:schemeClr val="tx1"/>
                </a:solidFill>
              </a:rPr>
              <a:t>Checklist and holds</a:t>
            </a:r>
            <a:endParaRPr lang="en-US" sz="1600" dirty="0"/>
          </a:p>
        </p:txBody>
      </p:sp>
      <p:sp>
        <p:nvSpPr>
          <p:cNvPr id="6" name="Checklist and holds b"/>
          <p:cNvSpPr txBox="1"/>
          <p:nvPr/>
        </p:nvSpPr>
        <p:spPr>
          <a:xfrm>
            <a:off x="685800" y="2194560"/>
            <a:ext cx="3310128" cy="1280160"/>
          </a:xfrm>
          <a:prstGeom prst="rect">
            <a:avLst/>
          </a:prstGeom>
          <a:noFill/>
          <a:ln/>
        </p:spPr>
        <p:txBody>
          <a:bodyPr wrap="square" lIns="0" tIns="0" rIns="0" bIns="0" rtlCol="0" anchor="t"/>
          <a:lstStyle/>
          <a:p>
            <a:pPr indent="0" marL="0">
              <a:buNone/>
            </a:pPr>
            <a:r>
              <a:rPr lang="en-US" sz="1400" dirty="0">
                <a:solidFill>
                  <a:schemeClr val="tx1"/>
                </a:solidFill>
              </a:rPr>
              <a:t>Required documents, arithmetic, delivery identity, and the repeated-invoice hold. A text criterion cannot override those.</a:t>
            </a:r>
            <a:endParaRPr lang="en-US" sz="1400" dirty="0"/>
          </a:p>
        </p:txBody>
      </p:sp>
      <p:sp>
        <p:nvSpPr>
          <p:cNvPr id="7" name="Templates and timers"/>
          <p:cNvSpPr/>
          <p:nvPr/>
        </p:nvSpPr>
        <p:spPr>
          <a:xfrm>
            <a:off x="4343400" y="1627632"/>
            <a:ext cx="3675888" cy="2029968"/>
          </a:xfrm>
          <a:prstGeom prst="roundRect">
            <a:avLst>
              <a:gd name="adj" fmla="val 4505"/>
            </a:avLst>
          </a:prstGeom>
          <a:solidFill>
            <a:schemeClr val="bg2"/>
          </a:solidFill>
          <a:ln/>
          <a:effectLst>
            <a:outerShdw sx="100000" sy="100000" kx="0" ky="0" algn="bl" rotWithShape="0" blurRad="177800" dist="38100" dir="8400000">
              <a:srgbClr val="0B1F28">
                <a:alpha val="10000"/>
              </a:srgbClr>
            </a:outerShdw>
          </a:effectLst>
        </p:spPr>
      </p:sp>
      <p:sp>
        <p:nvSpPr>
          <p:cNvPr id="8" name="Templates and timers h"/>
          <p:cNvSpPr txBox="1"/>
          <p:nvPr/>
        </p:nvSpPr>
        <p:spPr>
          <a:xfrm>
            <a:off x="4526280" y="1773936"/>
            <a:ext cx="3310128" cy="365760"/>
          </a:xfrm>
          <a:prstGeom prst="rect">
            <a:avLst/>
          </a:prstGeom>
          <a:noFill/>
          <a:ln/>
        </p:spPr>
        <p:txBody>
          <a:bodyPr wrap="square" lIns="0" tIns="0" rIns="0" bIns="0" rtlCol="0" anchor="t"/>
          <a:lstStyle/>
          <a:p>
            <a:pPr indent="0" marL="0">
              <a:buNone/>
            </a:pPr>
            <a:r>
              <a:rPr lang="en-US" sz="1600" b="1" dirty="0">
                <a:solidFill>
                  <a:schemeClr val="tx1"/>
                </a:solidFill>
              </a:rPr>
              <a:t>Templates and timers</a:t>
            </a:r>
            <a:endParaRPr lang="en-US" sz="1600" dirty="0"/>
          </a:p>
        </p:txBody>
      </p:sp>
      <p:sp>
        <p:nvSpPr>
          <p:cNvPr id="9" name="Templates and timers b"/>
          <p:cNvSpPr txBox="1"/>
          <p:nvPr/>
        </p:nvSpPr>
        <p:spPr>
          <a:xfrm>
            <a:off x="4526280" y="2194560"/>
            <a:ext cx="3310128" cy="1280160"/>
          </a:xfrm>
          <a:prstGeom prst="rect">
            <a:avLst/>
          </a:prstGeom>
          <a:noFill/>
          <a:ln/>
        </p:spPr>
        <p:txBody>
          <a:bodyPr wrap="square" lIns="0" tIns="0" rIns="0" bIns="0" rtlCol="0" anchor="t"/>
          <a:lstStyle/>
          <a:p>
            <a:pPr indent="0" marL="0">
              <a:buNone/>
            </a:pPr>
            <a:r>
              <a:rPr lang="en-US" sz="1400" dirty="0">
                <a:solidFill>
                  <a:schemeClr val="tx1"/>
                </a:solidFill>
              </a:rPr>
              <a:t>The wording of the one request, reminders, and how long the file may wait. The agent may only use a published template.</a:t>
            </a:r>
            <a:endParaRPr lang="en-US" sz="1400" dirty="0"/>
          </a:p>
        </p:txBody>
      </p:sp>
      <p:sp>
        <p:nvSpPr>
          <p:cNvPr id="10" name="What the agent may"/>
          <p:cNvSpPr/>
          <p:nvPr/>
        </p:nvSpPr>
        <p:spPr>
          <a:xfrm>
            <a:off x="8183880" y="1627632"/>
            <a:ext cx="3675888" cy="2029968"/>
          </a:xfrm>
          <a:prstGeom prst="roundRect">
            <a:avLst>
              <a:gd name="adj" fmla="val 4505"/>
            </a:avLst>
          </a:prstGeom>
          <a:solidFill>
            <a:schemeClr val="bg2"/>
          </a:solidFill>
          <a:ln/>
          <a:effectLst>
            <a:outerShdw sx="100000" sy="100000" kx="0" ky="0" algn="bl" rotWithShape="0" blurRad="177800" dist="38100" dir="8400000">
              <a:srgbClr val="0B1F28">
                <a:alpha val="10000"/>
              </a:srgbClr>
            </a:outerShdw>
          </a:effectLst>
        </p:spPr>
      </p:sp>
      <p:sp>
        <p:nvSpPr>
          <p:cNvPr id="11" name="What the agent may h"/>
          <p:cNvSpPr txBox="1"/>
          <p:nvPr/>
        </p:nvSpPr>
        <p:spPr>
          <a:xfrm>
            <a:off x="8366760" y="1773936"/>
            <a:ext cx="3310128" cy="365760"/>
          </a:xfrm>
          <a:prstGeom prst="rect">
            <a:avLst/>
          </a:prstGeom>
          <a:noFill/>
          <a:ln/>
        </p:spPr>
        <p:txBody>
          <a:bodyPr wrap="square" lIns="0" tIns="0" rIns="0" bIns="0" rtlCol="0" anchor="t"/>
          <a:lstStyle/>
          <a:p>
            <a:pPr indent="0" marL="0">
              <a:buNone/>
            </a:pPr>
            <a:r>
              <a:rPr lang="en-US" sz="1600" b="1" dirty="0">
                <a:solidFill>
                  <a:schemeClr val="tx1"/>
                </a:solidFill>
              </a:rPr>
              <a:t>What the agent may</a:t>
            </a:r>
            <a:endParaRPr lang="en-US" sz="1600" dirty="0"/>
          </a:p>
        </p:txBody>
      </p:sp>
      <p:sp>
        <p:nvSpPr>
          <p:cNvPr id="12" name="What the agent may b"/>
          <p:cNvSpPr txBox="1"/>
          <p:nvPr/>
        </p:nvSpPr>
        <p:spPr>
          <a:xfrm>
            <a:off x="8366760" y="2194560"/>
            <a:ext cx="3310128" cy="1280160"/>
          </a:xfrm>
          <a:prstGeom prst="rect">
            <a:avLst/>
          </a:prstGeom>
          <a:noFill/>
          <a:ln/>
        </p:spPr>
        <p:txBody>
          <a:bodyPr wrap="square" lIns="0" tIns="0" rIns="0" bIns="0" rtlCol="0" anchor="t"/>
          <a:lstStyle/>
          <a:p>
            <a:pPr indent="0" marL="0">
              <a:buNone/>
            </a:pPr>
            <a:r>
              <a:rPr lang="en-US" sz="1400" dirty="0">
                <a:solidFill>
                  <a:schemeClr val="tx1"/>
                </a:solidFill>
              </a:rPr>
              <a:t>Request evidence. Open a human task. The page also lists what it may not: finance, pay, change policy, pick a recipient.</a:t>
            </a:r>
            <a:endParaRPr lang="en-US" sz="1400" dirty="0"/>
          </a:p>
        </p:txBody>
      </p:sp>
      <p:sp>
        <p:nvSpPr>
          <p:cNvPr id="13" name="Forced template"/>
          <p:cNvSpPr/>
          <p:nvPr/>
        </p:nvSpPr>
        <p:spPr>
          <a:xfrm>
            <a:off x="502920" y="3822192"/>
            <a:ext cx="3675888" cy="2029968"/>
          </a:xfrm>
          <a:prstGeom prst="roundRect">
            <a:avLst>
              <a:gd name="adj" fmla="val 4505"/>
            </a:avLst>
          </a:prstGeom>
          <a:solidFill>
            <a:schemeClr val="bg2"/>
          </a:solidFill>
          <a:ln/>
          <a:effectLst>
            <a:outerShdw sx="100000" sy="100000" kx="0" ky="0" algn="bl" rotWithShape="0" blurRad="177800" dist="38100" dir="8400000">
              <a:srgbClr val="0B1F28">
                <a:alpha val="10000"/>
              </a:srgbClr>
            </a:outerShdw>
          </a:effectLst>
        </p:spPr>
      </p:sp>
      <p:sp>
        <p:nvSpPr>
          <p:cNvPr id="14" name="Forced template h"/>
          <p:cNvSpPr txBox="1"/>
          <p:nvPr/>
        </p:nvSpPr>
        <p:spPr>
          <a:xfrm>
            <a:off x="685800" y="3968496"/>
            <a:ext cx="3310128" cy="365760"/>
          </a:xfrm>
          <a:prstGeom prst="rect">
            <a:avLst/>
          </a:prstGeom>
          <a:noFill/>
          <a:ln/>
        </p:spPr>
        <p:txBody>
          <a:bodyPr wrap="square" lIns="0" tIns="0" rIns="0" bIns="0" rtlCol="0" anchor="t"/>
          <a:lstStyle/>
          <a:p>
            <a:pPr indent="0" marL="0">
              <a:buNone/>
            </a:pPr>
            <a:r>
              <a:rPr lang="en-US" sz="1600" b="1" dirty="0">
                <a:solidFill>
                  <a:schemeClr val="tx1"/>
                </a:solidFill>
              </a:rPr>
              <a:t>Forced template</a:t>
            </a:r>
            <a:endParaRPr lang="en-US" sz="1600" dirty="0"/>
          </a:p>
        </p:txBody>
      </p:sp>
      <p:sp>
        <p:nvSpPr>
          <p:cNvPr id="15" name="Forced template b"/>
          <p:cNvSpPr txBox="1"/>
          <p:nvPr/>
        </p:nvSpPr>
        <p:spPr>
          <a:xfrm>
            <a:off x="685800" y="4389120"/>
            <a:ext cx="3310128" cy="1280160"/>
          </a:xfrm>
          <a:prstGeom prst="rect">
            <a:avLst/>
          </a:prstGeom>
          <a:noFill/>
          <a:ln/>
        </p:spPr>
        <p:txBody>
          <a:bodyPr wrap="square" lIns="0" tIns="0" rIns="0" bIns="0" rtlCol="0" anchor="t"/>
          <a:lstStyle/>
          <a:p>
            <a:pPr indent="0" marL="0">
              <a:buNone/>
            </a:pPr>
            <a:r>
              <a:rPr lang="en-US" sz="1400" dirty="0">
                <a:solidFill>
                  <a:schemeClr val="tx1"/>
                </a:solidFill>
              </a:rPr>
              <a:t>If the bank wants a letterhead, a hashed reference PDF is required. Later uploads are compared to that layout.</a:t>
            </a:r>
            <a:endParaRPr lang="en-US" sz="1400" dirty="0"/>
          </a:p>
        </p:txBody>
      </p:sp>
      <p:sp>
        <p:nvSpPr>
          <p:cNvPr id="16" name="Extra criteria"/>
          <p:cNvSpPr/>
          <p:nvPr/>
        </p:nvSpPr>
        <p:spPr>
          <a:xfrm>
            <a:off x="4343400" y="3822192"/>
            <a:ext cx="3675888" cy="2029968"/>
          </a:xfrm>
          <a:prstGeom prst="roundRect">
            <a:avLst>
              <a:gd name="adj" fmla="val 4505"/>
            </a:avLst>
          </a:prstGeom>
          <a:solidFill>
            <a:schemeClr val="bg2"/>
          </a:solidFill>
          <a:ln/>
          <a:effectLst>
            <a:outerShdw sx="100000" sy="100000" kx="0" ky="0" algn="bl" rotWithShape="0" blurRad="177800" dist="38100" dir="8400000">
              <a:srgbClr val="0B1F28">
                <a:alpha val="10000"/>
              </a:srgbClr>
            </a:outerShdw>
          </a:effectLst>
        </p:spPr>
      </p:sp>
      <p:sp>
        <p:nvSpPr>
          <p:cNvPr id="17" name="Extra criteria h"/>
          <p:cNvSpPr txBox="1"/>
          <p:nvPr/>
        </p:nvSpPr>
        <p:spPr>
          <a:xfrm>
            <a:off x="4526280" y="3968496"/>
            <a:ext cx="3310128" cy="365760"/>
          </a:xfrm>
          <a:prstGeom prst="rect">
            <a:avLst/>
          </a:prstGeom>
          <a:noFill/>
          <a:ln/>
        </p:spPr>
        <p:txBody>
          <a:bodyPr wrap="square" lIns="0" tIns="0" rIns="0" bIns="0" rtlCol="0" anchor="t"/>
          <a:lstStyle/>
          <a:p>
            <a:pPr indent="0" marL="0">
              <a:buNone/>
            </a:pPr>
            <a:r>
              <a:rPr lang="en-US" sz="1600" b="1" dirty="0">
                <a:solidFill>
                  <a:schemeClr val="tx1"/>
                </a:solidFill>
              </a:rPr>
              <a:t>Extra criteria</a:t>
            </a:r>
            <a:endParaRPr lang="en-US" sz="1600" dirty="0"/>
          </a:p>
        </p:txBody>
      </p:sp>
      <p:sp>
        <p:nvSpPr>
          <p:cNvPr id="18" name="Extra criteria b"/>
          <p:cNvSpPr txBox="1"/>
          <p:nvPr/>
        </p:nvSpPr>
        <p:spPr>
          <a:xfrm>
            <a:off x="4526280" y="4389120"/>
            <a:ext cx="3310128" cy="1280160"/>
          </a:xfrm>
          <a:prstGeom prst="rect">
            <a:avLst/>
          </a:prstGeom>
          <a:noFill/>
          <a:ln/>
        </p:spPr>
        <p:txBody>
          <a:bodyPr wrap="square" lIns="0" tIns="0" rIns="0" bIns="0" rtlCol="0" anchor="t"/>
          <a:lstStyle/>
          <a:p>
            <a:pPr indent="0" marL="0">
              <a:buNone/>
            </a:pPr>
            <a:r>
              <a:rPr lang="en-US" sz="1400" dirty="0">
                <a:solidFill>
                  <a:schemeClr val="tx1"/>
                </a:solidFill>
              </a:rPr>
              <a:t>Added lines are assessed by Gemini against the current pages, with validated quotes. Uncertain findings block completion.</a:t>
            </a:r>
            <a:endParaRPr lang="en-US" sz="1400" dirty="0"/>
          </a:p>
        </p:txBody>
      </p:sp>
      <p:sp>
        <p:nvSpPr>
          <p:cNvPr id="19" name="Off, shadow, autonomous"/>
          <p:cNvSpPr/>
          <p:nvPr/>
        </p:nvSpPr>
        <p:spPr>
          <a:xfrm>
            <a:off x="8183880" y="3822192"/>
            <a:ext cx="3675888" cy="2029968"/>
          </a:xfrm>
          <a:prstGeom prst="roundRect">
            <a:avLst>
              <a:gd name="adj" fmla="val 4505"/>
            </a:avLst>
          </a:prstGeom>
          <a:solidFill>
            <a:schemeClr val="bg2"/>
          </a:solidFill>
          <a:ln/>
          <a:effectLst>
            <a:outerShdw sx="100000" sy="100000" kx="0" ky="0" algn="bl" rotWithShape="0" blurRad="177800" dist="38100" dir="8400000">
              <a:srgbClr val="0B1F28">
                <a:alpha val="10000"/>
              </a:srgbClr>
            </a:outerShdw>
          </a:effectLst>
        </p:spPr>
      </p:sp>
      <p:sp>
        <p:nvSpPr>
          <p:cNvPr id="20" name="Off, shadow, autonomous h"/>
          <p:cNvSpPr txBox="1"/>
          <p:nvPr/>
        </p:nvSpPr>
        <p:spPr>
          <a:xfrm>
            <a:off x="8366760" y="3968496"/>
            <a:ext cx="3310128" cy="365760"/>
          </a:xfrm>
          <a:prstGeom prst="rect">
            <a:avLst/>
          </a:prstGeom>
          <a:noFill/>
          <a:ln/>
        </p:spPr>
        <p:txBody>
          <a:bodyPr wrap="square" lIns="0" tIns="0" rIns="0" bIns="0" rtlCol="0" anchor="t"/>
          <a:lstStyle/>
          <a:p>
            <a:pPr indent="0" marL="0">
              <a:buNone/>
            </a:pPr>
            <a:r>
              <a:rPr lang="en-US" sz="1600" b="1" dirty="0">
                <a:solidFill>
                  <a:schemeClr val="tx1"/>
                </a:solidFill>
              </a:rPr>
              <a:t>Off, shadow, autonomous</a:t>
            </a:r>
            <a:endParaRPr lang="en-US" sz="1600" dirty="0"/>
          </a:p>
        </p:txBody>
      </p:sp>
      <p:sp>
        <p:nvSpPr>
          <p:cNvPr id="21" name="Off, shadow, autonomous b"/>
          <p:cNvSpPr txBox="1"/>
          <p:nvPr/>
        </p:nvSpPr>
        <p:spPr>
          <a:xfrm>
            <a:off x="8366760" y="4389120"/>
            <a:ext cx="3310128" cy="1280160"/>
          </a:xfrm>
          <a:prstGeom prst="rect">
            <a:avLst/>
          </a:prstGeom>
          <a:noFill/>
          <a:ln/>
        </p:spPr>
        <p:txBody>
          <a:bodyPr wrap="square" lIns="0" tIns="0" rIns="0" bIns="0" rtlCol="0" anchor="t"/>
          <a:lstStyle/>
          <a:p>
            <a:pPr indent="0" marL="0">
              <a:buNone/>
            </a:pPr>
            <a:r>
              <a:rPr lang="en-US" sz="1400" dirty="0">
                <a:solidFill>
                  <a:schemeClr val="tx1"/>
                </a:solidFill>
              </a:rPr>
              <a:t>Off stops the agent. Shadow records proposals. Autonomous permits validated commands. Budget or a fault opens a task.</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The path a request actually takes</a:t>
            </a:r>
            <a:endParaRPr lang="en-US" sz="3200" dirty="0"/>
          </a:p>
        </p:txBody>
      </p:sp>
      <p:sp>
        <p:nvSpPr>
          <p:cNvPr id="3" name="Vendor / bank"/>
          <p:cNvSpPr/>
          <p:nvPr/>
        </p:nvSpPr>
        <p:spPr>
          <a:xfrm>
            <a:off x="502920" y="1143000"/>
            <a:ext cx="1828800" cy="1554480"/>
          </a:xfrm>
          <a:prstGeom prst="roundRect">
            <a:avLst>
              <a:gd name="adj" fmla="val 5882"/>
            </a:avLst>
          </a:prstGeom>
          <a:solidFill>
            <a:schemeClr val="bg2"/>
          </a:solidFill>
          <a:ln/>
          <a:effectLst>
            <a:outerShdw sx="100000" sy="100000" kx="0" ky="0" algn="bl" rotWithShape="0" blurRad="177800" dist="38100" dir="8400000">
              <a:srgbClr val="0B1F28">
                <a:alpha val="10000"/>
              </a:srgbClr>
            </a:outerShdw>
          </a:effectLst>
        </p:spPr>
      </p:sp>
      <p:sp>
        <p:nvSpPr>
          <p:cNvPr id="4" name="Flow arrow 0"/>
          <p:cNvSpPr/>
          <p:nvPr/>
        </p:nvSpPr>
        <p:spPr>
          <a:xfrm>
            <a:off x="2295144" y="1783080"/>
            <a:ext cx="182880" cy="164592"/>
          </a:xfrm>
          <a:prstGeom prst="rightArrow">
            <a:avLst/>
          </a:prstGeom>
          <a:solidFill>
            <a:srgbClr val="0E7C73"/>
          </a:solidFill>
          <a:ln/>
        </p:spPr>
      </p:sp>
      <p:sp>
        <p:nvSpPr>
          <p:cNvPr id="5" name="Flow Vendor / bank"/>
          <p:cNvSpPr txBox="1"/>
          <p:nvPr/>
        </p:nvSpPr>
        <p:spPr>
          <a:xfrm>
            <a:off x="594360" y="1325880"/>
            <a:ext cx="1645920" cy="640080"/>
          </a:xfrm>
          <a:prstGeom prst="rect">
            <a:avLst/>
          </a:prstGeom>
          <a:noFill/>
          <a:ln/>
        </p:spPr>
        <p:txBody>
          <a:bodyPr wrap="square" lIns="0" tIns="0" rIns="0" bIns="0" rtlCol="0" anchor="t"/>
          <a:lstStyle/>
          <a:p>
            <a:pPr indent="0" marL="0">
              <a:buNone/>
            </a:pPr>
            <a:r>
              <a:rPr lang="en-US" sz="1400" b="1" dirty="0">
                <a:solidFill>
                  <a:schemeClr val="tx1"/>
                </a:solidFill>
              </a:rPr>
              <a:t>Vendor / bank</a:t>
            </a:r>
            <a:endParaRPr lang="en-US" sz="1400" dirty="0"/>
          </a:p>
        </p:txBody>
      </p:sp>
      <p:sp>
        <p:nvSpPr>
          <p:cNvPr id="6" name="Flow body Vendor / bank"/>
          <p:cNvSpPr txBox="1"/>
          <p:nvPr/>
        </p:nvSpPr>
        <p:spPr>
          <a:xfrm>
            <a:off x="594360" y="2029968"/>
            <a:ext cx="1645920" cy="457200"/>
          </a:xfrm>
          <a:prstGeom prst="rect">
            <a:avLst/>
          </a:prstGeom>
          <a:noFill/>
          <a:ln/>
        </p:spPr>
        <p:txBody>
          <a:bodyPr wrap="square" lIns="0" tIns="0" rIns="0" bIns="0" rtlCol="0" anchor="t"/>
          <a:lstStyle/>
          <a:p>
            <a:pPr indent="0" marL="0">
              <a:buNone/>
            </a:pPr>
            <a:r>
              <a:rPr lang="en-US" sz="1300" dirty="0">
                <a:solidFill>
                  <a:schemeClr val="tx2"/>
                </a:solidFill>
              </a:rPr>
              <a:t>Next.js</a:t>
            </a:r>
            <a:endParaRPr lang="en-US" sz="1300" dirty="0"/>
          </a:p>
        </p:txBody>
      </p:sp>
      <p:sp>
        <p:nvSpPr>
          <p:cNvPr id="7" name="API"/>
          <p:cNvSpPr/>
          <p:nvPr/>
        </p:nvSpPr>
        <p:spPr>
          <a:xfrm>
            <a:off x="2441448" y="1143000"/>
            <a:ext cx="1828800" cy="1554480"/>
          </a:xfrm>
          <a:prstGeom prst="roundRect">
            <a:avLst>
              <a:gd name="adj" fmla="val 5882"/>
            </a:avLst>
          </a:prstGeom>
          <a:solidFill>
            <a:schemeClr val="bg2"/>
          </a:solidFill>
          <a:ln/>
          <a:effectLst>
            <a:outerShdw sx="100000" sy="100000" kx="0" ky="0" algn="bl" rotWithShape="0" blurRad="177800" dist="38100" dir="8400000">
              <a:srgbClr val="0B1F28">
                <a:alpha val="10000"/>
              </a:srgbClr>
            </a:outerShdw>
          </a:effectLst>
        </p:spPr>
      </p:sp>
      <p:sp>
        <p:nvSpPr>
          <p:cNvPr id="8" name="Flow arrow 1"/>
          <p:cNvSpPr/>
          <p:nvPr/>
        </p:nvSpPr>
        <p:spPr>
          <a:xfrm>
            <a:off x="4233672" y="1783080"/>
            <a:ext cx="182880" cy="164592"/>
          </a:xfrm>
          <a:prstGeom prst="rightArrow">
            <a:avLst/>
          </a:prstGeom>
          <a:solidFill>
            <a:srgbClr val="0E7C73"/>
          </a:solidFill>
          <a:ln/>
        </p:spPr>
      </p:sp>
      <p:sp>
        <p:nvSpPr>
          <p:cNvPr id="9" name="Flow API"/>
          <p:cNvSpPr txBox="1"/>
          <p:nvPr/>
        </p:nvSpPr>
        <p:spPr>
          <a:xfrm>
            <a:off x="2532888" y="1325880"/>
            <a:ext cx="1645920" cy="640080"/>
          </a:xfrm>
          <a:prstGeom prst="rect">
            <a:avLst/>
          </a:prstGeom>
          <a:noFill/>
          <a:ln/>
        </p:spPr>
        <p:txBody>
          <a:bodyPr wrap="square" lIns="0" tIns="0" rIns="0" bIns="0" rtlCol="0" anchor="t"/>
          <a:lstStyle/>
          <a:p>
            <a:pPr indent="0" marL="0">
              <a:buNone/>
            </a:pPr>
            <a:r>
              <a:rPr lang="en-US" sz="1400" b="1" dirty="0">
                <a:solidFill>
                  <a:schemeClr val="tx1"/>
                </a:solidFill>
              </a:rPr>
              <a:t>API</a:t>
            </a:r>
            <a:endParaRPr lang="en-US" sz="1400" dirty="0"/>
          </a:p>
        </p:txBody>
      </p:sp>
      <p:sp>
        <p:nvSpPr>
          <p:cNvPr id="10" name="Flow body API"/>
          <p:cNvSpPr txBox="1"/>
          <p:nvPr/>
        </p:nvSpPr>
        <p:spPr>
          <a:xfrm>
            <a:off x="2532888" y="2029968"/>
            <a:ext cx="1645920" cy="457200"/>
          </a:xfrm>
          <a:prstGeom prst="rect">
            <a:avLst/>
          </a:prstGeom>
          <a:noFill/>
          <a:ln/>
        </p:spPr>
        <p:txBody>
          <a:bodyPr wrap="square" lIns="0" tIns="0" rIns="0" bIns="0" rtlCol="0" anchor="t"/>
          <a:lstStyle/>
          <a:p>
            <a:pPr indent="0" marL="0">
              <a:buNone/>
            </a:pPr>
            <a:r>
              <a:rPr lang="en-US" sz="1300" dirty="0">
                <a:solidFill>
                  <a:schemeClr val="tx2"/>
                </a:solidFill>
              </a:rPr>
              <a:t>FastAPI</a:t>
            </a:r>
            <a:endParaRPr lang="en-US" sz="1300" dirty="0"/>
          </a:p>
        </p:txBody>
      </p:sp>
      <p:sp>
        <p:nvSpPr>
          <p:cNvPr id="11" name="PostgreSQL"/>
          <p:cNvSpPr/>
          <p:nvPr/>
        </p:nvSpPr>
        <p:spPr>
          <a:xfrm>
            <a:off x="4379976" y="1143000"/>
            <a:ext cx="1828800" cy="1554480"/>
          </a:xfrm>
          <a:prstGeom prst="roundRect">
            <a:avLst>
              <a:gd name="adj" fmla="val 5882"/>
            </a:avLst>
          </a:prstGeom>
          <a:solidFill>
            <a:schemeClr val="bg2"/>
          </a:solidFill>
          <a:ln/>
          <a:effectLst>
            <a:outerShdw sx="100000" sy="100000" kx="0" ky="0" algn="bl" rotWithShape="0" blurRad="177800" dist="38100" dir="8400000">
              <a:srgbClr val="0B1F28">
                <a:alpha val="10000"/>
              </a:srgbClr>
            </a:outerShdw>
          </a:effectLst>
        </p:spPr>
      </p:sp>
      <p:sp>
        <p:nvSpPr>
          <p:cNvPr id="12" name="Flow arrow 2"/>
          <p:cNvSpPr/>
          <p:nvPr/>
        </p:nvSpPr>
        <p:spPr>
          <a:xfrm>
            <a:off x="6172200" y="1783080"/>
            <a:ext cx="182880" cy="164592"/>
          </a:xfrm>
          <a:prstGeom prst="rightArrow">
            <a:avLst/>
          </a:prstGeom>
          <a:solidFill>
            <a:srgbClr val="0E7C73"/>
          </a:solidFill>
          <a:ln/>
        </p:spPr>
      </p:sp>
      <p:sp>
        <p:nvSpPr>
          <p:cNvPr id="13" name="Flow PostgreSQL"/>
          <p:cNvSpPr txBox="1"/>
          <p:nvPr/>
        </p:nvSpPr>
        <p:spPr>
          <a:xfrm>
            <a:off x="4471416" y="1325880"/>
            <a:ext cx="1645920" cy="640080"/>
          </a:xfrm>
          <a:prstGeom prst="rect">
            <a:avLst/>
          </a:prstGeom>
          <a:noFill/>
          <a:ln/>
        </p:spPr>
        <p:txBody>
          <a:bodyPr wrap="square" lIns="0" tIns="0" rIns="0" bIns="0" rtlCol="0" anchor="t"/>
          <a:lstStyle/>
          <a:p>
            <a:pPr indent="0" marL="0">
              <a:buNone/>
            </a:pPr>
            <a:r>
              <a:rPr lang="en-US" sz="1400" b="1" dirty="0">
                <a:solidFill>
                  <a:schemeClr val="tx1"/>
                </a:solidFill>
              </a:rPr>
              <a:t>PostgreSQL</a:t>
            </a:r>
            <a:endParaRPr lang="en-US" sz="1400" dirty="0"/>
          </a:p>
        </p:txBody>
      </p:sp>
      <p:sp>
        <p:nvSpPr>
          <p:cNvPr id="14" name="Flow body PostgreSQL"/>
          <p:cNvSpPr txBox="1"/>
          <p:nvPr/>
        </p:nvSpPr>
        <p:spPr>
          <a:xfrm>
            <a:off x="4471416" y="2029968"/>
            <a:ext cx="1645920" cy="457200"/>
          </a:xfrm>
          <a:prstGeom prst="rect">
            <a:avLst/>
          </a:prstGeom>
          <a:noFill/>
          <a:ln/>
        </p:spPr>
        <p:txBody>
          <a:bodyPr wrap="square" lIns="0" tIns="0" rIns="0" bIns="0" rtlCol="0" anchor="t"/>
          <a:lstStyle/>
          <a:p>
            <a:pPr indent="0" marL="0">
              <a:buNone/>
            </a:pPr>
            <a:r>
              <a:rPr lang="en-US" sz="1300" dirty="0">
                <a:solidFill>
                  <a:schemeClr val="tx2"/>
                </a:solidFill>
              </a:rPr>
              <a:t>Case, jobs, RLS</a:t>
            </a:r>
            <a:endParaRPr lang="en-US" sz="1300" dirty="0"/>
          </a:p>
        </p:txBody>
      </p:sp>
      <p:sp>
        <p:nvSpPr>
          <p:cNvPr id="15" name="Outbox"/>
          <p:cNvSpPr/>
          <p:nvPr/>
        </p:nvSpPr>
        <p:spPr>
          <a:xfrm>
            <a:off x="6318504" y="1143000"/>
            <a:ext cx="1828800" cy="1554480"/>
          </a:xfrm>
          <a:prstGeom prst="roundRect">
            <a:avLst>
              <a:gd name="adj" fmla="val 5882"/>
            </a:avLst>
          </a:prstGeom>
          <a:solidFill>
            <a:schemeClr val="bg2"/>
          </a:solidFill>
          <a:ln/>
          <a:effectLst>
            <a:outerShdw sx="100000" sy="100000" kx="0" ky="0" algn="bl" rotWithShape="0" blurRad="177800" dist="38100" dir="8400000">
              <a:srgbClr val="0B1F28">
                <a:alpha val="10000"/>
              </a:srgbClr>
            </a:outerShdw>
          </a:effectLst>
        </p:spPr>
      </p:sp>
      <p:sp>
        <p:nvSpPr>
          <p:cNvPr id="16" name="Flow arrow 3"/>
          <p:cNvSpPr/>
          <p:nvPr/>
        </p:nvSpPr>
        <p:spPr>
          <a:xfrm>
            <a:off x="8110728" y="1783080"/>
            <a:ext cx="182880" cy="164592"/>
          </a:xfrm>
          <a:prstGeom prst="rightArrow">
            <a:avLst/>
          </a:prstGeom>
          <a:solidFill>
            <a:srgbClr val="0E7C73"/>
          </a:solidFill>
          <a:ln/>
        </p:spPr>
      </p:sp>
      <p:sp>
        <p:nvSpPr>
          <p:cNvPr id="17" name="Flow Outbox"/>
          <p:cNvSpPr txBox="1"/>
          <p:nvPr/>
        </p:nvSpPr>
        <p:spPr>
          <a:xfrm>
            <a:off x="6409944" y="1325880"/>
            <a:ext cx="1645920" cy="640080"/>
          </a:xfrm>
          <a:prstGeom prst="rect">
            <a:avLst/>
          </a:prstGeom>
          <a:noFill/>
          <a:ln/>
        </p:spPr>
        <p:txBody>
          <a:bodyPr wrap="square" lIns="0" tIns="0" rIns="0" bIns="0" rtlCol="0" anchor="t"/>
          <a:lstStyle/>
          <a:p>
            <a:pPr indent="0" marL="0">
              <a:buNone/>
            </a:pPr>
            <a:r>
              <a:rPr lang="en-US" sz="1400" b="1" dirty="0">
                <a:solidFill>
                  <a:schemeClr val="tx1"/>
                </a:solidFill>
              </a:rPr>
              <a:t>Outbox</a:t>
            </a:r>
            <a:endParaRPr lang="en-US" sz="1400" dirty="0"/>
          </a:p>
        </p:txBody>
      </p:sp>
      <p:sp>
        <p:nvSpPr>
          <p:cNvPr id="18" name="Flow body Outbox"/>
          <p:cNvSpPr txBox="1"/>
          <p:nvPr/>
        </p:nvSpPr>
        <p:spPr>
          <a:xfrm>
            <a:off x="6409944" y="2029968"/>
            <a:ext cx="1645920" cy="457200"/>
          </a:xfrm>
          <a:prstGeom prst="rect">
            <a:avLst/>
          </a:prstGeom>
          <a:noFill/>
          <a:ln/>
        </p:spPr>
        <p:txBody>
          <a:bodyPr wrap="square" lIns="0" tIns="0" rIns="0" bIns="0" rtlCol="0" anchor="t"/>
          <a:lstStyle/>
          <a:p>
            <a:pPr indent="0" marL="0">
              <a:buNone/>
            </a:pPr>
            <a:r>
              <a:rPr lang="en-US" sz="1300" dirty="0">
                <a:solidFill>
                  <a:schemeClr val="tx2"/>
                </a:solidFill>
              </a:rPr>
              <a:t>Dispatcher</a:t>
            </a:r>
            <a:endParaRPr lang="en-US" sz="1300" dirty="0"/>
          </a:p>
        </p:txBody>
      </p:sp>
      <p:sp>
        <p:nvSpPr>
          <p:cNvPr id="19" name="Worker"/>
          <p:cNvSpPr/>
          <p:nvPr/>
        </p:nvSpPr>
        <p:spPr>
          <a:xfrm>
            <a:off x="8257032" y="1143000"/>
            <a:ext cx="1828800" cy="1554480"/>
          </a:xfrm>
          <a:prstGeom prst="roundRect">
            <a:avLst>
              <a:gd name="adj" fmla="val 5882"/>
            </a:avLst>
          </a:prstGeom>
          <a:solidFill>
            <a:schemeClr val="bg2"/>
          </a:solidFill>
          <a:ln/>
          <a:effectLst>
            <a:outerShdw sx="100000" sy="100000" kx="0" ky="0" algn="bl" rotWithShape="0" blurRad="177800" dist="38100" dir="8400000">
              <a:srgbClr val="0B1F28">
                <a:alpha val="10000"/>
              </a:srgbClr>
            </a:outerShdw>
          </a:effectLst>
        </p:spPr>
      </p:sp>
      <p:sp>
        <p:nvSpPr>
          <p:cNvPr id="20" name="Flow arrow 4"/>
          <p:cNvSpPr/>
          <p:nvPr/>
        </p:nvSpPr>
        <p:spPr>
          <a:xfrm>
            <a:off x="10049256" y="1783080"/>
            <a:ext cx="182880" cy="164592"/>
          </a:xfrm>
          <a:prstGeom prst="rightArrow">
            <a:avLst/>
          </a:prstGeom>
          <a:solidFill>
            <a:srgbClr val="0E7C73"/>
          </a:solidFill>
          <a:ln/>
        </p:spPr>
      </p:sp>
      <p:sp>
        <p:nvSpPr>
          <p:cNvPr id="21" name="Flow Worker"/>
          <p:cNvSpPr txBox="1"/>
          <p:nvPr/>
        </p:nvSpPr>
        <p:spPr>
          <a:xfrm>
            <a:off x="8348472" y="1325880"/>
            <a:ext cx="1645920" cy="640080"/>
          </a:xfrm>
          <a:prstGeom prst="rect">
            <a:avLst/>
          </a:prstGeom>
          <a:noFill/>
          <a:ln/>
        </p:spPr>
        <p:txBody>
          <a:bodyPr wrap="square" lIns="0" tIns="0" rIns="0" bIns="0" rtlCol="0" anchor="t"/>
          <a:lstStyle/>
          <a:p>
            <a:pPr indent="0" marL="0">
              <a:buNone/>
            </a:pPr>
            <a:r>
              <a:rPr lang="en-US" sz="1400" b="1" dirty="0">
                <a:solidFill>
                  <a:schemeClr val="tx1"/>
                </a:solidFill>
              </a:rPr>
              <a:t>Worker</a:t>
            </a:r>
            <a:endParaRPr lang="en-US" sz="1400" dirty="0"/>
          </a:p>
        </p:txBody>
      </p:sp>
      <p:sp>
        <p:nvSpPr>
          <p:cNvPr id="22" name="Flow body Worker"/>
          <p:cNvSpPr txBox="1"/>
          <p:nvPr/>
        </p:nvSpPr>
        <p:spPr>
          <a:xfrm>
            <a:off x="8348472" y="2029968"/>
            <a:ext cx="1645920" cy="457200"/>
          </a:xfrm>
          <a:prstGeom prst="rect">
            <a:avLst/>
          </a:prstGeom>
          <a:noFill/>
          <a:ln/>
        </p:spPr>
        <p:txBody>
          <a:bodyPr wrap="square" lIns="0" tIns="0" rIns="0" bIns="0" rtlCol="0" anchor="t"/>
          <a:lstStyle/>
          <a:p>
            <a:pPr indent="0" marL="0">
              <a:buNone/>
            </a:pPr>
            <a:r>
              <a:rPr lang="en-US" sz="1300" dirty="0">
                <a:solidFill>
                  <a:schemeClr val="tx2"/>
                </a:solidFill>
              </a:rPr>
              <a:t>Lease</a:t>
            </a:r>
            <a:endParaRPr lang="en-US" sz="1300" dirty="0"/>
          </a:p>
        </p:txBody>
      </p:sp>
      <p:sp>
        <p:nvSpPr>
          <p:cNvPr id="23" name="ADK + Gemini"/>
          <p:cNvSpPr/>
          <p:nvPr/>
        </p:nvSpPr>
        <p:spPr>
          <a:xfrm>
            <a:off x="10195560" y="1143000"/>
            <a:ext cx="1828800" cy="1554480"/>
          </a:xfrm>
          <a:prstGeom prst="roundRect">
            <a:avLst>
              <a:gd name="adj" fmla="val 5882"/>
            </a:avLst>
          </a:prstGeom>
          <a:solidFill>
            <a:srgbClr val="E4F2EF"/>
          </a:solidFill>
          <a:ln/>
          <a:effectLst>
            <a:outerShdw sx="100000" sy="100000" kx="0" ky="0" algn="bl" rotWithShape="0" blurRad="177800" dist="38100" dir="8400000">
              <a:srgbClr val="0B1F28">
                <a:alpha val="10000"/>
              </a:srgbClr>
            </a:outerShdw>
          </a:effectLst>
        </p:spPr>
      </p:sp>
      <p:sp>
        <p:nvSpPr>
          <p:cNvPr id="24" name="Flow ADK + Gemini"/>
          <p:cNvSpPr txBox="1"/>
          <p:nvPr/>
        </p:nvSpPr>
        <p:spPr>
          <a:xfrm>
            <a:off x="10287000" y="1325880"/>
            <a:ext cx="1645920" cy="640080"/>
          </a:xfrm>
          <a:prstGeom prst="rect">
            <a:avLst/>
          </a:prstGeom>
          <a:noFill/>
          <a:ln/>
        </p:spPr>
        <p:txBody>
          <a:bodyPr wrap="square" lIns="0" tIns="0" rIns="0" bIns="0" rtlCol="0" anchor="t"/>
          <a:lstStyle/>
          <a:p>
            <a:pPr indent="0" marL="0">
              <a:buNone/>
            </a:pPr>
            <a:r>
              <a:rPr lang="en-US" sz="1400" b="1" dirty="0">
                <a:solidFill>
                  <a:schemeClr val="tx1"/>
                </a:solidFill>
              </a:rPr>
              <a:t>ADK + Gemini</a:t>
            </a:r>
            <a:endParaRPr lang="en-US" sz="1400" dirty="0"/>
          </a:p>
        </p:txBody>
      </p:sp>
      <p:sp>
        <p:nvSpPr>
          <p:cNvPr id="25" name="Flow body ADK + Gemini"/>
          <p:cNvSpPr txBox="1"/>
          <p:nvPr/>
        </p:nvSpPr>
        <p:spPr>
          <a:xfrm>
            <a:off x="10287000" y="2029968"/>
            <a:ext cx="1645920" cy="457200"/>
          </a:xfrm>
          <a:prstGeom prst="rect">
            <a:avLst/>
          </a:prstGeom>
          <a:noFill/>
          <a:ln/>
        </p:spPr>
        <p:txBody>
          <a:bodyPr wrap="square" lIns="0" tIns="0" rIns="0" bIns="0" rtlCol="0" anchor="t"/>
          <a:lstStyle/>
          <a:p>
            <a:pPr indent="0" marL="0">
              <a:buNone/>
            </a:pPr>
            <a:r>
              <a:rPr lang="en-US" sz="1300" dirty="0">
                <a:solidFill>
                  <a:schemeClr val="tx2"/>
                </a:solidFill>
              </a:rPr>
              <a:t>Vertex</a:t>
            </a:r>
            <a:endParaRPr lang="en-US" sz="1300" dirty="0"/>
          </a:p>
        </p:txBody>
      </p:sp>
      <p:sp>
        <p:nvSpPr>
          <p:cNvPr id="26" name="Waiting is data"/>
          <p:cNvSpPr/>
          <p:nvPr/>
        </p:nvSpPr>
        <p:spPr>
          <a:xfrm>
            <a:off x="502920" y="2926080"/>
            <a:ext cx="5623560" cy="1417320"/>
          </a:xfrm>
          <a:prstGeom prst="roundRect">
            <a:avLst>
              <a:gd name="adj" fmla="val 6452"/>
            </a:avLst>
          </a:prstGeom>
          <a:solidFill>
            <a:schemeClr val="bg2"/>
          </a:solidFill>
          <a:ln/>
          <a:effectLst>
            <a:outerShdw sx="100000" sy="100000" kx="0" ky="0" algn="bl" rotWithShape="0" blurRad="177800" dist="38100" dir="8400000">
              <a:srgbClr val="0B1F28">
                <a:alpha val="10000"/>
              </a:srgbClr>
            </a:outerShdw>
          </a:effectLst>
        </p:spPr>
      </p:sp>
      <p:sp>
        <p:nvSpPr>
          <p:cNvPr id="27" name="Waiting is data h"/>
          <p:cNvSpPr txBox="1"/>
          <p:nvPr/>
        </p:nvSpPr>
        <p:spPr>
          <a:xfrm>
            <a:off x="740664" y="3108960"/>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Waiting is data</a:t>
            </a:r>
            <a:endParaRPr lang="en-US" sz="1600" dirty="0"/>
          </a:p>
        </p:txBody>
      </p:sp>
      <p:sp>
        <p:nvSpPr>
          <p:cNvPr id="28" name="Waiting is data b"/>
          <p:cNvSpPr txBox="1"/>
          <p:nvPr/>
        </p:nvSpPr>
        <p:spPr>
          <a:xfrm>
            <a:off x="740664" y="3493008"/>
            <a:ext cx="5166360" cy="640080"/>
          </a:xfrm>
          <a:prstGeom prst="rect">
            <a:avLst/>
          </a:prstGeom>
          <a:noFill/>
          <a:ln/>
        </p:spPr>
        <p:txBody>
          <a:bodyPr wrap="square" lIns="0" tIns="0" rIns="0" bIns="0" rtlCol="0" anchor="t"/>
          <a:lstStyle/>
          <a:p>
            <a:pPr indent="0" marL="0">
              <a:buNone/>
            </a:pPr>
            <a:r>
              <a:rPr lang="en-US" sz="1500" dirty="0">
                <a:solidFill>
                  <a:schemeClr val="tx1"/>
                </a:solidFill>
              </a:rPr>
              <a:t>A request, a task, or a timer. No model call is left hanging.</a:t>
            </a:r>
            <a:endParaRPr lang="en-US" sz="1500" dirty="0"/>
          </a:p>
        </p:txBody>
      </p:sp>
      <p:sp>
        <p:nvSpPr>
          <p:cNvPr id="29" name="One lease"/>
          <p:cNvSpPr/>
          <p:nvPr/>
        </p:nvSpPr>
        <p:spPr>
          <a:xfrm>
            <a:off x="6309360" y="2926080"/>
            <a:ext cx="5623560" cy="1417320"/>
          </a:xfrm>
          <a:prstGeom prst="roundRect">
            <a:avLst>
              <a:gd name="adj" fmla="val 6452"/>
            </a:avLst>
          </a:prstGeom>
          <a:solidFill>
            <a:schemeClr val="bg2"/>
          </a:solidFill>
          <a:ln/>
          <a:effectLst>
            <a:outerShdw sx="100000" sy="100000" kx="0" ky="0" algn="bl" rotWithShape="0" blurRad="177800" dist="38100" dir="8400000">
              <a:srgbClr val="0B1F28">
                <a:alpha val="10000"/>
              </a:srgbClr>
            </a:outerShdw>
          </a:effectLst>
        </p:spPr>
      </p:sp>
      <p:sp>
        <p:nvSpPr>
          <p:cNvPr id="30" name="One lease h"/>
          <p:cNvSpPr txBox="1"/>
          <p:nvPr/>
        </p:nvSpPr>
        <p:spPr>
          <a:xfrm>
            <a:off x="6547104" y="3108960"/>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One lease</a:t>
            </a:r>
            <a:endParaRPr lang="en-US" sz="1600" dirty="0"/>
          </a:p>
        </p:txBody>
      </p:sp>
      <p:sp>
        <p:nvSpPr>
          <p:cNvPr id="31" name="One lease b"/>
          <p:cNvSpPr txBox="1"/>
          <p:nvPr/>
        </p:nvSpPr>
        <p:spPr>
          <a:xfrm>
            <a:off x="6547104" y="3493008"/>
            <a:ext cx="5166360" cy="640080"/>
          </a:xfrm>
          <a:prstGeom prst="rect">
            <a:avLst/>
          </a:prstGeom>
          <a:noFill/>
          <a:ln/>
        </p:spPr>
        <p:txBody>
          <a:bodyPr wrap="square" lIns="0" tIns="0" rIns="0" bIns="0" rtlCol="0" anchor="t"/>
          <a:lstStyle/>
          <a:p>
            <a:pPr indent="0" marL="0">
              <a:buNone/>
            </a:pPr>
            <a:r>
              <a:rPr lang="en-US" sz="1500" dirty="0">
                <a:solidFill>
                  <a:schemeClr val="tx1"/>
                </a:solidFill>
              </a:rPr>
              <a:t>Another worker cannot apply the same job. Stale revisions return HTTP 412.</a:t>
            </a:r>
            <a:endParaRPr lang="en-US" sz="1500" dirty="0"/>
          </a:p>
        </p:txBody>
      </p:sp>
      <p:sp>
        <p:nvSpPr>
          <p:cNvPr id="32" name="One transaction"/>
          <p:cNvSpPr/>
          <p:nvPr/>
        </p:nvSpPr>
        <p:spPr>
          <a:xfrm>
            <a:off x="502920" y="4480560"/>
            <a:ext cx="5623560" cy="1417320"/>
          </a:xfrm>
          <a:prstGeom prst="roundRect">
            <a:avLst>
              <a:gd name="adj" fmla="val 6452"/>
            </a:avLst>
          </a:prstGeom>
          <a:solidFill>
            <a:schemeClr val="bg2"/>
          </a:solidFill>
          <a:ln/>
          <a:effectLst>
            <a:outerShdw sx="100000" sy="100000" kx="0" ky="0" algn="bl" rotWithShape="0" blurRad="177800" dist="38100" dir="8400000">
              <a:srgbClr val="0B1F28">
                <a:alpha val="10000"/>
              </a:srgbClr>
            </a:outerShdw>
          </a:effectLst>
        </p:spPr>
      </p:sp>
      <p:sp>
        <p:nvSpPr>
          <p:cNvPr id="33" name="One transaction h"/>
          <p:cNvSpPr txBox="1"/>
          <p:nvPr/>
        </p:nvSpPr>
        <p:spPr>
          <a:xfrm>
            <a:off x="740664" y="4663440"/>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One transaction</a:t>
            </a:r>
            <a:endParaRPr lang="en-US" sz="1600" dirty="0"/>
          </a:p>
        </p:txBody>
      </p:sp>
      <p:sp>
        <p:nvSpPr>
          <p:cNvPr id="34" name="One transaction b"/>
          <p:cNvSpPr txBox="1"/>
          <p:nvPr/>
        </p:nvSpPr>
        <p:spPr>
          <a:xfrm>
            <a:off x="740664" y="5047488"/>
            <a:ext cx="5166360" cy="640080"/>
          </a:xfrm>
          <a:prstGeom prst="rect">
            <a:avLst/>
          </a:prstGeom>
          <a:noFill/>
          <a:ln/>
        </p:spPr>
        <p:txBody>
          <a:bodyPr wrap="square" lIns="0" tIns="0" rIns="0" bIns="0" rtlCol="0" anchor="t"/>
          <a:lstStyle/>
          <a:p>
            <a:pPr indent="0" marL="0">
              <a:buNone/>
            </a:pPr>
            <a:r>
              <a:rPr lang="en-US" sz="1500" dirty="0">
                <a:solidFill>
                  <a:schemeClr val="tx1"/>
                </a:solidFill>
              </a:rPr>
              <a:t>State, history, and the outbox commit together.</a:t>
            </a:r>
            <a:endParaRPr lang="en-US" sz="1500" dirty="0"/>
          </a:p>
        </p:txBody>
      </p:sp>
      <p:sp>
        <p:nvSpPr>
          <p:cNvPr id="35" name="Same product locally"/>
          <p:cNvSpPr/>
          <p:nvPr/>
        </p:nvSpPr>
        <p:spPr>
          <a:xfrm>
            <a:off x="6309360" y="4480560"/>
            <a:ext cx="5623560" cy="1417320"/>
          </a:xfrm>
          <a:prstGeom prst="roundRect">
            <a:avLst>
              <a:gd name="adj" fmla="val 6452"/>
            </a:avLst>
          </a:prstGeom>
          <a:solidFill>
            <a:schemeClr val="bg2"/>
          </a:solidFill>
          <a:ln/>
          <a:effectLst>
            <a:outerShdw sx="100000" sy="100000" kx="0" ky="0" algn="bl" rotWithShape="0" blurRad="177800" dist="38100" dir="8400000">
              <a:srgbClr val="0B1F28">
                <a:alpha val="10000"/>
              </a:srgbClr>
            </a:outerShdw>
          </a:effectLst>
        </p:spPr>
      </p:sp>
      <p:sp>
        <p:nvSpPr>
          <p:cNvPr id="36" name="Same product locally h"/>
          <p:cNvSpPr txBox="1"/>
          <p:nvPr/>
        </p:nvSpPr>
        <p:spPr>
          <a:xfrm>
            <a:off x="6547104" y="4663440"/>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Same product locally</a:t>
            </a:r>
            <a:endParaRPr lang="en-US" sz="1600" dirty="0"/>
          </a:p>
        </p:txBody>
      </p:sp>
      <p:sp>
        <p:nvSpPr>
          <p:cNvPr id="37" name="Same product locally b"/>
          <p:cNvSpPr txBox="1"/>
          <p:nvPr/>
        </p:nvSpPr>
        <p:spPr>
          <a:xfrm>
            <a:off x="6547104" y="5047488"/>
            <a:ext cx="5166360" cy="640080"/>
          </a:xfrm>
          <a:prstGeom prst="rect">
            <a:avLst/>
          </a:prstGeom>
          <a:noFill/>
          <a:ln/>
        </p:spPr>
        <p:txBody>
          <a:bodyPr wrap="square" lIns="0" tIns="0" rIns="0" bIns="0" rtlCol="0" anchor="t"/>
          <a:lstStyle/>
          <a:p>
            <a:pPr indent="0" marL="0">
              <a:buNone/>
            </a:pPr>
            <a:r>
              <a:rPr lang="en-US" sz="1500" dirty="0">
                <a:solidFill>
                  <a:schemeClr val="tx1"/>
                </a:solidFill>
              </a:rPr>
              <a:t>Compose and Cloud Run show the same access-code path and the same case.</a:t>
            </a:r>
            <a:endParaRPr lang="en-US" sz="15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What the evaluation actually measured</a:t>
            </a:r>
            <a:endParaRPr lang="en-US" sz="3200" dirty="0"/>
          </a:p>
        </p:txBody>
      </p:sp>
      <p:sp>
        <p:nvSpPr>
          <p:cNvPr id="3" name="incorrect completions"/>
          <p:cNvSpPr/>
          <p:nvPr/>
        </p:nvSpPr>
        <p:spPr>
          <a:xfrm>
            <a:off x="502920" y="1078992"/>
            <a:ext cx="2761488" cy="2606040"/>
          </a:xfrm>
          <a:prstGeom prst="roundRect">
            <a:avLst>
              <a:gd name="adj" fmla="val 3509"/>
            </a:avLst>
          </a:prstGeom>
          <a:solidFill>
            <a:srgbClr val="0B1F28"/>
          </a:solidFill>
          <a:ln/>
          <a:effectLst>
            <a:outerShdw sx="100000" sy="100000" kx="0" ky="0" algn="bl" rotWithShape="0" blurRad="177800" dist="38100" dir="8400000">
              <a:srgbClr val="0B1F28">
                <a:alpha val="10000"/>
              </a:srgbClr>
            </a:outerShdw>
          </a:effectLst>
        </p:spPr>
      </p:sp>
      <p:sp>
        <p:nvSpPr>
          <p:cNvPr id="4" name="Stat incorrect completions"/>
          <p:cNvSpPr txBox="1"/>
          <p:nvPr/>
        </p:nvSpPr>
        <p:spPr>
          <a:xfrm>
            <a:off x="649224" y="1243584"/>
            <a:ext cx="2468880" cy="640080"/>
          </a:xfrm>
          <a:prstGeom prst="rect">
            <a:avLst/>
          </a:prstGeom>
          <a:noFill/>
          <a:ln/>
        </p:spPr>
        <p:txBody>
          <a:bodyPr wrap="square" lIns="0" tIns="0" rIns="0" bIns="0" rtlCol="0" anchor="t"/>
          <a:lstStyle/>
          <a:p>
            <a:pPr indent="0" marL="0">
              <a:buNone/>
            </a:pPr>
            <a:r>
              <a:rPr lang="en-US" sz="2800" b="1" dirty="0">
                <a:solidFill>
                  <a:schemeClr val="bg1"/>
                </a:solidFill>
              </a:rPr>
              <a:t>0</a:t>
            </a:r>
            <a:endParaRPr lang="en-US" sz="2800" dirty="0"/>
          </a:p>
        </p:txBody>
      </p:sp>
      <p:sp>
        <p:nvSpPr>
          <p:cNvPr id="5" name="Stat label incorrect completions"/>
          <p:cNvSpPr txBox="1"/>
          <p:nvPr/>
        </p:nvSpPr>
        <p:spPr>
          <a:xfrm>
            <a:off x="649224" y="1938528"/>
            <a:ext cx="2468880" cy="502920"/>
          </a:xfrm>
          <a:prstGeom prst="rect">
            <a:avLst/>
          </a:prstGeom>
          <a:noFill/>
          <a:ln/>
        </p:spPr>
        <p:txBody>
          <a:bodyPr wrap="square" lIns="0" tIns="0" rIns="0" bIns="0" rtlCol="0" anchor="t"/>
          <a:lstStyle/>
          <a:p>
            <a:pPr indent="0" marL="0">
              <a:buNone/>
            </a:pPr>
            <a:r>
              <a:rPr lang="en-US" sz="1500" b="1" dirty="0">
                <a:solidFill>
                  <a:srgbClr val="E7F4F0"/>
                </a:solidFill>
              </a:rPr>
              <a:t>incorrect completions</a:t>
            </a:r>
            <a:endParaRPr lang="en-US" sz="1500" dirty="0"/>
          </a:p>
        </p:txBody>
      </p:sp>
      <p:sp>
        <p:nvSpPr>
          <p:cNvPr id="6" name="Stat body incorrect completions"/>
          <p:cNvSpPr txBox="1"/>
          <p:nvPr/>
        </p:nvSpPr>
        <p:spPr>
          <a:xfrm>
            <a:off x="649224" y="2505456"/>
            <a:ext cx="2468880" cy="1005840"/>
          </a:xfrm>
          <a:prstGeom prst="rect">
            <a:avLst/>
          </a:prstGeom>
          <a:noFill/>
          <a:ln/>
        </p:spPr>
        <p:txBody>
          <a:bodyPr wrap="square" lIns="0" tIns="0" rIns="0" bIns="0" rtlCol="0" anchor="t"/>
          <a:lstStyle/>
          <a:p>
            <a:pPr indent="0" marL="0">
              <a:buNone/>
            </a:pPr>
            <a:r>
              <a:rPr lang="en-US" sz="1300" dirty="0">
                <a:solidFill>
                  <a:srgbClr val="C5DDD6"/>
                </a:solidFill>
              </a:rPr>
              <a:t>Agent and rules baseline. 60 cases, 12 families. 12 Oct 2026.</a:t>
            </a:r>
            <a:endParaRPr lang="en-US" sz="1300" dirty="0"/>
          </a:p>
        </p:txBody>
      </p:sp>
      <p:sp>
        <p:nvSpPr>
          <p:cNvPr id="7" name="automatic completions"/>
          <p:cNvSpPr/>
          <p:nvPr/>
        </p:nvSpPr>
        <p:spPr>
          <a:xfrm>
            <a:off x="3383280" y="1078992"/>
            <a:ext cx="2761488" cy="2606040"/>
          </a:xfrm>
          <a:prstGeom prst="roundRect">
            <a:avLst>
              <a:gd name="adj" fmla="val 3509"/>
            </a:avLst>
          </a:prstGeom>
          <a:solidFill>
            <a:schemeClr val="bg2"/>
          </a:solidFill>
          <a:ln/>
          <a:effectLst>
            <a:outerShdw sx="100000" sy="100000" kx="0" ky="0" algn="bl" rotWithShape="0" blurRad="177800" dist="38100" dir="8400000">
              <a:srgbClr val="0B1F28">
                <a:alpha val="10000"/>
              </a:srgbClr>
            </a:outerShdw>
          </a:effectLst>
        </p:spPr>
      </p:sp>
      <p:sp>
        <p:nvSpPr>
          <p:cNvPr id="8" name="Stat automatic completions"/>
          <p:cNvSpPr txBox="1"/>
          <p:nvPr/>
        </p:nvSpPr>
        <p:spPr>
          <a:xfrm>
            <a:off x="3529584" y="1243584"/>
            <a:ext cx="2468880" cy="640080"/>
          </a:xfrm>
          <a:prstGeom prst="rect">
            <a:avLst/>
          </a:prstGeom>
          <a:noFill/>
          <a:ln/>
        </p:spPr>
        <p:txBody>
          <a:bodyPr wrap="square" lIns="0" tIns="0" rIns="0" bIns="0" rtlCol="0" anchor="t"/>
          <a:lstStyle/>
          <a:p>
            <a:pPr indent="0" marL="0">
              <a:buNone/>
            </a:pPr>
            <a:r>
              <a:rPr lang="en-US" sz="2800" b="1" dirty="0">
                <a:solidFill>
                  <a:schemeClr val="tx1"/>
                </a:solidFill>
              </a:rPr>
              <a:t>20 / 20</a:t>
            </a:r>
            <a:endParaRPr lang="en-US" sz="2800" dirty="0"/>
          </a:p>
        </p:txBody>
      </p:sp>
      <p:sp>
        <p:nvSpPr>
          <p:cNvPr id="9" name="Stat label automatic completions"/>
          <p:cNvSpPr txBox="1"/>
          <p:nvPr/>
        </p:nvSpPr>
        <p:spPr>
          <a:xfrm>
            <a:off x="3529584" y="1938528"/>
            <a:ext cx="2468880" cy="502920"/>
          </a:xfrm>
          <a:prstGeom prst="rect">
            <a:avLst/>
          </a:prstGeom>
          <a:noFill/>
          <a:ln/>
        </p:spPr>
        <p:txBody>
          <a:bodyPr wrap="square" lIns="0" tIns="0" rIns="0" bIns="0" rtlCol="0" anchor="t"/>
          <a:lstStyle/>
          <a:p>
            <a:pPr indent="0" marL="0">
              <a:buNone/>
            </a:pPr>
            <a:r>
              <a:rPr lang="en-US" sz="1500" b="1" dirty="0">
                <a:solidFill>
                  <a:schemeClr val="accent1"/>
                </a:solidFill>
              </a:rPr>
              <a:t>automatic completions</a:t>
            </a:r>
            <a:endParaRPr lang="en-US" sz="1500" dirty="0"/>
          </a:p>
        </p:txBody>
      </p:sp>
      <p:sp>
        <p:nvSpPr>
          <p:cNvPr id="10" name="Stat body automatic completions"/>
          <p:cNvSpPr txBox="1"/>
          <p:nvPr/>
        </p:nvSpPr>
        <p:spPr>
          <a:xfrm>
            <a:off x="3529584" y="2505456"/>
            <a:ext cx="2468880" cy="1005840"/>
          </a:xfrm>
          <a:prstGeom prst="rect">
            <a:avLst/>
          </a:prstGeom>
          <a:noFill/>
          <a:ln/>
        </p:spPr>
        <p:txBody>
          <a:bodyPr wrap="square" lIns="0" tIns="0" rIns="0" bIns="0" rtlCol="0" anchor="t"/>
          <a:lstStyle/>
          <a:p>
            <a:pPr indent="0" marL="0">
              <a:buNone/>
            </a:pPr>
            <a:r>
              <a:rPr lang="en-US" sz="1300" dirty="0">
                <a:solidFill>
                  <a:schemeClr val="tx2"/>
                </a:solidFill>
              </a:rPr>
              <a:t>When the pack was already clean, the agent finished without a person.</a:t>
            </a:r>
            <a:endParaRPr lang="en-US" sz="1300" dirty="0"/>
          </a:p>
        </p:txBody>
      </p:sp>
      <p:sp>
        <p:nvSpPr>
          <p:cNvPr id="11" name="injection flag rate"/>
          <p:cNvSpPr/>
          <p:nvPr/>
        </p:nvSpPr>
        <p:spPr>
          <a:xfrm>
            <a:off x="6263640" y="1078992"/>
            <a:ext cx="2761488" cy="2606040"/>
          </a:xfrm>
          <a:prstGeom prst="roundRect">
            <a:avLst>
              <a:gd name="adj" fmla="val 3509"/>
            </a:avLst>
          </a:prstGeom>
          <a:solidFill>
            <a:schemeClr val="bg2"/>
          </a:solidFill>
          <a:ln/>
          <a:effectLst>
            <a:outerShdw sx="100000" sy="100000" kx="0" ky="0" algn="bl" rotWithShape="0" blurRad="177800" dist="38100" dir="8400000">
              <a:srgbClr val="0B1F28">
                <a:alpha val="10000"/>
              </a:srgbClr>
            </a:outerShdw>
          </a:effectLst>
        </p:spPr>
      </p:sp>
      <p:sp>
        <p:nvSpPr>
          <p:cNvPr id="12" name="Stat injection flag rate"/>
          <p:cNvSpPr txBox="1"/>
          <p:nvPr/>
        </p:nvSpPr>
        <p:spPr>
          <a:xfrm>
            <a:off x="6409944" y="1243584"/>
            <a:ext cx="2468880" cy="640080"/>
          </a:xfrm>
          <a:prstGeom prst="rect">
            <a:avLst/>
          </a:prstGeom>
          <a:noFill/>
          <a:ln/>
        </p:spPr>
        <p:txBody>
          <a:bodyPr wrap="square" lIns="0" tIns="0" rIns="0" bIns="0" rtlCol="0" anchor="t"/>
          <a:lstStyle/>
          <a:p>
            <a:pPr indent="0" marL="0">
              <a:buNone/>
            </a:pPr>
            <a:r>
              <a:rPr lang="en-US" sz="2800" b="1" dirty="0">
                <a:solidFill>
                  <a:schemeClr val="tx1"/>
                </a:solidFill>
              </a:rPr>
              <a:t>1.0</a:t>
            </a:r>
            <a:endParaRPr lang="en-US" sz="2800" dirty="0"/>
          </a:p>
        </p:txBody>
      </p:sp>
      <p:sp>
        <p:nvSpPr>
          <p:cNvPr id="13" name="Stat label injection flag rate"/>
          <p:cNvSpPr txBox="1"/>
          <p:nvPr/>
        </p:nvSpPr>
        <p:spPr>
          <a:xfrm>
            <a:off x="6409944" y="1938528"/>
            <a:ext cx="2468880" cy="502920"/>
          </a:xfrm>
          <a:prstGeom prst="rect">
            <a:avLst/>
          </a:prstGeom>
          <a:noFill/>
          <a:ln/>
        </p:spPr>
        <p:txBody>
          <a:bodyPr wrap="square" lIns="0" tIns="0" rIns="0" bIns="0" rtlCol="0" anchor="t"/>
          <a:lstStyle/>
          <a:p>
            <a:pPr indent="0" marL="0">
              <a:buNone/>
            </a:pPr>
            <a:r>
              <a:rPr lang="en-US" sz="1500" b="1" dirty="0">
                <a:solidFill>
                  <a:schemeClr val="accent1"/>
                </a:solidFill>
              </a:rPr>
              <a:t>injection flag rate</a:t>
            </a:r>
            <a:endParaRPr lang="en-US" sz="1500" dirty="0"/>
          </a:p>
        </p:txBody>
      </p:sp>
      <p:sp>
        <p:nvSpPr>
          <p:cNvPr id="14" name="Stat body injection flag rate"/>
          <p:cNvSpPr txBox="1"/>
          <p:nvPr/>
        </p:nvSpPr>
        <p:spPr>
          <a:xfrm>
            <a:off x="6409944" y="2505456"/>
            <a:ext cx="2468880" cy="1005840"/>
          </a:xfrm>
          <a:prstGeom prst="rect">
            <a:avLst/>
          </a:prstGeom>
          <a:noFill/>
          <a:ln/>
        </p:spPr>
        <p:txBody>
          <a:bodyPr wrap="square" lIns="0" tIns="0" rIns="0" bIns="0" rtlCol="0" anchor="t"/>
          <a:lstStyle/>
          <a:p>
            <a:pPr indent="0" marL="0">
              <a:buNone/>
            </a:pPr>
            <a:r>
              <a:rPr lang="en-US" sz="1300" dirty="0">
                <a:solidFill>
                  <a:schemeClr val="tx2"/>
                </a:solidFill>
              </a:rPr>
              <a:t>Prompt-in-the-PDF cases were held for a person.</a:t>
            </a:r>
            <a:endParaRPr lang="en-US" sz="1300" dirty="0"/>
          </a:p>
        </p:txBody>
      </p:sp>
      <p:sp>
        <p:nvSpPr>
          <p:cNvPr id="15" name="model spend"/>
          <p:cNvSpPr/>
          <p:nvPr/>
        </p:nvSpPr>
        <p:spPr>
          <a:xfrm>
            <a:off x="9144000" y="1078992"/>
            <a:ext cx="2761488" cy="2606040"/>
          </a:xfrm>
          <a:prstGeom prst="roundRect">
            <a:avLst>
              <a:gd name="adj" fmla="val 3509"/>
            </a:avLst>
          </a:prstGeom>
          <a:solidFill>
            <a:schemeClr val="bg2"/>
          </a:solidFill>
          <a:ln/>
          <a:effectLst>
            <a:outerShdw sx="100000" sy="100000" kx="0" ky="0" algn="bl" rotWithShape="0" blurRad="177800" dist="38100" dir="8400000">
              <a:srgbClr val="0B1F28">
                <a:alpha val="10000"/>
              </a:srgbClr>
            </a:outerShdw>
          </a:effectLst>
        </p:spPr>
      </p:sp>
      <p:sp>
        <p:nvSpPr>
          <p:cNvPr id="16" name="Stat model spend"/>
          <p:cNvSpPr txBox="1"/>
          <p:nvPr/>
        </p:nvSpPr>
        <p:spPr>
          <a:xfrm>
            <a:off x="9290304" y="1243584"/>
            <a:ext cx="2468880" cy="640080"/>
          </a:xfrm>
          <a:prstGeom prst="rect">
            <a:avLst/>
          </a:prstGeom>
          <a:noFill/>
          <a:ln/>
        </p:spPr>
        <p:txBody>
          <a:bodyPr wrap="square" lIns="0" tIns="0" rIns="0" bIns="0" rtlCol="0" anchor="t"/>
          <a:lstStyle/>
          <a:p>
            <a:pPr indent="0" marL="0">
              <a:buNone/>
            </a:pPr>
            <a:r>
              <a:rPr lang="en-US" sz="2800" b="1" dirty="0">
                <a:solidFill>
                  <a:schemeClr val="tx1"/>
                </a:solidFill>
              </a:rPr>
              <a:t>$0.83</a:t>
            </a:r>
            <a:endParaRPr lang="en-US" sz="2800" dirty="0"/>
          </a:p>
        </p:txBody>
      </p:sp>
      <p:sp>
        <p:nvSpPr>
          <p:cNvPr id="17" name="Stat label model spend"/>
          <p:cNvSpPr txBox="1"/>
          <p:nvPr/>
        </p:nvSpPr>
        <p:spPr>
          <a:xfrm>
            <a:off x="9290304" y="1938528"/>
            <a:ext cx="2468880" cy="502920"/>
          </a:xfrm>
          <a:prstGeom prst="rect">
            <a:avLst/>
          </a:prstGeom>
          <a:noFill/>
          <a:ln/>
        </p:spPr>
        <p:txBody>
          <a:bodyPr wrap="square" lIns="0" tIns="0" rIns="0" bIns="0" rtlCol="0" anchor="t"/>
          <a:lstStyle/>
          <a:p>
            <a:pPr indent="0" marL="0">
              <a:buNone/>
            </a:pPr>
            <a:r>
              <a:rPr lang="en-US" sz="1500" b="1" dirty="0">
                <a:solidFill>
                  <a:schemeClr val="accent1"/>
                </a:solidFill>
              </a:rPr>
              <a:t>model spend</a:t>
            </a:r>
            <a:endParaRPr lang="en-US" sz="1500" dirty="0"/>
          </a:p>
        </p:txBody>
      </p:sp>
      <p:sp>
        <p:nvSpPr>
          <p:cNvPr id="18" name="Stat body model spend"/>
          <p:cNvSpPr txBox="1"/>
          <p:nvPr/>
        </p:nvSpPr>
        <p:spPr>
          <a:xfrm>
            <a:off x="9290304" y="2505456"/>
            <a:ext cx="2468880" cy="1005840"/>
          </a:xfrm>
          <a:prstGeom prst="rect">
            <a:avLst/>
          </a:prstGeom>
          <a:noFill/>
          <a:ln/>
        </p:spPr>
        <p:txBody>
          <a:bodyPr wrap="square" lIns="0" tIns="0" rIns="0" bIns="0" rtlCol="0" anchor="t"/>
          <a:lstStyle/>
          <a:p>
            <a:pPr indent="0" marL="0">
              <a:buNone/>
            </a:pPr>
            <a:r>
              <a:rPr lang="en-US" sz="1300" dirty="0">
                <a:solidFill>
                  <a:schemeClr val="tx2"/>
                </a:solidFill>
              </a:rPr>
              <a:t>342 Gemini 3.8 Flash calls on Vertex. Mean 11.5 seconds a case.</a:t>
            </a:r>
            <a:endParaRPr lang="en-US" sz="1300" dirty="0"/>
          </a:p>
        </p:txBody>
      </p:sp>
      <p:graphicFrame>
        <p:nvGraphicFramePr>
          <p:cNvPr id="19" name="Chart 0" descr=""/>
          <p:cNvGraphicFramePr/>
          <p:nvPr/>
        </p:nvGraphicFramePr>
        <p:xfrm>
          <a:off x="502920" y="3840480"/>
          <a:ext cx="6766560" cy="2286000"/>
        </p:xfrm>
        <a:graphic xmlns:a="http://schemas.openxmlformats.org/drawingml/2006/main">
          <a:graphicData uri="http://schemas.openxmlformats.org/drawingml/2006/chart">
            <c:chart xmlns:c="http://schemas.openxmlformats.org/drawingml/2006/chart" r:id="rId1"/>
          </a:graphicData>
        </a:graphic>
      </p:graphicFrame>
      <p:sp>
        <p:nvSpPr>
          <p:cNvPr id="20" name="Eval caveat"/>
          <p:cNvSpPr txBox="1"/>
          <p:nvPr/>
        </p:nvSpPr>
        <p:spPr>
          <a:xfrm>
            <a:off x="7452360" y="3977640"/>
            <a:ext cx="4206240" cy="2011680"/>
          </a:xfrm>
          <a:prstGeom prst="rect">
            <a:avLst/>
          </a:prstGeom>
          <a:noFill/>
          <a:ln/>
        </p:spPr>
        <p:txBody>
          <a:bodyPr wrap="square" lIns="0" tIns="0" rIns="0" bIns="0" rtlCol="0" anchor="t"/>
          <a:lstStyle/>
          <a:p>
            <a:pPr indent="0" marL="0">
              <a:buNone/>
            </a:pPr>
            <a:r>
              <a:rPr lang="en-US" sz="1600" dirty="0">
                <a:solidFill>
                  <a:schemeClr val="tx1"/>
                </a:solidFill>
              </a:rPr>
              <a:t>Staff minutes are a time model, not a measured saving. Zero failures here is not a bank-grade error rate.</a:t>
            </a:r>
            <a:endParaRPr lang="en-US" sz="16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Security that ships with the demo</a:t>
            </a:r>
            <a:endParaRPr lang="en-US" sz="3200" dirty="0"/>
          </a:p>
        </p:txBody>
      </p:sp>
      <p:sp>
        <p:nvSpPr>
          <p:cNvPr id="3" name="Access code, not IAP"/>
          <p:cNvSpPr/>
          <p:nvPr/>
        </p:nvSpPr>
        <p:spPr>
          <a:xfrm>
            <a:off x="502920" y="1078992"/>
            <a:ext cx="5623560" cy="1536192"/>
          </a:xfrm>
          <a:prstGeom prst="roundRect">
            <a:avLst>
              <a:gd name="adj" fmla="val 5952"/>
            </a:avLst>
          </a:prstGeom>
          <a:solidFill>
            <a:schemeClr val="bg2"/>
          </a:solidFill>
          <a:ln/>
          <a:effectLst>
            <a:outerShdw sx="100000" sy="100000" kx="0" ky="0" algn="bl" rotWithShape="0" blurRad="177800" dist="38100" dir="8400000">
              <a:srgbClr val="0B1F28">
                <a:alpha val="10000"/>
              </a:srgbClr>
            </a:outerShdw>
          </a:effectLst>
        </p:spPr>
      </p:sp>
      <p:sp>
        <p:nvSpPr>
          <p:cNvPr id="4" name="Access code, not IAP h"/>
          <p:cNvSpPr txBox="1"/>
          <p:nvPr/>
        </p:nvSpPr>
        <p:spPr>
          <a:xfrm>
            <a:off x="740664" y="1243584"/>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Access code, not IAP</a:t>
            </a:r>
            <a:endParaRPr lang="en-US" sz="1600" dirty="0"/>
          </a:p>
        </p:txBody>
      </p:sp>
      <p:sp>
        <p:nvSpPr>
          <p:cNvPr id="5" name="Access code, not IAP b"/>
          <p:cNvSpPr txBox="1"/>
          <p:nvPr/>
        </p:nvSpPr>
        <p:spPr>
          <a:xfrm>
            <a:off x="740664" y="1609344"/>
            <a:ext cx="5166360" cy="841248"/>
          </a:xfrm>
          <a:prstGeom prst="rect">
            <a:avLst/>
          </a:prstGeom>
          <a:noFill/>
          <a:ln/>
        </p:spPr>
        <p:txBody>
          <a:bodyPr wrap="square" lIns="0" tIns="0" rIns="0" bIns="0" rtlCol="0" anchor="t"/>
          <a:lstStyle/>
          <a:p>
            <a:pPr indent="0" marL="0">
              <a:buNone/>
            </a:pPr>
            <a:r>
              <a:rPr lang="en-US" sz="1400" dirty="0">
                <a:solidFill>
                  <a:schemeClr val="tx1"/>
                </a:solidFill>
              </a:rPr>
              <a:t>The public web asks for a code. Compose and Cloud Run use the same gate. Judges do not need a Google account.</a:t>
            </a:r>
            <a:endParaRPr lang="en-US" sz="1400" dirty="0"/>
          </a:p>
        </p:txBody>
      </p:sp>
      <p:sp>
        <p:nvSpPr>
          <p:cNvPr id="6" name="Private API"/>
          <p:cNvSpPr/>
          <p:nvPr/>
        </p:nvSpPr>
        <p:spPr>
          <a:xfrm>
            <a:off x="6309360" y="1078992"/>
            <a:ext cx="5623560" cy="1536192"/>
          </a:xfrm>
          <a:prstGeom prst="roundRect">
            <a:avLst>
              <a:gd name="adj" fmla="val 5952"/>
            </a:avLst>
          </a:prstGeom>
          <a:solidFill>
            <a:schemeClr val="bg2"/>
          </a:solidFill>
          <a:ln/>
          <a:effectLst>
            <a:outerShdw sx="100000" sy="100000" kx="0" ky="0" algn="bl" rotWithShape="0" blurRad="177800" dist="38100" dir="8400000">
              <a:srgbClr val="0B1F28">
                <a:alpha val="10000"/>
              </a:srgbClr>
            </a:outerShdw>
          </a:effectLst>
        </p:spPr>
      </p:sp>
      <p:sp>
        <p:nvSpPr>
          <p:cNvPr id="7" name="Private API h"/>
          <p:cNvSpPr txBox="1"/>
          <p:nvPr/>
        </p:nvSpPr>
        <p:spPr>
          <a:xfrm>
            <a:off x="6547104" y="1243584"/>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Private API</a:t>
            </a:r>
            <a:endParaRPr lang="en-US" sz="1600" dirty="0"/>
          </a:p>
        </p:txBody>
      </p:sp>
      <p:sp>
        <p:nvSpPr>
          <p:cNvPr id="8" name="Private API b"/>
          <p:cNvSpPr txBox="1"/>
          <p:nvPr/>
        </p:nvSpPr>
        <p:spPr>
          <a:xfrm>
            <a:off x="6547104" y="1609344"/>
            <a:ext cx="5166360" cy="841248"/>
          </a:xfrm>
          <a:prstGeom prst="rect">
            <a:avLst/>
          </a:prstGeom>
          <a:noFill/>
          <a:ln/>
        </p:spPr>
        <p:txBody>
          <a:bodyPr wrap="square" lIns="0" tIns="0" rIns="0" bIns="0" rtlCol="0" anchor="t"/>
          <a:lstStyle/>
          <a:p>
            <a:pPr indent="0" marL="0">
              <a:buNone/>
            </a:pPr>
            <a:r>
              <a:rPr lang="en-US" sz="1400" dirty="0">
                <a:solidFill>
                  <a:schemeClr val="tx1"/>
                </a:solidFill>
              </a:rPr>
              <a:t>Only the web is public. The API, worker, database, and bucket stay private. Web authenticates to the API with its service identity.</a:t>
            </a:r>
            <a:endParaRPr lang="en-US" sz="1400" dirty="0"/>
          </a:p>
        </p:txBody>
      </p:sp>
      <p:sp>
        <p:nvSpPr>
          <p:cNvPr id="9" name="Session, CSRF, revision"/>
          <p:cNvSpPr/>
          <p:nvPr/>
        </p:nvSpPr>
        <p:spPr>
          <a:xfrm>
            <a:off x="502920" y="2743200"/>
            <a:ext cx="5623560" cy="1536192"/>
          </a:xfrm>
          <a:prstGeom prst="roundRect">
            <a:avLst>
              <a:gd name="adj" fmla="val 5952"/>
            </a:avLst>
          </a:prstGeom>
          <a:solidFill>
            <a:schemeClr val="bg2"/>
          </a:solidFill>
          <a:ln/>
          <a:effectLst>
            <a:outerShdw sx="100000" sy="100000" kx="0" ky="0" algn="bl" rotWithShape="0" blurRad="177800" dist="38100" dir="8400000">
              <a:srgbClr val="0B1F28">
                <a:alpha val="10000"/>
              </a:srgbClr>
            </a:outerShdw>
          </a:effectLst>
        </p:spPr>
      </p:sp>
      <p:sp>
        <p:nvSpPr>
          <p:cNvPr id="10" name="Session, CSRF, revision h"/>
          <p:cNvSpPr txBox="1"/>
          <p:nvPr/>
        </p:nvSpPr>
        <p:spPr>
          <a:xfrm>
            <a:off x="740664" y="2907792"/>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Session, CSRF, revision</a:t>
            </a:r>
            <a:endParaRPr lang="en-US" sz="1600" dirty="0"/>
          </a:p>
        </p:txBody>
      </p:sp>
      <p:sp>
        <p:nvSpPr>
          <p:cNvPr id="11" name="Session, CSRF, revision b"/>
          <p:cNvSpPr txBox="1"/>
          <p:nvPr/>
        </p:nvSpPr>
        <p:spPr>
          <a:xfrm>
            <a:off x="740664" y="3273552"/>
            <a:ext cx="5166360" cy="841248"/>
          </a:xfrm>
          <a:prstGeom prst="rect">
            <a:avLst/>
          </a:prstGeom>
          <a:noFill/>
          <a:ln/>
        </p:spPr>
        <p:txBody>
          <a:bodyPr wrap="square" lIns="0" tIns="0" rIns="0" bIns="0" rtlCol="0" anchor="t"/>
          <a:lstStyle/>
          <a:p>
            <a:pPr indent="0" marL="0">
              <a:buNone/>
            </a:pPr>
            <a:r>
              <a:rPr lang="en-US" sz="1400" dirty="0">
                <a:solidFill>
                  <a:schemeClr val="tx1"/>
                </a:solidFill>
              </a:rPr>
              <a:t>HttpOnly cookies. CSRF on mutations. Idempotency keys. A stale revision returns 412.</a:t>
            </a:r>
            <a:endParaRPr lang="en-US" sz="1400" dirty="0"/>
          </a:p>
        </p:txBody>
      </p:sp>
      <p:sp>
        <p:nvSpPr>
          <p:cNvPr id="12" name="Row security"/>
          <p:cNvSpPr/>
          <p:nvPr/>
        </p:nvSpPr>
        <p:spPr>
          <a:xfrm>
            <a:off x="6309360" y="2743200"/>
            <a:ext cx="5623560" cy="1536192"/>
          </a:xfrm>
          <a:prstGeom prst="roundRect">
            <a:avLst>
              <a:gd name="adj" fmla="val 5952"/>
            </a:avLst>
          </a:prstGeom>
          <a:solidFill>
            <a:schemeClr val="bg2"/>
          </a:solidFill>
          <a:ln/>
          <a:effectLst>
            <a:outerShdw sx="100000" sy="100000" kx="0" ky="0" algn="bl" rotWithShape="0" blurRad="177800" dist="38100" dir="8400000">
              <a:srgbClr val="0B1F28">
                <a:alpha val="10000"/>
              </a:srgbClr>
            </a:outerShdw>
          </a:effectLst>
        </p:spPr>
      </p:sp>
      <p:sp>
        <p:nvSpPr>
          <p:cNvPr id="13" name="Row security h"/>
          <p:cNvSpPr txBox="1"/>
          <p:nvPr/>
        </p:nvSpPr>
        <p:spPr>
          <a:xfrm>
            <a:off x="6547104" y="2907792"/>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Row security</a:t>
            </a:r>
            <a:endParaRPr lang="en-US" sz="1600" dirty="0"/>
          </a:p>
        </p:txBody>
      </p:sp>
      <p:sp>
        <p:nvSpPr>
          <p:cNvPr id="14" name="Row security b"/>
          <p:cNvSpPr txBox="1"/>
          <p:nvPr/>
        </p:nvSpPr>
        <p:spPr>
          <a:xfrm>
            <a:off x="6547104" y="3273552"/>
            <a:ext cx="5166360" cy="841248"/>
          </a:xfrm>
          <a:prstGeom prst="rect">
            <a:avLst/>
          </a:prstGeom>
          <a:noFill/>
          <a:ln/>
        </p:spPr>
        <p:txBody>
          <a:bodyPr wrap="square" lIns="0" tIns="0" rIns="0" bIns="0" rtlCol="0" anchor="t"/>
          <a:lstStyle/>
          <a:p>
            <a:pPr indent="0" marL="0">
              <a:buNone/>
            </a:pPr>
            <a:r>
              <a:rPr lang="en-US" sz="1400" dirty="0">
                <a:solidFill>
                  <a:schemeClr val="tx1"/>
                </a:solidFill>
              </a:rPr>
              <a:t>Runtime roles do not bypass RLS. Organisation context is set for every database access.</a:t>
            </a:r>
            <a:endParaRPr lang="en-US" sz="1400" dirty="0"/>
          </a:p>
        </p:txBody>
      </p:sp>
      <p:sp>
        <p:nvSpPr>
          <p:cNvPr id="15" name="Vendor isolation"/>
          <p:cNvSpPr/>
          <p:nvPr/>
        </p:nvSpPr>
        <p:spPr>
          <a:xfrm>
            <a:off x="502920" y="4407408"/>
            <a:ext cx="5623560" cy="1536192"/>
          </a:xfrm>
          <a:prstGeom prst="roundRect">
            <a:avLst>
              <a:gd name="adj" fmla="val 5952"/>
            </a:avLst>
          </a:prstGeom>
          <a:solidFill>
            <a:schemeClr val="bg2"/>
          </a:solidFill>
          <a:ln/>
          <a:effectLst>
            <a:outerShdw sx="100000" sy="100000" kx="0" ky="0" algn="bl" rotWithShape="0" blurRad="177800" dist="38100" dir="8400000">
              <a:srgbClr val="0B1F28">
                <a:alpha val="10000"/>
              </a:srgbClr>
            </a:outerShdw>
          </a:effectLst>
        </p:spPr>
      </p:sp>
      <p:sp>
        <p:nvSpPr>
          <p:cNvPr id="16" name="Vendor isolation h"/>
          <p:cNvSpPr txBox="1"/>
          <p:nvPr/>
        </p:nvSpPr>
        <p:spPr>
          <a:xfrm>
            <a:off x="740664" y="4572000"/>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Vendor isolation</a:t>
            </a:r>
            <a:endParaRPr lang="en-US" sz="1600" dirty="0"/>
          </a:p>
        </p:txBody>
      </p:sp>
      <p:sp>
        <p:nvSpPr>
          <p:cNvPr id="17" name="Vendor isolation b"/>
          <p:cNvSpPr txBox="1"/>
          <p:nvPr/>
        </p:nvSpPr>
        <p:spPr>
          <a:xfrm>
            <a:off x="740664" y="4937760"/>
            <a:ext cx="5166360" cy="841248"/>
          </a:xfrm>
          <a:prstGeom prst="rect">
            <a:avLst/>
          </a:prstGeom>
          <a:noFill/>
          <a:ln/>
        </p:spPr>
        <p:txBody>
          <a:bodyPr wrap="square" lIns="0" tIns="0" rIns="0" bIns="0" rtlCol="0" anchor="t"/>
          <a:lstStyle/>
          <a:p>
            <a:pPr indent="0" marL="0">
              <a:buNone/>
            </a:pPr>
            <a:r>
              <a:rPr lang="en-US" sz="1400" dirty="0">
                <a:solidFill>
                  <a:schemeClr val="tx1"/>
                </a:solidFill>
              </a:rPr>
              <a:t>Sam only sees issued requests and the conversation. Invoice names never grant access.</a:t>
            </a:r>
            <a:endParaRPr lang="en-US" sz="1400" dirty="0"/>
          </a:p>
        </p:txBody>
      </p:sp>
      <p:sp>
        <p:nvSpPr>
          <p:cNvPr id="18" name="What Gemini and Search see"/>
          <p:cNvSpPr/>
          <p:nvPr/>
        </p:nvSpPr>
        <p:spPr>
          <a:xfrm>
            <a:off x="6309360" y="4407408"/>
            <a:ext cx="5623560" cy="1536192"/>
          </a:xfrm>
          <a:prstGeom prst="roundRect">
            <a:avLst>
              <a:gd name="adj" fmla="val 5952"/>
            </a:avLst>
          </a:prstGeom>
          <a:solidFill>
            <a:schemeClr val="bg2"/>
          </a:solidFill>
          <a:ln/>
          <a:effectLst>
            <a:outerShdw sx="100000" sy="100000" kx="0" ky="0" algn="bl" rotWithShape="0" blurRad="177800" dist="38100" dir="8400000">
              <a:srgbClr val="0B1F28">
                <a:alpha val="10000"/>
              </a:srgbClr>
            </a:outerShdw>
          </a:effectLst>
        </p:spPr>
      </p:sp>
      <p:sp>
        <p:nvSpPr>
          <p:cNvPr id="19" name="What Gemini and Search see h"/>
          <p:cNvSpPr txBox="1"/>
          <p:nvPr/>
        </p:nvSpPr>
        <p:spPr>
          <a:xfrm>
            <a:off x="6547104" y="4572000"/>
            <a:ext cx="5166360" cy="310896"/>
          </a:xfrm>
          <a:prstGeom prst="rect">
            <a:avLst/>
          </a:prstGeom>
          <a:noFill/>
          <a:ln/>
        </p:spPr>
        <p:txBody>
          <a:bodyPr wrap="square" lIns="0" tIns="0" rIns="0" bIns="0" rtlCol="0" anchor="t"/>
          <a:lstStyle/>
          <a:p>
            <a:pPr indent="0" marL="0">
              <a:buNone/>
            </a:pPr>
            <a:r>
              <a:rPr lang="en-US" sz="1600" b="1" dirty="0">
                <a:solidFill>
                  <a:schemeClr val="accent1"/>
                </a:solidFill>
              </a:rPr>
              <a:t>What Gemini and Search see</a:t>
            </a:r>
            <a:endParaRPr lang="en-US" sz="1600" dirty="0"/>
          </a:p>
        </p:txBody>
      </p:sp>
      <p:sp>
        <p:nvSpPr>
          <p:cNvPr id="20" name="What Gemini and Search see b"/>
          <p:cNvSpPr txBox="1"/>
          <p:nvPr/>
        </p:nvSpPr>
        <p:spPr>
          <a:xfrm>
            <a:off x="6547104" y="4937760"/>
            <a:ext cx="5166360" cy="841248"/>
          </a:xfrm>
          <a:prstGeom prst="rect">
            <a:avLst/>
          </a:prstGeom>
          <a:noFill/>
          <a:ln/>
        </p:spPr>
        <p:txBody>
          <a:bodyPr wrap="square" lIns="0" tIns="0" rIns="0" bIns="0" rtlCol="0" anchor="t"/>
          <a:lstStyle/>
          <a:p>
            <a:pPr indent="0" marL="0">
              <a:buNone/>
            </a:pPr>
            <a:r>
              <a:rPr lang="en-US" sz="1400" dirty="0">
                <a:solidFill>
                  <a:schemeClr val="tx1"/>
                </a:solidFill>
              </a:rPr>
              <a:t>Gemini gets page text or rendered pages, not the raw PDF by default. Search gets name, country, and registration — never the invoice.</a:t>
            </a:r>
            <a:endParaRPr lang="en-US" sz="14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Built to run beside the bank</a:t>
            </a:r>
            <a:endParaRPr lang="en-US" sz="3200" dirty="0"/>
          </a:p>
        </p:txBody>
      </p:sp>
      <p:sp>
        <p:nvSpPr>
          <p:cNvPr id="3" name="Cloud Run"/>
          <p:cNvSpPr/>
          <p:nvPr/>
        </p:nvSpPr>
        <p:spPr>
          <a:xfrm>
            <a:off x="502920" y="1078992"/>
            <a:ext cx="3675888" cy="1444752"/>
          </a:xfrm>
          <a:prstGeom prst="roundRect">
            <a:avLst>
              <a:gd name="adj" fmla="val 6329"/>
            </a:avLst>
          </a:prstGeom>
          <a:solidFill>
            <a:schemeClr val="bg2"/>
          </a:solidFill>
          <a:ln/>
          <a:effectLst>
            <a:outerShdw sx="100000" sy="100000" kx="0" ky="0" algn="bl" rotWithShape="0" blurRad="177800" dist="38100" dir="8400000">
              <a:srgbClr val="0B1F28">
                <a:alpha val="10000"/>
              </a:srgbClr>
            </a:outerShdw>
          </a:effectLst>
        </p:spPr>
      </p:sp>
      <p:sp>
        <p:nvSpPr>
          <p:cNvPr id="4" name="Cloud Run h"/>
          <p:cNvSpPr txBox="1"/>
          <p:nvPr/>
        </p:nvSpPr>
        <p:spPr>
          <a:xfrm>
            <a:off x="685800" y="1243584"/>
            <a:ext cx="3310128" cy="292608"/>
          </a:xfrm>
          <a:prstGeom prst="rect">
            <a:avLst/>
          </a:prstGeom>
          <a:noFill/>
          <a:ln/>
        </p:spPr>
        <p:txBody>
          <a:bodyPr wrap="square" lIns="0" tIns="0" rIns="0" bIns="0" rtlCol="0" anchor="t"/>
          <a:lstStyle/>
          <a:p>
            <a:pPr indent="0" marL="0">
              <a:buNone/>
            </a:pPr>
            <a:r>
              <a:rPr lang="en-US" sz="1600" b="1" dirty="0">
                <a:solidFill>
                  <a:schemeClr val="accent1"/>
                </a:solidFill>
              </a:rPr>
              <a:t>Cloud Run</a:t>
            </a:r>
            <a:endParaRPr lang="en-US" sz="1600" dirty="0"/>
          </a:p>
        </p:txBody>
      </p:sp>
      <p:sp>
        <p:nvSpPr>
          <p:cNvPr id="5" name="Cloud Run b"/>
          <p:cNvSpPr txBox="1"/>
          <p:nvPr/>
        </p:nvSpPr>
        <p:spPr>
          <a:xfrm>
            <a:off x="685800" y="1591056"/>
            <a:ext cx="3310128" cy="749808"/>
          </a:xfrm>
          <a:prstGeom prst="rect">
            <a:avLst/>
          </a:prstGeom>
          <a:noFill/>
          <a:ln/>
        </p:spPr>
        <p:txBody>
          <a:bodyPr wrap="square" lIns="0" tIns="0" rIns="0" bIns="0" rtlCol="0" anchor="t"/>
          <a:lstStyle/>
          <a:p>
            <a:pPr indent="0" marL="0">
              <a:buNone/>
            </a:pPr>
            <a:r>
              <a:rPr lang="en-US" sz="1400" dirty="0">
                <a:solidFill>
                  <a:schemeClr val="tx1"/>
                </a:solidFill>
              </a:rPr>
              <a:t>Web public. API and worker private. Same image, ROLE=api or worker.</a:t>
            </a:r>
            <a:endParaRPr lang="en-US" sz="1400" dirty="0"/>
          </a:p>
        </p:txBody>
      </p:sp>
      <p:sp>
        <p:nvSpPr>
          <p:cNvPr id="6" name="Cloud SQL 17"/>
          <p:cNvSpPr/>
          <p:nvPr/>
        </p:nvSpPr>
        <p:spPr>
          <a:xfrm>
            <a:off x="4343400" y="1078992"/>
            <a:ext cx="3675888" cy="1444752"/>
          </a:xfrm>
          <a:prstGeom prst="roundRect">
            <a:avLst>
              <a:gd name="adj" fmla="val 6329"/>
            </a:avLst>
          </a:prstGeom>
          <a:solidFill>
            <a:schemeClr val="bg2"/>
          </a:solidFill>
          <a:ln/>
          <a:effectLst>
            <a:outerShdw sx="100000" sy="100000" kx="0" ky="0" algn="bl" rotWithShape="0" blurRad="177800" dist="38100" dir="8400000">
              <a:srgbClr val="0B1F28">
                <a:alpha val="10000"/>
              </a:srgbClr>
            </a:outerShdw>
          </a:effectLst>
        </p:spPr>
      </p:sp>
      <p:sp>
        <p:nvSpPr>
          <p:cNvPr id="7" name="Cloud SQL 17 h"/>
          <p:cNvSpPr txBox="1"/>
          <p:nvPr/>
        </p:nvSpPr>
        <p:spPr>
          <a:xfrm>
            <a:off x="4526280" y="1243584"/>
            <a:ext cx="3310128" cy="292608"/>
          </a:xfrm>
          <a:prstGeom prst="rect">
            <a:avLst/>
          </a:prstGeom>
          <a:noFill/>
          <a:ln/>
        </p:spPr>
        <p:txBody>
          <a:bodyPr wrap="square" lIns="0" tIns="0" rIns="0" bIns="0" rtlCol="0" anchor="t"/>
          <a:lstStyle/>
          <a:p>
            <a:pPr indent="0" marL="0">
              <a:buNone/>
            </a:pPr>
            <a:r>
              <a:rPr lang="en-US" sz="1600" b="1" dirty="0">
                <a:solidFill>
                  <a:schemeClr val="accent1"/>
                </a:solidFill>
              </a:rPr>
              <a:t>Cloud SQL 17</a:t>
            </a:r>
            <a:endParaRPr lang="en-US" sz="1600" dirty="0"/>
          </a:p>
        </p:txBody>
      </p:sp>
      <p:sp>
        <p:nvSpPr>
          <p:cNvPr id="8" name="Cloud SQL 17 b"/>
          <p:cNvSpPr txBox="1"/>
          <p:nvPr/>
        </p:nvSpPr>
        <p:spPr>
          <a:xfrm>
            <a:off x="4526280" y="1591056"/>
            <a:ext cx="3310128" cy="749808"/>
          </a:xfrm>
          <a:prstGeom prst="rect">
            <a:avLst/>
          </a:prstGeom>
          <a:noFill/>
          <a:ln/>
        </p:spPr>
        <p:txBody>
          <a:bodyPr wrap="square" lIns="0" tIns="0" rIns="0" bIns="0" rtlCol="0" anchor="t"/>
          <a:lstStyle/>
          <a:p>
            <a:pPr indent="0" marL="0">
              <a:buNone/>
            </a:pPr>
            <a:r>
              <a:rPr lang="en-US" sz="1400" dirty="0">
                <a:solidFill>
                  <a:schemeClr val="tx1"/>
                </a:solidFill>
              </a:rPr>
              <a:t>The case record. Separate owner, app, and dispatcher roles.</a:t>
            </a:r>
            <a:endParaRPr lang="en-US" sz="1400" dirty="0"/>
          </a:p>
        </p:txBody>
      </p:sp>
      <p:sp>
        <p:nvSpPr>
          <p:cNvPr id="9" name="Cloud Storage"/>
          <p:cNvSpPr/>
          <p:nvPr/>
        </p:nvSpPr>
        <p:spPr>
          <a:xfrm>
            <a:off x="8183880" y="1078992"/>
            <a:ext cx="3675888" cy="1444752"/>
          </a:xfrm>
          <a:prstGeom prst="roundRect">
            <a:avLst>
              <a:gd name="adj" fmla="val 6329"/>
            </a:avLst>
          </a:prstGeom>
          <a:solidFill>
            <a:schemeClr val="bg2"/>
          </a:solidFill>
          <a:ln/>
          <a:effectLst>
            <a:outerShdw sx="100000" sy="100000" kx="0" ky="0" algn="bl" rotWithShape="0" blurRad="177800" dist="38100" dir="8400000">
              <a:srgbClr val="0B1F28">
                <a:alpha val="10000"/>
              </a:srgbClr>
            </a:outerShdw>
          </a:effectLst>
        </p:spPr>
      </p:sp>
      <p:sp>
        <p:nvSpPr>
          <p:cNvPr id="10" name="Cloud Storage h"/>
          <p:cNvSpPr txBox="1"/>
          <p:nvPr/>
        </p:nvSpPr>
        <p:spPr>
          <a:xfrm>
            <a:off x="8366760" y="1243584"/>
            <a:ext cx="3310128" cy="292608"/>
          </a:xfrm>
          <a:prstGeom prst="rect">
            <a:avLst/>
          </a:prstGeom>
          <a:noFill/>
          <a:ln/>
        </p:spPr>
        <p:txBody>
          <a:bodyPr wrap="square" lIns="0" tIns="0" rIns="0" bIns="0" rtlCol="0" anchor="t"/>
          <a:lstStyle/>
          <a:p>
            <a:pPr indent="0" marL="0">
              <a:buNone/>
            </a:pPr>
            <a:r>
              <a:rPr lang="en-US" sz="1600" b="1" dirty="0">
                <a:solidFill>
                  <a:schemeClr val="accent1"/>
                </a:solidFill>
              </a:rPr>
              <a:t>Cloud Storage</a:t>
            </a:r>
            <a:endParaRPr lang="en-US" sz="1600" dirty="0"/>
          </a:p>
        </p:txBody>
      </p:sp>
      <p:sp>
        <p:nvSpPr>
          <p:cNvPr id="11" name="Cloud Storage b"/>
          <p:cNvSpPr txBox="1"/>
          <p:nvPr/>
        </p:nvSpPr>
        <p:spPr>
          <a:xfrm>
            <a:off x="8366760" y="1591056"/>
            <a:ext cx="3310128" cy="749808"/>
          </a:xfrm>
          <a:prstGeom prst="rect">
            <a:avLst/>
          </a:prstGeom>
          <a:noFill/>
          <a:ln/>
        </p:spPr>
        <p:txBody>
          <a:bodyPr wrap="square" lIns="0" tIns="0" rIns="0" bIns="0" rtlCol="0" anchor="t"/>
          <a:lstStyle/>
          <a:p>
            <a:pPr indent="0" marL="0">
              <a:buNone/>
            </a:pPr>
            <a:r>
              <a:rPr lang="en-US" sz="1400" dirty="0">
                <a:solidFill>
                  <a:schemeClr val="tx1"/>
                </a:solidFill>
              </a:rPr>
              <a:t>Originals and summaries, written once. Public access prevention.</a:t>
            </a:r>
            <a:endParaRPr lang="en-US" sz="1400" dirty="0"/>
          </a:p>
        </p:txBody>
      </p:sp>
      <p:sp>
        <p:nvSpPr>
          <p:cNvPr id="12" name="Cloud Tasks"/>
          <p:cNvSpPr/>
          <p:nvPr/>
        </p:nvSpPr>
        <p:spPr>
          <a:xfrm>
            <a:off x="502920" y="2651760"/>
            <a:ext cx="3675888" cy="1444752"/>
          </a:xfrm>
          <a:prstGeom prst="roundRect">
            <a:avLst>
              <a:gd name="adj" fmla="val 6329"/>
            </a:avLst>
          </a:prstGeom>
          <a:solidFill>
            <a:schemeClr val="bg2"/>
          </a:solidFill>
          <a:ln/>
          <a:effectLst>
            <a:outerShdw sx="100000" sy="100000" kx="0" ky="0" algn="bl" rotWithShape="0" blurRad="177800" dist="38100" dir="8400000">
              <a:srgbClr val="0B1F28">
                <a:alpha val="10000"/>
              </a:srgbClr>
            </a:outerShdw>
          </a:effectLst>
        </p:spPr>
      </p:sp>
      <p:sp>
        <p:nvSpPr>
          <p:cNvPr id="13" name="Cloud Tasks h"/>
          <p:cNvSpPr txBox="1"/>
          <p:nvPr/>
        </p:nvSpPr>
        <p:spPr>
          <a:xfrm>
            <a:off x="685800" y="2816352"/>
            <a:ext cx="3310128" cy="292608"/>
          </a:xfrm>
          <a:prstGeom prst="rect">
            <a:avLst/>
          </a:prstGeom>
          <a:noFill/>
          <a:ln/>
        </p:spPr>
        <p:txBody>
          <a:bodyPr wrap="square" lIns="0" tIns="0" rIns="0" bIns="0" rtlCol="0" anchor="t"/>
          <a:lstStyle/>
          <a:p>
            <a:pPr indent="0" marL="0">
              <a:buNone/>
            </a:pPr>
            <a:r>
              <a:rPr lang="en-US" sz="1600" b="1" dirty="0">
                <a:solidFill>
                  <a:schemeClr val="accent1"/>
                </a:solidFill>
              </a:rPr>
              <a:t>Cloud Tasks</a:t>
            </a:r>
            <a:endParaRPr lang="en-US" sz="1600" dirty="0"/>
          </a:p>
        </p:txBody>
      </p:sp>
      <p:sp>
        <p:nvSpPr>
          <p:cNvPr id="14" name="Cloud Tasks b"/>
          <p:cNvSpPr txBox="1"/>
          <p:nvPr/>
        </p:nvSpPr>
        <p:spPr>
          <a:xfrm>
            <a:off x="685800" y="3163824"/>
            <a:ext cx="3310128" cy="749808"/>
          </a:xfrm>
          <a:prstGeom prst="rect">
            <a:avLst/>
          </a:prstGeom>
          <a:noFill/>
          <a:ln/>
        </p:spPr>
        <p:txBody>
          <a:bodyPr wrap="square" lIns="0" tIns="0" rIns="0" bIns="0" rtlCol="0" anchor="t"/>
          <a:lstStyle/>
          <a:p>
            <a:pPr indent="0" marL="0">
              <a:buNone/>
            </a:pPr>
            <a:r>
              <a:rPr lang="en-US" sz="1400" dirty="0">
                <a:solidFill>
                  <a:schemeClr val="tx1"/>
                </a:solidFill>
              </a:rPr>
              <a:t>Invokes the worker. Queue capped at 8 concurrent dispatches.</a:t>
            </a:r>
            <a:endParaRPr lang="en-US" sz="1400" dirty="0"/>
          </a:p>
        </p:txBody>
      </p:sp>
      <p:sp>
        <p:nvSpPr>
          <p:cNvPr id="15" name="Cloud Scheduler"/>
          <p:cNvSpPr/>
          <p:nvPr/>
        </p:nvSpPr>
        <p:spPr>
          <a:xfrm>
            <a:off x="4343400" y="2651760"/>
            <a:ext cx="3675888" cy="1444752"/>
          </a:xfrm>
          <a:prstGeom prst="roundRect">
            <a:avLst>
              <a:gd name="adj" fmla="val 6329"/>
            </a:avLst>
          </a:prstGeom>
          <a:solidFill>
            <a:schemeClr val="bg2"/>
          </a:solidFill>
          <a:ln/>
          <a:effectLst>
            <a:outerShdw sx="100000" sy="100000" kx="0" ky="0" algn="bl" rotWithShape="0" blurRad="177800" dist="38100" dir="8400000">
              <a:srgbClr val="0B1F28">
                <a:alpha val="10000"/>
              </a:srgbClr>
            </a:outerShdw>
          </a:effectLst>
        </p:spPr>
      </p:sp>
      <p:sp>
        <p:nvSpPr>
          <p:cNvPr id="16" name="Cloud Scheduler h"/>
          <p:cNvSpPr txBox="1"/>
          <p:nvPr/>
        </p:nvSpPr>
        <p:spPr>
          <a:xfrm>
            <a:off x="4526280" y="2816352"/>
            <a:ext cx="3310128" cy="292608"/>
          </a:xfrm>
          <a:prstGeom prst="rect">
            <a:avLst/>
          </a:prstGeom>
          <a:noFill/>
          <a:ln/>
        </p:spPr>
        <p:txBody>
          <a:bodyPr wrap="square" lIns="0" tIns="0" rIns="0" bIns="0" rtlCol="0" anchor="t"/>
          <a:lstStyle/>
          <a:p>
            <a:pPr indent="0" marL="0">
              <a:buNone/>
            </a:pPr>
            <a:r>
              <a:rPr lang="en-US" sz="1600" b="1" dirty="0">
                <a:solidFill>
                  <a:schemeClr val="accent1"/>
                </a:solidFill>
              </a:rPr>
              <a:t>Cloud Scheduler</a:t>
            </a:r>
            <a:endParaRPr lang="en-US" sz="1600" dirty="0"/>
          </a:p>
        </p:txBody>
      </p:sp>
      <p:sp>
        <p:nvSpPr>
          <p:cNvPr id="17" name="Cloud Scheduler b"/>
          <p:cNvSpPr txBox="1"/>
          <p:nvPr/>
        </p:nvSpPr>
        <p:spPr>
          <a:xfrm>
            <a:off x="4526280" y="3163824"/>
            <a:ext cx="3310128" cy="749808"/>
          </a:xfrm>
          <a:prstGeom prst="rect">
            <a:avLst/>
          </a:prstGeom>
          <a:noFill/>
          <a:ln/>
        </p:spPr>
        <p:txBody>
          <a:bodyPr wrap="square" lIns="0" tIns="0" rIns="0" bIns="0" rtlCol="0" anchor="t"/>
          <a:lstStyle/>
          <a:p>
            <a:pPr indent="0" marL="0">
              <a:buNone/>
            </a:pPr>
            <a:r>
              <a:rPr lang="en-US" sz="1400" dirty="0">
                <a:solidFill>
                  <a:schemeClr val="tx1"/>
                </a:solidFill>
              </a:rPr>
              <a:t>Reconciles waiting work every minute.</a:t>
            </a:r>
            <a:endParaRPr lang="en-US" sz="1400" dirty="0"/>
          </a:p>
        </p:txBody>
      </p:sp>
      <p:sp>
        <p:nvSpPr>
          <p:cNvPr id="18" name="Vertex + ADK"/>
          <p:cNvSpPr/>
          <p:nvPr/>
        </p:nvSpPr>
        <p:spPr>
          <a:xfrm>
            <a:off x="8183880" y="2651760"/>
            <a:ext cx="3675888" cy="1444752"/>
          </a:xfrm>
          <a:prstGeom prst="roundRect">
            <a:avLst>
              <a:gd name="adj" fmla="val 6329"/>
            </a:avLst>
          </a:prstGeom>
          <a:solidFill>
            <a:schemeClr val="bg2"/>
          </a:solidFill>
          <a:ln/>
          <a:effectLst>
            <a:outerShdw sx="100000" sy="100000" kx="0" ky="0" algn="bl" rotWithShape="0" blurRad="177800" dist="38100" dir="8400000">
              <a:srgbClr val="0B1F28">
                <a:alpha val="10000"/>
              </a:srgbClr>
            </a:outerShdw>
          </a:effectLst>
        </p:spPr>
      </p:sp>
      <p:sp>
        <p:nvSpPr>
          <p:cNvPr id="19" name="Vertex + ADK h"/>
          <p:cNvSpPr txBox="1"/>
          <p:nvPr/>
        </p:nvSpPr>
        <p:spPr>
          <a:xfrm>
            <a:off x="8366760" y="2816352"/>
            <a:ext cx="3310128" cy="292608"/>
          </a:xfrm>
          <a:prstGeom prst="rect">
            <a:avLst/>
          </a:prstGeom>
          <a:noFill/>
          <a:ln/>
        </p:spPr>
        <p:txBody>
          <a:bodyPr wrap="square" lIns="0" tIns="0" rIns="0" bIns="0" rtlCol="0" anchor="t"/>
          <a:lstStyle/>
          <a:p>
            <a:pPr indent="0" marL="0">
              <a:buNone/>
            </a:pPr>
            <a:r>
              <a:rPr lang="en-US" sz="1600" b="1" dirty="0">
                <a:solidFill>
                  <a:schemeClr val="accent1"/>
                </a:solidFill>
              </a:rPr>
              <a:t>Vertex + ADK</a:t>
            </a:r>
            <a:endParaRPr lang="en-US" sz="1600" dirty="0"/>
          </a:p>
        </p:txBody>
      </p:sp>
      <p:sp>
        <p:nvSpPr>
          <p:cNvPr id="20" name="Vertex + ADK b"/>
          <p:cNvSpPr txBox="1"/>
          <p:nvPr/>
        </p:nvSpPr>
        <p:spPr>
          <a:xfrm>
            <a:off x="8366760" y="3163824"/>
            <a:ext cx="3310128" cy="749808"/>
          </a:xfrm>
          <a:prstGeom prst="rect">
            <a:avLst/>
          </a:prstGeom>
          <a:noFill/>
          <a:ln/>
        </p:spPr>
        <p:txBody>
          <a:bodyPr wrap="square" lIns="0" tIns="0" rIns="0" bIns="0" rtlCol="0" anchor="t"/>
          <a:lstStyle/>
          <a:p>
            <a:pPr indent="0" marL="0">
              <a:buNone/>
            </a:pPr>
            <a:r>
              <a:rPr lang="en-US" sz="1400" dirty="0">
                <a:solidFill>
                  <a:schemeClr val="tx1"/>
                </a:solidFill>
              </a:rPr>
              <a:t>Gemini 3.8 Flash, global. The agent is Google ADK.</a:t>
            </a:r>
            <a:endParaRPr lang="en-US" sz="1400" dirty="0"/>
          </a:p>
        </p:txBody>
      </p:sp>
      <p:sp>
        <p:nvSpPr>
          <p:cNvPr id="21" name="Bounds"/>
          <p:cNvSpPr/>
          <p:nvPr/>
        </p:nvSpPr>
        <p:spPr>
          <a:xfrm>
            <a:off x="502920" y="4343400"/>
            <a:ext cx="11201400" cy="1755648"/>
          </a:xfrm>
          <a:prstGeom prst="roundRect">
            <a:avLst>
              <a:gd name="adj" fmla="val 5208"/>
            </a:avLst>
          </a:prstGeom>
          <a:solidFill>
            <a:srgbClr val="0B1F28"/>
          </a:solidFill>
          <a:ln/>
          <a:effectLst>
            <a:outerShdw sx="100000" sy="100000" kx="0" ky="0" algn="bl" rotWithShape="0" blurRad="177800" dist="38100" dir="8400000">
              <a:srgbClr val="0B1F28">
                <a:alpha val="10000"/>
              </a:srgbClr>
            </a:outerShdw>
          </a:effectLst>
        </p:spPr>
      </p:sp>
      <p:sp>
        <p:nvSpPr>
          <p:cNvPr id="22" name="Bounds h"/>
          <p:cNvSpPr txBox="1"/>
          <p:nvPr/>
        </p:nvSpPr>
        <p:spPr>
          <a:xfrm>
            <a:off x="749808" y="4498848"/>
            <a:ext cx="10744200" cy="292608"/>
          </a:xfrm>
          <a:prstGeom prst="rect">
            <a:avLst/>
          </a:prstGeom>
          <a:noFill/>
          <a:ln/>
        </p:spPr>
        <p:txBody>
          <a:bodyPr wrap="square" lIns="0" tIns="0" rIns="0" bIns="0" rtlCol="0" anchor="t"/>
          <a:lstStyle/>
          <a:p>
            <a:pPr indent="0" marL="0">
              <a:buNone/>
            </a:pPr>
            <a:r>
              <a:rPr lang="en-US" sz="1600" b="1" dirty="0">
                <a:solidFill>
                  <a:srgbClr val="C4A35A"/>
                </a:solidFill>
              </a:rPr>
              <a:t>Hard bounds, on purpose</a:t>
            </a:r>
            <a:endParaRPr lang="en-US" sz="1600" dirty="0"/>
          </a:p>
        </p:txBody>
      </p:sp>
      <p:sp>
        <p:nvSpPr>
          <p:cNvPr id="23" name="Bounds b"/>
          <p:cNvSpPr txBox="1"/>
          <p:nvPr/>
        </p:nvSpPr>
        <p:spPr>
          <a:xfrm>
            <a:off x="749808" y="4864608"/>
            <a:ext cx="10744200" cy="1005840"/>
          </a:xfrm>
          <a:prstGeom prst="rect">
            <a:avLst/>
          </a:prstGeom>
          <a:noFill/>
          <a:ln/>
        </p:spPr>
        <p:txBody>
          <a:bodyPr wrap="square" lIns="0" tIns="0" rIns="0" bIns="0" rtlCol="0" anchor="t"/>
          <a:lstStyle/>
          <a:p>
            <a:pPr indent="0" marL="0">
              <a:buNone/>
            </a:pPr>
            <a:r>
              <a:rPr lang="en-US" sz="1500" dirty="0">
                <a:solidFill>
                  <a:srgbClr val="E7F4F0"/>
                </a:solidFill>
              </a:rPr>
              <a:t>Six model calls, sixteen tools, sixty seconds per wakeup. Twelve automatic runs and USD 0.50 a case. Spend is reserved before the call. Non-root containers. Load capacity has not been measured on the hosted project.</a:t>
            </a:r>
            <a:endParaRPr lang="en-US" sz="15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02920" y="292608"/>
            <a:ext cx="11155680" cy="621792"/>
          </a:xfrm>
          <a:prstGeom prst="rect">
            <a:avLst/>
          </a:prstGeom>
          <a:noFill/>
          <a:ln/>
        </p:spPr>
        <p:txBody>
          <a:bodyPr wrap="square" lIns="0" tIns="0" rIns="0" bIns="0" rtlCol="0" anchor="ctr"/>
          <a:lstStyle/>
          <a:p>
            <a:pPr indent="0" marL="0">
              <a:buNone/>
            </a:pPr>
            <a:r>
              <a:rPr lang="en-US" sz="3200" b="1" dirty="0">
                <a:solidFill>
                  <a:schemeClr val="tx1"/>
                </a:solidFill>
              </a:rPr>
              <a:t>What this copilot does not decide</a:t>
            </a:r>
            <a:endParaRPr lang="en-US" sz="3200" dirty="0"/>
          </a:p>
        </p:txBody>
      </p:sp>
      <p:sp>
        <p:nvSpPr>
          <p:cNvPr id="3" name="Financing"/>
          <p:cNvSpPr/>
          <p:nvPr/>
        </p:nvSpPr>
        <p:spPr>
          <a:xfrm>
            <a:off x="502920" y="109728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4" name="Financing h"/>
          <p:cNvSpPr txBox="1"/>
          <p:nvPr/>
        </p:nvSpPr>
        <p:spPr>
          <a:xfrm>
            <a:off x="722376" y="1353312"/>
            <a:ext cx="3246120" cy="457200"/>
          </a:xfrm>
          <a:prstGeom prst="rect">
            <a:avLst/>
          </a:prstGeom>
          <a:noFill/>
          <a:ln/>
        </p:spPr>
        <p:txBody>
          <a:bodyPr wrap="square" lIns="0" tIns="0" rIns="0" bIns="0" rtlCol="0" anchor="t"/>
          <a:lstStyle/>
          <a:p>
            <a:pPr indent="0" marL="0">
              <a:buNone/>
            </a:pPr>
            <a:r>
              <a:rPr lang="en-US" sz="1800" b="1" dirty="0">
                <a:solidFill>
                  <a:schemeClr val="tx1"/>
                </a:solidFill>
              </a:rPr>
              <a:t>Financing</a:t>
            </a:r>
            <a:endParaRPr lang="en-US" sz="1800" dirty="0"/>
          </a:p>
        </p:txBody>
      </p:sp>
      <p:sp>
        <p:nvSpPr>
          <p:cNvPr id="5" name="Financing b"/>
          <p:cNvSpPr txBox="1"/>
          <p:nvPr/>
        </p:nvSpPr>
        <p:spPr>
          <a:xfrm>
            <a:off x="722376" y="1920240"/>
            <a:ext cx="3246120" cy="1188720"/>
          </a:xfrm>
          <a:prstGeom prst="rect">
            <a:avLst/>
          </a:prstGeom>
          <a:noFill/>
          <a:ln/>
        </p:spPr>
        <p:txBody>
          <a:bodyPr wrap="square" lIns="0" tIns="0" rIns="0" bIns="0" rtlCol="0" anchor="t"/>
          <a:lstStyle/>
          <a:p>
            <a:pPr indent="0" marL="0">
              <a:buNone/>
            </a:pPr>
            <a:r>
              <a:rPr lang="en-US" sz="1500" dirty="0">
                <a:solidFill>
                  <a:schemeClr val="tx1"/>
                </a:solidFill>
              </a:rPr>
              <a:t>Does not approve, price, limit, or pay.</a:t>
            </a:r>
            <a:endParaRPr lang="en-US" sz="1500" dirty="0"/>
          </a:p>
        </p:txBody>
      </p:sp>
      <p:sp>
        <p:nvSpPr>
          <p:cNvPr id="6" name="Screening"/>
          <p:cNvSpPr/>
          <p:nvPr/>
        </p:nvSpPr>
        <p:spPr>
          <a:xfrm>
            <a:off x="4343400" y="109728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7" name="Screening h"/>
          <p:cNvSpPr txBox="1"/>
          <p:nvPr/>
        </p:nvSpPr>
        <p:spPr>
          <a:xfrm>
            <a:off x="4562856" y="1353312"/>
            <a:ext cx="3246120" cy="457200"/>
          </a:xfrm>
          <a:prstGeom prst="rect">
            <a:avLst/>
          </a:prstGeom>
          <a:noFill/>
          <a:ln/>
        </p:spPr>
        <p:txBody>
          <a:bodyPr wrap="square" lIns="0" tIns="0" rIns="0" bIns="0" rtlCol="0" anchor="t"/>
          <a:lstStyle/>
          <a:p>
            <a:pPr indent="0" marL="0">
              <a:buNone/>
            </a:pPr>
            <a:r>
              <a:rPr lang="en-US" sz="1800" b="1" dirty="0">
                <a:solidFill>
                  <a:schemeClr val="tx1"/>
                </a:solidFill>
              </a:rPr>
              <a:t>Screening</a:t>
            </a:r>
            <a:endParaRPr lang="en-US" sz="1800" dirty="0"/>
          </a:p>
        </p:txBody>
      </p:sp>
      <p:sp>
        <p:nvSpPr>
          <p:cNvPr id="8" name="Screening b"/>
          <p:cNvSpPr txBox="1"/>
          <p:nvPr/>
        </p:nvSpPr>
        <p:spPr>
          <a:xfrm>
            <a:off x="4562856" y="1920240"/>
            <a:ext cx="3246120" cy="1188720"/>
          </a:xfrm>
          <a:prstGeom prst="rect">
            <a:avLst/>
          </a:prstGeom>
          <a:noFill/>
          <a:ln/>
        </p:spPr>
        <p:txBody>
          <a:bodyPr wrap="square" lIns="0" tIns="0" rIns="0" bIns="0" rtlCol="0" anchor="t"/>
          <a:lstStyle/>
          <a:p>
            <a:pPr indent="0" marL="0">
              <a:buNone/>
            </a:pPr>
            <a:r>
              <a:rPr lang="en-US" sz="1500" dirty="0">
                <a:solidFill>
                  <a:schemeClr val="tx1"/>
                </a:solidFill>
              </a:rPr>
              <a:t>Does not run sanctions, PEP, or adverse-media as a control.</a:t>
            </a:r>
            <a:endParaRPr lang="en-US" sz="1500" dirty="0"/>
          </a:p>
        </p:txBody>
      </p:sp>
      <p:sp>
        <p:nvSpPr>
          <p:cNvPr id="9" name="Authenticity"/>
          <p:cNvSpPr/>
          <p:nvPr/>
        </p:nvSpPr>
        <p:spPr>
          <a:xfrm>
            <a:off x="8183880" y="109728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0" name="Authenticity h"/>
          <p:cNvSpPr txBox="1"/>
          <p:nvPr/>
        </p:nvSpPr>
        <p:spPr>
          <a:xfrm>
            <a:off x="8403336" y="1353312"/>
            <a:ext cx="3246120" cy="457200"/>
          </a:xfrm>
          <a:prstGeom prst="rect">
            <a:avLst/>
          </a:prstGeom>
          <a:noFill/>
          <a:ln/>
        </p:spPr>
        <p:txBody>
          <a:bodyPr wrap="square" lIns="0" tIns="0" rIns="0" bIns="0" rtlCol="0" anchor="t"/>
          <a:lstStyle/>
          <a:p>
            <a:pPr indent="0" marL="0">
              <a:buNone/>
            </a:pPr>
            <a:r>
              <a:rPr lang="en-US" sz="1800" b="1" dirty="0">
                <a:solidFill>
                  <a:schemeClr val="tx1"/>
                </a:solidFill>
              </a:rPr>
              <a:t>Authenticity</a:t>
            </a:r>
            <a:endParaRPr lang="en-US" sz="1800" dirty="0"/>
          </a:p>
        </p:txBody>
      </p:sp>
      <p:sp>
        <p:nvSpPr>
          <p:cNvPr id="11" name="Authenticity b"/>
          <p:cNvSpPr txBox="1"/>
          <p:nvPr/>
        </p:nvSpPr>
        <p:spPr>
          <a:xfrm>
            <a:off x="8403336" y="1920240"/>
            <a:ext cx="3246120" cy="1188720"/>
          </a:xfrm>
          <a:prstGeom prst="rect">
            <a:avLst/>
          </a:prstGeom>
          <a:noFill/>
          <a:ln/>
        </p:spPr>
        <p:txBody>
          <a:bodyPr wrap="square" lIns="0" tIns="0" rIns="0" bIns="0" rtlCol="0" anchor="t"/>
          <a:lstStyle/>
          <a:p>
            <a:pPr indent="0" marL="0">
              <a:buNone/>
            </a:pPr>
            <a:r>
              <a:rPr lang="en-US" sz="1500" dirty="0">
                <a:solidFill>
                  <a:schemeClr val="tx1"/>
                </a:solidFill>
              </a:rPr>
              <a:t>Does not prove a document is genuine, or verify legal identity.</a:t>
            </a:r>
            <a:endParaRPr lang="en-US" sz="1500" dirty="0"/>
          </a:p>
        </p:txBody>
      </p:sp>
      <p:sp>
        <p:nvSpPr>
          <p:cNvPr id="12" name="Credit"/>
          <p:cNvSpPr/>
          <p:nvPr/>
        </p:nvSpPr>
        <p:spPr>
          <a:xfrm>
            <a:off x="502920" y="356616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3" name="Credit h"/>
          <p:cNvSpPr txBox="1"/>
          <p:nvPr/>
        </p:nvSpPr>
        <p:spPr>
          <a:xfrm>
            <a:off x="722376" y="3822192"/>
            <a:ext cx="3246120" cy="457200"/>
          </a:xfrm>
          <a:prstGeom prst="rect">
            <a:avLst/>
          </a:prstGeom>
          <a:noFill/>
          <a:ln/>
        </p:spPr>
        <p:txBody>
          <a:bodyPr wrap="square" lIns="0" tIns="0" rIns="0" bIns="0" rtlCol="0" anchor="t"/>
          <a:lstStyle/>
          <a:p>
            <a:pPr indent="0" marL="0">
              <a:buNone/>
            </a:pPr>
            <a:r>
              <a:rPr lang="en-US" sz="1800" b="1" dirty="0">
                <a:solidFill>
                  <a:schemeClr val="tx1"/>
                </a:solidFill>
              </a:rPr>
              <a:t>Credit</a:t>
            </a:r>
            <a:endParaRPr lang="en-US" sz="1800" dirty="0"/>
          </a:p>
        </p:txBody>
      </p:sp>
      <p:sp>
        <p:nvSpPr>
          <p:cNvPr id="14" name="Credit b"/>
          <p:cNvSpPr txBox="1"/>
          <p:nvPr/>
        </p:nvSpPr>
        <p:spPr>
          <a:xfrm>
            <a:off x="722376" y="4389120"/>
            <a:ext cx="3246120" cy="1188720"/>
          </a:xfrm>
          <a:prstGeom prst="rect">
            <a:avLst/>
          </a:prstGeom>
          <a:noFill/>
          <a:ln/>
        </p:spPr>
        <p:txBody>
          <a:bodyPr wrap="square" lIns="0" tIns="0" rIns="0" bIns="0" rtlCol="0" anchor="t"/>
          <a:lstStyle/>
          <a:p>
            <a:pPr indent="0" marL="0">
              <a:buNone/>
            </a:pPr>
            <a:r>
              <a:rPr lang="en-US" sz="1500" dirty="0">
                <a:solidFill>
                  <a:schemeClr val="tx1"/>
                </a:solidFill>
              </a:rPr>
              <a:t>Research is a sourced brief. It is not a score or continuous watch.</a:t>
            </a:r>
            <a:endParaRPr lang="en-US" sz="1500" dirty="0"/>
          </a:p>
        </p:txBody>
      </p:sp>
      <p:sp>
        <p:nvSpPr>
          <p:cNvPr id="15" name="Scope of the PDF"/>
          <p:cNvSpPr/>
          <p:nvPr/>
        </p:nvSpPr>
        <p:spPr>
          <a:xfrm>
            <a:off x="4343400" y="356616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6" name="Scope of the PDF h"/>
          <p:cNvSpPr txBox="1"/>
          <p:nvPr/>
        </p:nvSpPr>
        <p:spPr>
          <a:xfrm>
            <a:off x="4562856" y="3822192"/>
            <a:ext cx="3246120" cy="457200"/>
          </a:xfrm>
          <a:prstGeom prst="rect">
            <a:avLst/>
          </a:prstGeom>
          <a:noFill/>
          <a:ln/>
        </p:spPr>
        <p:txBody>
          <a:bodyPr wrap="square" lIns="0" tIns="0" rIns="0" bIns="0" rtlCol="0" anchor="t"/>
          <a:lstStyle/>
          <a:p>
            <a:pPr indent="0" marL="0">
              <a:buNone/>
            </a:pPr>
            <a:r>
              <a:rPr lang="en-US" sz="1800" b="1" dirty="0">
                <a:solidFill>
                  <a:schemeClr val="tx1"/>
                </a:solidFill>
              </a:rPr>
              <a:t>Scope of the PDF</a:t>
            </a:r>
            <a:endParaRPr lang="en-US" sz="1800" dirty="0"/>
          </a:p>
        </p:txBody>
      </p:sp>
      <p:sp>
        <p:nvSpPr>
          <p:cNvPr id="17" name="Scope of the PDF b"/>
          <p:cNvSpPr txBox="1"/>
          <p:nvPr/>
        </p:nvSpPr>
        <p:spPr>
          <a:xfrm>
            <a:off x="4562856" y="4389120"/>
            <a:ext cx="3246120" cy="1188720"/>
          </a:xfrm>
          <a:prstGeom prst="rect">
            <a:avLst/>
          </a:prstGeom>
          <a:noFill/>
          <a:ln/>
        </p:spPr>
        <p:txBody>
          <a:bodyPr wrap="square" lIns="0" tIns="0" rIns="0" bIns="0" rtlCol="0" anchor="t"/>
          <a:lstStyle/>
          <a:p>
            <a:pPr indent="0" marL="0">
              <a:buNone/>
            </a:pPr>
            <a:r>
              <a:rPr lang="en-US" sz="1500" dirty="0">
                <a:solidFill>
                  <a:schemeClr val="tx1"/>
                </a:solidFill>
              </a:rPr>
              <a:t>English text, one goods line, SGD, no tax. Three visual pages.</a:t>
            </a:r>
            <a:endParaRPr lang="en-US" sz="1500" dirty="0"/>
          </a:p>
        </p:txBody>
      </p:sp>
      <p:sp>
        <p:nvSpPr>
          <p:cNvPr id="18" name="Not in this build"/>
          <p:cNvSpPr/>
          <p:nvPr/>
        </p:nvSpPr>
        <p:spPr>
          <a:xfrm>
            <a:off x="8183880" y="3566160"/>
            <a:ext cx="3675888" cy="2304288"/>
          </a:xfrm>
          <a:prstGeom prst="roundRect">
            <a:avLst>
              <a:gd name="adj" fmla="val 3968"/>
            </a:avLst>
          </a:prstGeom>
          <a:solidFill>
            <a:schemeClr val="bg2"/>
          </a:solidFill>
          <a:ln/>
          <a:effectLst>
            <a:outerShdw sx="100000" sy="100000" kx="0" ky="0" algn="bl" rotWithShape="0" blurRad="177800" dist="38100" dir="8400000">
              <a:srgbClr val="0B1F28">
                <a:alpha val="10000"/>
              </a:srgbClr>
            </a:outerShdw>
          </a:effectLst>
        </p:spPr>
      </p:sp>
      <p:sp>
        <p:nvSpPr>
          <p:cNvPr id="19" name="Not in this build h"/>
          <p:cNvSpPr txBox="1"/>
          <p:nvPr/>
        </p:nvSpPr>
        <p:spPr>
          <a:xfrm>
            <a:off x="8403336" y="3822192"/>
            <a:ext cx="3246120" cy="457200"/>
          </a:xfrm>
          <a:prstGeom prst="rect">
            <a:avLst/>
          </a:prstGeom>
          <a:noFill/>
          <a:ln/>
        </p:spPr>
        <p:txBody>
          <a:bodyPr wrap="square" lIns="0" tIns="0" rIns="0" bIns="0" rtlCol="0" anchor="t"/>
          <a:lstStyle/>
          <a:p>
            <a:pPr indent="0" marL="0">
              <a:buNone/>
            </a:pPr>
            <a:r>
              <a:rPr lang="en-US" sz="1800" b="1" dirty="0">
                <a:solidFill>
                  <a:schemeClr val="tx1"/>
                </a:solidFill>
              </a:rPr>
              <a:t>Not in this build</a:t>
            </a:r>
            <a:endParaRPr lang="en-US" sz="1800" dirty="0"/>
          </a:p>
        </p:txBody>
      </p:sp>
      <p:sp>
        <p:nvSpPr>
          <p:cNvPr id="20" name="Not in this build b"/>
          <p:cNvSpPr txBox="1"/>
          <p:nvPr/>
        </p:nvSpPr>
        <p:spPr>
          <a:xfrm>
            <a:off x="8403336" y="4389120"/>
            <a:ext cx="3246120" cy="1188720"/>
          </a:xfrm>
          <a:prstGeom prst="rect">
            <a:avLst/>
          </a:prstGeom>
          <a:noFill/>
          <a:ln/>
        </p:spPr>
        <p:txBody>
          <a:bodyPr wrap="square" lIns="0" tIns="0" rIns="0" bIns="0" rtlCol="0" anchor="t"/>
          <a:lstStyle/>
          <a:p>
            <a:pPr indent="0" marL="0">
              <a:buNone/>
            </a:pPr>
            <a:r>
              <a:rPr lang="en-US" sz="1500" dirty="0">
                <a:solidFill>
                  <a:schemeClr val="tx1"/>
                </a:solidFill>
              </a:rPr>
              <a:t>Purchase-order alignment, a fraud-signal engine, and an executive tower remain archived.</a:t>
            </a:r>
            <a:endParaRPr lang="en-US" sz="15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A6E7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lose glow"/>
          <p:cNvSpPr/>
          <p:nvPr/>
        </p:nvSpPr>
        <p:spPr>
          <a:xfrm>
            <a:off x="9326880" y="-1645920"/>
            <a:ext cx="4572000" cy="4572000"/>
          </a:xfrm>
          <a:prstGeom prst="ellipse">
            <a:avLst/>
          </a:prstGeom>
          <a:solidFill>
            <a:srgbClr val="163642"/>
          </a:solidFill>
          <a:ln/>
        </p:spPr>
      </p:sp>
      <p:sp>
        <p:nvSpPr>
          <p:cNvPr id="3" name="Close title"/>
          <p:cNvSpPr txBox="1"/>
          <p:nvPr/>
        </p:nvSpPr>
        <p:spPr>
          <a:xfrm>
            <a:off x="640080" y="365760"/>
            <a:ext cx="10972800" cy="502920"/>
          </a:xfrm>
          <a:prstGeom prst="rect">
            <a:avLst/>
          </a:prstGeom>
          <a:noFill/>
          <a:ln/>
        </p:spPr>
        <p:txBody>
          <a:bodyPr wrap="square" lIns="0" tIns="0" rIns="0" bIns="0" rtlCol="0" anchor="t"/>
          <a:lstStyle/>
          <a:p>
            <a:pPr indent="0" marL="0">
              <a:buNone/>
            </a:pPr>
            <a:r>
              <a:rPr lang="en-US" sz="3200" b="1" dirty="0">
                <a:solidFill>
                  <a:schemeClr val="bg1"/>
                </a:solidFill>
              </a:rPr>
              <a:t>Open the prototype</a:t>
            </a:r>
            <a:endParaRPr lang="en-US" sz="3200" dirty="0"/>
          </a:p>
        </p:txBody>
      </p:sp>
      <p:sp>
        <p:nvSpPr>
          <p:cNvPr id="4" name="URL card"/>
          <p:cNvSpPr/>
          <p:nvPr/>
        </p:nvSpPr>
        <p:spPr>
          <a:xfrm>
            <a:off x="640080" y="1005840"/>
            <a:ext cx="10881360" cy="1234440"/>
          </a:xfrm>
          <a:prstGeom prst="roundRect">
            <a:avLst>
              <a:gd name="adj" fmla="val 7407"/>
            </a:avLst>
          </a:prstGeom>
          <a:solidFill>
            <a:schemeClr val="bg1"/>
          </a:solidFill>
          <a:ln/>
        </p:spPr>
      </p:sp>
      <p:sp>
        <p:nvSpPr>
          <p:cNvPr id="5" name="URL label"/>
          <p:cNvSpPr txBox="1"/>
          <p:nvPr/>
        </p:nvSpPr>
        <p:spPr>
          <a:xfrm>
            <a:off x="877824" y="1133856"/>
            <a:ext cx="10424160" cy="219456"/>
          </a:xfrm>
          <a:prstGeom prst="rect">
            <a:avLst/>
          </a:prstGeom>
          <a:noFill/>
          <a:ln/>
        </p:spPr>
        <p:txBody>
          <a:bodyPr wrap="square" lIns="0" tIns="0" rIns="0" bIns="0" rtlCol="0" anchor="t"/>
          <a:lstStyle/>
          <a:p>
            <a:pPr indent="0" marL="0">
              <a:buNone/>
            </a:pPr>
            <a:r>
              <a:rPr lang="en-US" sz="1200" b="1" dirty="0">
                <a:solidFill>
                  <a:srgbClr val="0E7C73"/>
                </a:solidFill>
              </a:rPr>
              <a:t>HOSTED URL</a:t>
            </a:r>
            <a:endParaRPr lang="en-US" sz="1200" dirty="0"/>
          </a:p>
        </p:txBody>
      </p:sp>
      <p:sp>
        <p:nvSpPr>
          <p:cNvPr id="6" name="URL value"/>
          <p:cNvSpPr txBox="1"/>
          <p:nvPr/>
        </p:nvSpPr>
        <p:spPr>
          <a:xfrm>
            <a:off x="877824" y="1408176"/>
            <a:ext cx="10424160" cy="566928"/>
          </a:xfrm>
          <a:prstGeom prst="rect">
            <a:avLst/>
          </a:prstGeom>
          <a:noFill/>
          <a:ln/>
        </p:spPr>
        <p:txBody>
          <a:bodyPr wrap="square" lIns="0" tIns="0" rIns="0" bIns="0" rtlCol="0" anchor="t"/>
          <a:lstStyle/>
          <a:p>
            <a:pPr indent="0" marL="0">
              <a:buNone/>
            </a:pPr>
            <a:r>
              <a:rPr lang="en-US" sz="2600" b="1" dirty="0">
                <a:solidFill>
                  <a:schemeClr val="tx1"/>
                </a:solidFill>
              </a:rPr>
              <a:t>https://YOUR-CLOUD-RUN-HOST</a:t>
            </a:r>
            <a:endParaRPr lang="en-US" sz="2600" dirty="0"/>
          </a:p>
        </p:txBody>
      </p:sp>
      <p:sp>
        <p:nvSpPr>
          <p:cNvPr id="7" name="Close team label"/>
          <p:cNvSpPr txBox="1"/>
          <p:nvPr/>
        </p:nvSpPr>
        <p:spPr>
          <a:xfrm>
            <a:off x="640080" y="2450592"/>
            <a:ext cx="10972800" cy="219456"/>
          </a:xfrm>
          <a:prstGeom prst="rect">
            <a:avLst/>
          </a:prstGeom>
          <a:noFill/>
          <a:ln/>
        </p:spPr>
        <p:txBody>
          <a:bodyPr wrap="square" lIns="0" tIns="0" rIns="0" bIns="0" rtlCol="0" anchor="t"/>
          <a:lstStyle/>
          <a:p>
            <a:pPr indent="0" marL="0">
              <a:buNone/>
            </a:pPr>
            <a:r>
              <a:rPr lang="en-US" sz="1200" b="1" spc="140" kern="0" dirty="0">
                <a:solidFill>
                  <a:srgbClr val="C4A35A"/>
                </a:solidFill>
              </a:rPr>
              <a:t>TEAM</a:t>
            </a:r>
            <a:endParaRPr lang="en-US" sz="1200" dirty="0"/>
          </a:p>
        </p:txBody>
      </p:sp>
      <p:sp>
        <p:nvSpPr>
          <p:cNvPr id="8" name="Close team"/>
          <p:cNvSpPr txBox="1"/>
          <p:nvPr/>
        </p:nvSpPr>
        <p:spPr>
          <a:xfrm>
            <a:off x="640080" y="2706624"/>
            <a:ext cx="10972800" cy="347472"/>
          </a:xfrm>
          <a:prstGeom prst="rect">
            <a:avLst/>
          </a:prstGeom>
          <a:noFill/>
          <a:ln/>
        </p:spPr>
        <p:txBody>
          <a:bodyPr wrap="square" lIns="0" tIns="0" rIns="0" bIns="0" rtlCol="0" anchor="t"/>
          <a:lstStyle/>
          <a:p>
            <a:pPr indent="0" marL="0">
              <a:buNone/>
            </a:pPr>
            <a:r>
              <a:rPr lang="en-US" sz="2000" dirty="0">
                <a:solidFill>
                  <a:schemeClr val="bg1"/>
                </a:solidFill>
              </a:rPr>
              <a:t>Shamiul Islam Shifat   ·   Abdul Raheem   ·   Abdul Kazi</a:t>
            </a:r>
            <a:endParaRPr lang="en-US" sz="2000" dirty="0"/>
          </a:p>
        </p:txBody>
      </p:sp>
      <p:sp>
        <p:nvSpPr>
          <p:cNvPr id="9" name="The code card"/>
          <p:cNvSpPr/>
          <p:nvPr/>
        </p:nvSpPr>
        <p:spPr>
          <a:xfrm>
            <a:off x="640080" y="3246120"/>
            <a:ext cx="3547872" cy="1417320"/>
          </a:xfrm>
          <a:prstGeom prst="roundRect">
            <a:avLst>
              <a:gd name="adj" fmla="val 6452"/>
            </a:avLst>
          </a:prstGeom>
          <a:solidFill>
            <a:srgbClr val="163642"/>
          </a:solidFill>
          <a:ln/>
        </p:spPr>
      </p:sp>
      <p:sp>
        <p:nvSpPr>
          <p:cNvPr id="10" name="The code h"/>
          <p:cNvSpPr txBox="1"/>
          <p:nvPr/>
        </p:nvSpPr>
        <p:spPr>
          <a:xfrm>
            <a:off x="841248" y="3401568"/>
            <a:ext cx="3154680" cy="310896"/>
          </a:xfrm>
          <a:prstGeom prst="rect">
            <a:avLst/>
          </a:prstGeom>
          <a:noFill/>
          <a:ln/>
        </p:spPr>
        <p:txBody>
          <a:bodyPr wrap="square" lIns="0" tIns="0" rIns="0" bIns="0" rtlCol="0" anchor="t"/>
          <a:lstStyle/>
          <a:p>
            <a:pPr indent="0" marL="0">
              <a:buNone/>
            </a:pPr>
            <a:r>
              <a:rPr lang="en-US" sz="1600" b="1" dirty="0">
                <a:solidFill>
                  <a:schemeClr val="bg1"/>
                </a:solidFill>
              </a:rPr>
              <a:t>The code</a:t>
            </a:r>
            <a:endParaRPr lang="en-US" sz="1600" dirty="0"/>
          </a:p>
        </p:txBody>
      </p:sp>
      <p:sp>
        <p:nvSpPr>
          <p:cNvPr id="11" name="The code b"/>
          <p:cNvSpPr txBox="1"/>
          <p:nvPr/>
        </p:nvSpPr>
        <p:spPr>
          <a:xfrm>
            <a:off x="841248" y="3767328"/>
            <a:ext cx="3154680" cy="685800"/>
          </a:xfrm>
          <a:prstGeom prst="rect">
            <a:avLst/>
          </a:prstGeom>
          <a:noFill/>
          <a:ln/>
        </p:spPr>
        <p:txBody>
          <a:bodyPr wrap="square" lIns="0" tIns="0" rIns="0" bIns="0" rtlCol="0" anchor="t"/>
          <a:lstStyle/>
          <a:p>
            <a:pPr indent="0" marL="0">
              <a:buNone/>
            </a:pPr>
            <a:r>
              <a:rPr lang="en-US" sz="1400" dirty="0">
                <a:solidFill>
                  <a:srgbClr val="C5DDD6"/>
                </a:solidFill>
              </a:rPr>
              <a:t>On the submission form. Not in this repository.</a:t>
            </a:r>
            <a:endParaRPr lang="en-US" sz="1400" dirty="0"/>
          </a:p>
        </p:txBody>
      </p:sp>
      <p:sp>
        <p:nvSpPr>
          <p:cNvPr id="12" name="After the code card"/>
          <p:cNvSpPr/>
          <p:nvPr/>
        </p:nvSpPr>
        <p:spPr>
          <a:xfrm>
            <a:off x="4343400" y="3246120"/>
            <a:ext cx="3547872" cy="1417320"/>
          </a:xfrm>
          <a:prstGeom prst="roundRect">
            <a:avLst>
              <a:gd name="adj" fmla="val 6452"/>
            </a:avLst>
          </a:prstGeom>
          <a:solidFill>
            <a:srgbClr val="163642"/>
          </a:solidFill>
          <a:ln/>
        </p:spPr>
      </p:sp>
      <p:sp>
        <p:nvSpPr>
          <p:cNvPr id="13" name="After the code h"/>
          <p:cNvSpPr txBox="1"/>
          <p:nvPr/>
        </p:nvSpPr>
        <p:spPr>
          <a:xfrm>
            <a:off x="4544568" y="3401568"/>
            <a:ext cx="3154680" cy="310896"/>
          </a:xfrm>
          <a:prstGeom prst="rect">
            <a:avLst/>
          </a:prstGeom>
          <a:noFill/>
          <a:ln/>
        </p:spPr>
        <p:txBody>
          <a:bodyPr wrap="square" lIns="0" tIns="0" rIns="0" bIns="0" rtlCol="0" anchor="t"/>
          <a:lstStyle/>
          <a:p>
            <a:pPr indent="0" marL="0">
              <a:buNone/>
            </a:pPr>
            <a:r>
              <a:rPr lang="en-US" sz="1600" b="1" dirty="0">
                <a:solidFill>
                  <a:schemeClr val="bg1"/>
                </a:solidFill>
              </a:rPr>
              <a:t>After the code</a:t>
            </a:r>
            <a:endParaRPr lang="en-US" sz="1600" dirty="0"/>
          </a:p>
        </p:txBody>
      </p:sp>
      <p:sp>
        <p:nvSpPr>
          <p:cNvPr id="14" name="After the code b"/>
          <p:cNvSpPr txBox="1"/>
          <p:nvPr/>
        </p:nvSpPr>
        <p:spPr>
          <a:xfrm>
            <a:off x="4544568" y="3767328"/>
            <a:ext cx="3154680" cy="685800"/>
          </a:xfrm>
          <a:prstGeom prst="rect">
            <a:avLst/>
          </a:prstGeom>
          <a:noFill/>
          <a:ln/>
        </p:spPr>
        <p:txBody>
          <a:bodyPr wrap="square" lIns="0" tIns="0" rIns="0" bIns="0" rtlCol="0" anchor="t"/>
          <a:lstStyle/>
          <a:p>
            <a:pPr indent="0" marL="0">
              <a:buNone/>
            </a:pPr>
            <a:r>
              <a:rPr lang="en-US" sz="1400" dirty="0">
                <a:solidFill>
                  <a:srgbClr val="C5DDD6"/>
                </a:solidFill>
              </a:rPr>
              <a:t>A case already read. Quote and checklist on screen.</a:t>
            </a:r>
            <a:endParaRPr lang="en-US" sz="1400" dirty="0"/>
          </a:p>
        </p:txBody>
      </p:sp>
      <p:sp>
        <p:nvSpPr>
          <p:cNvPr id="15" name="If you look further card"/>
          <p:cNvSpPr/>
          <p:nvPr/>
        </p:nvSpPr>
        <p:spPr>
          <a:xfrm>
            <a:off x="8046720" y="3246120"/>
            <a:ext cx="3547872" cy="1417320"/>
          </a:xfrm>
          <a:prstGeom prst="roundRect">
            <a:avLst>
              <a:gd name="adj" fmla="val 6452"/>
            </a:avLst>
          </a:prstGeom>
          <a:solidFill>
            <a:srgbClr val="163642"/>
          </a:solidFill>
          <a:ln/>
        </p:spPr>
      </p:sp>
      <p:sp>
        <p:nvSpPr>
          <p:cNvPr id="16" name="If you look further h"/>
          <p:cNvSpPr txBox="1"/>
          <p:nvPr/>
        </p:nvSpPr>
        <p:spPr>
          <a:xfrm>
            <a:off x="8247888" y="3401568"/>
            <a:ext cx="3154680" cy="310896"/>
          </a:xfrm>
          <a:prstGeom prst="rect">
            <a:avLst/>
          </a:prstGeom>
          <a:noFill/>
          <a:ln/>
        </p:spPr>
        <p:txBody>
          <a:bodyPr wrap="square" lIns="0" tIns="0" rIns="0" bIns="0" rtlCol="0" anchor="t"/>
          <a:lstStyle/>
          <a:p>
            <a:pPr indent="0" marL="0">
              <a:buNone/>
            </a:pPr>
            <a:r>
              <a:rPr lang="en-US" sz="1600" b="1" dirty="0">
                <a:solidFill>
                  <a:schemeClr val="bg1"/>
                </a:solidFill>
              </a:rPr>
              <a:t>If you look further</a:t>
            </a:r>
            <a:endParaRPr lang="en-US" sz="1600" dirty="0"/>
          </a:p>
        </p:txBody>
      </p:sp>
      <p:sp>
        <p:nvSpPr>
          <p:cNvPr id="17" name="If you look further b"/>
          <p:cNvSpPr txBox="1"/>
          <p:nvPr/>
        </p:nvSpPr>
        <p:spPr>
          <a:xfrm>
            <a:off x="8247888" y="3767328"/>
            <a:ext cx="3154680" cy="685800"/>
          </a:xfrm>
          <a:prstGeom prst="rect">
            <a:avLst/>
          </a:prstGeom>
          <a:noFill/>
          <a:ln/>
        </p:spPr>
        <p:txBody>
          <a:bodyPr wrap="square" lIns="0" tIns="0" rIns="0" bIns="0" rtlCol="0" anchor="t"/>
          <a:lstStyle/>
          <a:p>
            <a:pPr indent="0" marL="0">
              <a:buNone/>
            </a:pPr>
            <a:r>
              <a:rPr lang="en-US" sz="1400" dirty="0">
                <a:solidFill>
                  <a:srgbClr val="C5DDD6"/>
                </a:solidFill>
              </a:rPr>
              <a:t>Client notice opens a completed case.</a:t>
            </a:r>
            <a:endParaRPr lang="en-US" sz="1400" dirty="0"/>
          </a:p>
        </p:txBody>
      </p:sp>
      <p:sp>
        <p:nvSpPr>
          <p:cNvPr id="18" name="Close line"/>
          <p:cNvSpPr txBox="1"/>
          <p:nvPr/>
        </p:nvSpPr>
        <p:spPr>
          <a:xfrm>
            <a:off x="640080" y="4892040"/>
            <a:ext cx="10972800" cy="365760"/>
          </a:xfrm>
          <a:prstGeom prst="rect">
            <a:avLst/>
          </a:prstGeom>
          <a:noFill/>
          <a:ln/>
        </p:spPr>
        <p:txBody>
          <a:bodyPr wrap="square" lIns="0" tIns="0" rIns="0" bIns="0" rtlCol="0" anchor="t"/>
          <a:lstStyle/>
          <a:p>
            <a:pPr indent="0" marL="0">
              <a:buNone/>
            </a:pPr>
            <a:r>
              <a:rPr lang="en-US" sz="2000" dirty="0">
                <a:solidFill>
                  <a:srgbClr val="E7F4F0"/>
                </a:solidFill>
              </a:rPr>
              <a:t>CaseProof. The invoice-financing review copilot.</a:t>
            </a:r>
            <a:endParaRPr lang="en-US" sz="2000" dirty="0"/>
          </a:p>
        </p:txBody>
      </p:sp>
      <p:sp>
        <p:nvSpPr>
          <p:cNvPr id="25" name="Slide Number Placeholder 0"/>
          <p:cNvSpPr>
            <a:spLocks noGrp="1"/>
          </p:cNvSpPr>
          <p:nvPr>
            <p:ph type="sldNum" sz="quarter" idx="4294967295"/>
          </p:nvPr>
        </p:nvSpPr>
        <p:spPr>
          <a:xfrm>
            <a:off x="11109960" y="6446520"/>
            <a:ext cx="54864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A8C4BE"/>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CaseProof">
  <a:themeElements>
    <a:clrScheme name="CaseProof">
      <a:dk1>
        <a:srgbClr val="0B1F28"/>
      </a:dk1>
      <a:lt1>
        <a:srgbClr val="FFFFFF"/>
      </a:lt1>
      <a:dk2>
        <a:srgbClr val="163642"/>
      </a:dk2>
      <a:lt2>
        <a:srgbClr val="F0F6F4"/>
      </a:lt2>
      <a:accent1>
        <a:srgbClr val="0E7C73"/>
      </a:accent1>
      <a:accent2>
        <a:srgbClr val="163642"/>
      </a:accent2>
      <a:accent3>
        <a:srgbClr val="C4A35A"/>
      </a:accent3>
      <a:accent4>
        <a:srgbClr val="5A6E76"/>
      </a:accent4>
      <a:accent5>
        <a:srgbClr val="1A7A84"/>
      </a:accent5>
      <a:accent6>
        <a:srgbClr val="D5E4E0"/>
      </a:accent6>
      <a:hlink>
        <a:srgbClr val="0E7C73"/>
      </a:hlink>
      <a:folHlink>
        <a:srgbClr val="0B1F28"/>
      </a:folHlink>
    </a:clrScheme>
    <a:fontScheme name="CaseProo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Betterdata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CaseProof — the invoice-financing review copilot</dc:title>
  <dc:subject>AI Builder Cup 2026, BFSI</dc:subject>
  <dc:creator>Betterdata</dc:creator>
  <cp:lastModifiedBy>Betterdata</cp:lastModifiedBy>
  <cp:revision>1</cp:revision>
  <dcterms:created xsi:type="dcterms:W3CDTF">2026-10-16T16:46:19Z</dcterms:created>
  <dcterms:modified xsi:type="dcterms:W3CDTF">2026-10-16T16:46:19Z</dcterms:modified>
</cp:coreProperties>
</file>